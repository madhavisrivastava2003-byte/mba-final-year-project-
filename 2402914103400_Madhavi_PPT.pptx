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4" r:id="rId7"/>
    <p:sldId id="265" r:id="rId8"/>
    <p:sldId id="261" r:id="rId9"/>
    <p:sldId id="262" r:id="rId10"/>
    <p:sldId id="263" r:id="rId11"/>
    <p:sldId id="267" r:id="rId12"/>
    <p:sldId id="268" r:id="rId13"/>
    <p:sldId id="270" r:id="rId14"/>
    <p:sldId id="271" r:id="rId15"/>
    <p:sldId id="272" r:id="rId16"/>
    <p:sldId id="273" r:id="rId17"/>
    <p:sldId id="274" r:id="rId18"/>
    <p:sldId id="275" r:id="rId19"/>
    <p:sldId id="276" r:id="rId20"/>
    <p:sldId id="277" r:id="rId21"/>
    <p:sldId id="278" r:id="rId22"/>
    <p:sldId id="279" r:id="rId23"/>
  </p:sldIdLst>
  <p:sldSz cx="12192000" cy="6858000"/>
  <p:notesSz cx="6858000" cy="12192000"/>
  <p:embeddedFontLst>
    <p:embeddedFont>
      <p:font typeface="DM Sans" pitchFamily="2" charset="0"/>
      <p:regular r:id="rId25"/>
    </p:embeddedFont>
    <p:embeddedFont>
      <p:font typeface="DM Sans Bold" panose="020B0604020202020204" charset="0"/>
      <p:regular r:id="rId26"/>
    </p:embeddedFont>
    <p:embeddedFont>
      <p:font typeface="DM Sans Light" panose="020B0604020202020204" charset="0"/>
      <p:regular r:id="rId27"/>
    </p:embeddedFont>
    <p:embeddedFont>
      <p:font typeface="DM Sans SemiBold" panose="020B0604020202020204" charset="0"/>
      <p:regular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5661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AF6F0"/>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 Id="rId9" Type="http://schemas.openxmlformats.org/officeDocument/2006/relationships/image" Target="../media/image18.sv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jpeg"/></Relationships>
</file>

<file path=ppt/slides/_rels/slide9.xml.rels><?xml version="1.0" encoding="UTF-8" standalone="yes"?>
<Relationships xmlns="http://schemas.openxmlformats.org/package/2006/relationships"><Relationship Id="rId3" Type="http://schemas.openxmlformats.org/officeDocument/2006/relationships/image" Target="../media/image32.jpeg"/><Relationship Id="rId7" Type="http://schemas.openxmlformats.org/officeDocument/2006/relationships/image" Target="../media/image36.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1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1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8.svg"/><Relationship Id="rId4" Type="http://schemas.openxmlformats.org/officeDocument/2006/relationships/image" Target="../media/image57.svg"/></Relationships>
</file>

<file path=ppt/slides/_rels/slide2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0.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Shape 0"/>
          <p:cNvSpPr/>
          <p:nvPr/>
        </p:nvSpPr>
        <p:spPr>
          <a:xfrm>
            <a:off x="5233360" y="1464270"/>
            <a:ext cx="1286140" cy="251420"/>
          </a:xfrm>
          <a:prstGeom prst="roundRect">
            <a:avLst>
              <a:gd name="adj" fmla="val 22103"/>
            </a:avLst>
          </a:prstGeom>
          <a:solidFill>
            <a:srgbClr val="F7DBD4"/>
          </a:solidFill>
          <a:ln/>
        </p:spPr>
      </p:sp>
      <p:sp>
        <p:nvSpPr>
          <p:cNvPr id="4" name="Text 1"/>
          <p:cNvSpPr/>
          <p:nvPr/>
        </p:nvSpPr>
        <p:spPr>
          <a:xfrm>
            <a:off x="5332577" y="1513880"/>
            <a:ext cx="1697293" cy="152202"/>
          </a:xfrm>
          <a:prstGeom prst="rect">
            <a:avLst/>
          </a:prstGeom>
          <a:noFill/>
          <a:ln/>
        </p:spPr>
        <p:txBody>
          <a:bodyPr wrap="none" lIns="0" tIns="0" rIns="0" bIns="0" rtlCol="0" anchor="t"/>
          <a:lstStyle/>
          <a:p>
            <a:pPr marL="0" indent="0" algn="l">
              <a:lnSpc>
                <a:spcPct val="96000"/>
              </a:lnSpc>
              <a:buNone/>
            </a:pPr>
            <a:r>
              <a:rPr lang="en-US" sz="1000" dirty="0">
                <a:solidFill>
                  <a:srgbClr val="272525"/>
                </a:solidFill>
                <a:latin typeface="DM Sans" pitchFamily="34" charset="0"/>
                <a:ea typeface="DM Sans" pitchFamily="34" charset="-122"/>
                <a:cs typeface="DM Sans" pitchFamily="34" charset="-120"/>
              </a:rPr>
              <a:t>RESEARCH STUDY</a:t>
            </a:r>
            <a:endParaRPr lang="en-US" sz="1000" dirty="0"/>
          </a:p>
        </p:txBody>
      </p:sp>
      <p:sp>
        <p:nvSpPr>
          <p:cNvPr id="5" name="Text 2"/>
          <p:cNvSpPr/>
          <p:nvPr/>
        </p:nvSpPr>
        <p:spPr>
          <a:xfrm>
            <a:off x="5233360" y="1781770"/>
            <a:ext cx="6296860" cy="1653778"/>
          </a:xfrm>
          <a:prstGeom prst="rect">
            <a:avLst/>
          </a:prstGeom>
          <a:noFill/>
          <a:ln/>
        </p:spPr>
        <p:txBody>
          <a:bodyPr wrap="square" lIns="0" tIns="0" rIns="0" bIns="0" rtlCol="0" anchor="t">
            <a:normAutofit/>
          </a:bodyPr>
          <a:lstStyle/>
          <a:p>
            <a:pPr marL="0" indent="0" algn="l">
              <a:lnSpc>
                <a:spcPct val="83000"/>
              </a:lnSpc>
              <a:buNone/>
            </a:pPr>
            <a:r>
              <a:rPr lang="en-US" sz="3250" dirty="0">
                <a:solidFill>
                  <a:srgbClr val="D77572"/>
                </a:solidFill>
                <a:latin typeface="DM Sans SemiBold" pitchFamily="34" charset="0"/>
                <a:ea typeface="DM Sans SemiBold" pitchFamily="34" charset="-122"/>
                <a:cs typeface="DM Sans SemiBold" pitchFamily="34" charset="-120"/>
              </a:rPr>
              <a:t>A Study on Customer Churn and Retention Strategies in UPI-Based Digital Payment Platforms in India</a:t>
            </a:r>
            <a:endParaRPr lang="en-US" sz="3250" dirty="0"/>
          </a:p>
        </p:txBody>
      </p:sp>
      <p:sp>
        <p:nvSpPr>
          <p:cNvPr id="6" name="Text 3"/>
          <p:cNvSpPr/>
          <p:nvPr/>
        </p:nvSpPr>
        <p:spPr>
          <a:xfrm>
            <a:off x="5233360" y="3683595"/>
            <a:ext cx="6296860" cy="806351"/>
          </a:xfrm>
          <a:prstGeom prst="rect">
            <a:avLst/>
          </a:prstGeom>
          <a:noFill/>
          <a:ln/>
        </p:spPr>
        <p:txBody>
          <a:bodyPr wrap="square" lIns="0" tIns="0" rIns="0" bIns="0" rtlCol="0" anchor="t">
            <a:normAutofit/>
          </a:bodyPr>
          <a:lstStyle/>
          <a:p>
            <a:pPr marL="0" indent="0" algn="l">
              <a:lnSpc>
                <a:spcPct val="108000"/>
              </a:lnSpc>
              <a:buNone/>
            </a:pPr>
            <a:r>
              <a:rPr lang="en-US" sz="1600" dirty="0">
                <a:solidFill>
                  <a:srgbClr val="272525"/>
                </a:solidFill>
                <a:latin typeface="DM Sans" pitchFamily="34" charset="0"/>
                <a:ea typeface="DM Sans" pitchFamily="34" charset="-122"/>
                <a:cs typeface="DM Sans" pitchFamily="34" charset="-120"/>
              </a:rPr>
              <a:t>Understanding why users leave — and what keeps them engaged — in one of the world’s fastest-growing digital payment ecosystems.</a:t>
            </a:r>
            <a:endParaRPr lang="en-US" sz="1600" dirty="0"/>
          </a:p>
        </p:txBody>
      </p:sp>
      <p:sp>
        <p:nvSpPr>
          <p:cNvPr id="7" name="Shape 4"/>
          <p:cNvSpPr/>
          <p:nvPr/>
        </p:nvSpPr>
        <p:spPr>
          <a:xfrm>
            <a:off x="5233360" y="4717256"/>
            <a:ext cx="6296860" cy="19050"/>
          </a:xfrm>
          <a:prstGeom prst="roundRect">
            <a:avLst>
              <a:gd name="adj" fmla="val 59999"/>
            </a:avLst>
          </a:prstGeom>
          <a:solidFill>
            <a:srgbClr val="272525">
              <a:alpha val="50000"/>
            </a:srgbClr>
          </a:solidFill>
          <a:ln/>
        </p:spPr>
      </p:sp>
      <p:sp>
        <p:nvSpPr>
          <p:cNvPr id="8" name="Text 5"/>
          <p:cNvSpPr/>
          <p:nvPr/>
        </p:nvSpPr>
        <p:spPr>
          <a:xfrm>
            <a:off x="5233360" y="4963616"/>
            <a:ext cx="6296860" cy="430014"/>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72525"/>
                </a:solidFill>
                <a:latin typeface="DM Sans" pitchFamily="34" charset="0"/>
                <a:ea typeface="DM Sans" pitchFamily="34" charset="-122"/>
                <a:cs typeface="DM Sans" pitchFamily="34" charset="-120"/>
              </a:rPr>
              <a:t>This research examines the key drivers of churn, the signals of retention, and the strategic levers platforms can use to build long-term customer loyalty.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604044"/>
            <a:ext cx="132255" cy="132259"/>
          </a:xfrm>
          <a:prstGeom prst="rect">
            <a:avLst/>
          </a:prstGeom>
          <a:solidFill>
            <a:srgbClr val="911E1B"/>
          </a:solidFill>
          <a:ln/>
        </p:spPr>
      </p:sp>
      <p:sp>
        <p:nvSpPr>
          <p:cNvPr id="3" name="Text 1"/>
          <p:cNvSpPr/>
          <p:nvPr/>
        </p:nvSpPr>
        <p:spPr>
          <a:xfrm>
            <a:off x="859808" y="594122"/>
            <a:ext cx="1556207" cy="152202"/>
          </a:xfrm>
          <a:prstGeom prst="rect">
            <a:avLst/>
          </a:prstGeom>
          <a:noFill/>
          <a:ln/>
        </p:spPr>
        <p:txBody>
          <a:bodyPr wrap="none" lIns="0" tIns="0" rIns="0" bIns="0" rtlCol="0" anchor="t"/>
          <a:lstStyle/>
          <a:p>
            <a:pPr marL="0" indent="0" algn="l">
              <a:lnSpc>
                <a:spcPct val="96000"/>
              </a:lnSpc>
              <a:buNone/>
            </a:pPr>
            <a:r>
              <a:rPr lang="en-US" sz="1000" dirty="0">
                <a:solidFill>
                  <a:srgbClr val="911E1B"/>
                </a:solidFill>
                <a:latin typeface="DM Sans" pitchFamily="34" charset="0"/>
                <a:ea typeface="DM Sans" pitchFamily="34" charset="-122"/>
                <a:cs typeface="DM Sans" pitchFamily="34" charset="-120"/>
              </a:rPr>
              <a:t>INTRODUCTION</a:t>
            </a:r>
            <a:endParaRPr lang="en-US" sz="1000" dirty="0"/>
          </a:p>
        </p:txBody>
      </p:sp>
      <p:sp>
        <p:nvSpPr>
          <p:cNvPr id="4" name="Text 2"/>
          <p:cNvSpPr/>
          <p:nvPr/>
        </p:nvSpPr>
        <p:spPr>
          <a:xfrm>
            <a:off x="661475" y="862013"/>
            <a:ext cx="10868745" cy="413445"/>
          </a:xfrm>
          <a:prstGeom prst="rect">
            <a:avLst/>
          </a:prstGeom>
          <a:noFill/>
          <a:ln/>
        </p:spPr>
        <p:txBody>
          <a:bodyPr wrap="none" lIns="0" tIns="0" rIns="0" bIns="0" rtlCol="0" anchor="t"/>
          <a:lstStyle/>
          <a:p>
            <a:pPr marL="0" indent="0" algn="l">
              <a:lnSpc>
                <a:spcPct val="83000"/>
              </a:lnSpc>
              <a:buNone/>
            </a:pPr>
            <a:r>
              <a:rPr lang="en-US" sz="3250" dirty="0">
                <a:solidFill>
                  <a:srgbClr val="000000"/>
                </a:solidFill>
                <a:latin typeface="DM Sans SemiBold" pitchFamily="34" charset="0"/>
                <a:ea typeface="DM Sans SemiBold" pitchFamily="34" charset="-122"/>
                <a:cs typeface="DM Sans SemiBold" pitchFamily="34" charset="-120"/>
              </a:rPr>
              <a:t>Meet the Project</a:t>
            </a:r>
            <a:endParaRPr lang="en-US" sz="3250" dirty="0"/>
          </a:p>
        </p:txBody>
      </p:sp>
      <p:sp>
        <p:nvSpPr>
          <p:cNvPr id="5" name="Text 3"/>
          <p:cNvSpPr/>
          <p:nvPr/>
        </p:nvSpPr>
        <p:spPr>
          <a:xfrm>
            <a:off x="661475" y="1688802"/>
            <a:ext cx="6359862" cy="248047"/>
          </a:xfrm>
          <a:prstGeom prst="rect">
            <a:avLst/>
          </a:prstGeom>
          <a:noFill/>
          <a:ln/>
        </p:spPr>
        <p:txBody>
          <a:bodyPr wrap="none" lIns="0" tIns="0" rIns="0" bIns="0" rtlCol="0" anchor="t"/>
          <a:lstStyle/>
          <a:p>
            <a:pPr marL="0" indent="0" algn="l">
              <a:lnSpc>
                <a:spcPct val="83000"/>
              </a:lnSpc>
              <a:buNone/>
            </a:pPr>
            <a:r>
              <a:rPr lang="en-US" sz="1950" dirty="0">
                <a:solidFill>
                  <a:srgbClr val="000000"/>
                </a:solidFill>
                <a:latin typeface="DM Sans SemiBold" pitchFamily="34" charset="0"/>
                <a:ea typeface="DM Sans SemiBold" pitchFamily="34" charset="-122"/>
                <a:cs typeface="DM Sans SemiBold" pitchFamily="34" charset="-120"/>
              </a:rPr>
              <a:t>Project Details</a:t>
            </a:r>
            <a:endParaRPr lang="en-US" sz="1950" dirty="0"/>
          </a:p>
        </p:txBody>
      </p:sp>
      <p:sp>
        <p:nvSpPr>
          <p:cNvPr id="6" name="Text 4"/>
          <p:cNvSpPr/>
          <p:nvPr/>
        </p:nvSpPr>
        <p:spPr>
          <a:xfrm>
            <a:off x="661475" y="2102148"/>
            <a:ext cx="6359862" cy="1885355"/>
          </a:xfrm>
          <a:prstGeom prst="rect">
            <a:avLst/>
          </a:prstGeom>
          <a:noFill/>
          <a:ln/>
        </p:spPr>
        <p:txBody>
          <a:bodyPr wrap="square" lIns="0" tIns="0" rIns="0" bIns="0" rtlCol="0" anchor="t">
            <a:normAutofit/>
          </a:bodyPr>
          <a:lstStyle/>
          <a:p>
            <a:pPr marL="0" indent="0" algn="l">
              <a:lnSpc>
                <a:spcPct val="108000"/>
              </a:lnSpc>
              <a:buNone/>
            </a:pPr>
            <a:r>
              <a:rPr lang="en-US" sz="1300" b="1" dirty="0">
                <a:solidFill>
                  <a:srgbClr val="272525"/>
                </a:solidFill>
                <a:latin typeface="DM Sans Bold" pitchFamily="34" charset="0"/>
                <a:ea typeface="DM Sans Bold" pitchFamily="34" charset="-122"/>
                <a:cs typeface="DM Sans Bold" pitchFamily="34" charset="-120"/>
              </a:rPr>
              <a:t>Title:</a:t>
            </a:r>
            <a:r>
              <a:rPr lang="en-US" sz="1300" dirty="0">
                <a:solidFill>
                  <a:srgbClr val="272525"/>
                </a:solidFill>
                <a:latin typeface="DM Sans" pitchFamily="34" charset="0"/>
                <a:ea typeface="DM Sans" pitchFamily="34" charset="-122"/>
                <a:cs typeface="DM Sans" pitchFamily="34" charset="-120"/>
              </a:rPr>
              <a:t> A Study on Customer Churn and Retention Strategies in UPI-Based Digital Payment Platforms in India</a:t>
            </a:r>
            <a:endParaRPr lang="en-US" sz="1300" dirty="0"/>
          </a:p>
          <a:p>
            <a:pPr marL="0" indent="0" algn="l">
              <a:lnSpc>
                <a:spcPct val="108000"/>
              </a:lnSpc>
              <a:buNone/>
            </a:pPr>
            <a:r>
              <a:rPr lang="en-US" sz="1300" b="1" dirty="0">
                <a:solidFill>
                  <a:srgbClr val="272525"/>
                </a:solidFill>
                <a:latin typeface="DM Sans Bold" pitchFamily="34" charset="0"/>
                <a:ea typeface="DM Sans Bold" pitchFamily="34" charset="-122"/>
                <a:cs typeface="DM Sans Bold" pitchFamily="34" charset="-120"/>
              </a:rPr>
              <a:t>Submitted by:</a:t>
            </a:r>
            <a:r>
              <a:rPr lang="en-US" sz="1300" dirty="0">
                <a:solidFill>
                  <a:srgbClr val="272525"/>
                </a:solidFill>
                <a:latin typeface="DM Sans" pitchFamily="34" charset="0"/>
                <a:ea typeface="DM Sans" pitchFamily="34" charset="-122"/>
                <a:cs typeface="DM Sans" pitchFamily="34" charset="-120"/>
              </a:rPr>
              <a:t> Madhavi Srivastava (PRN: 2402914103400)</a:t>
            </a:r>
            <a:endParaRPr lang="en-US" sz="1300" dirty="0"/>
          </a:p>
          <a:p>
            <a:pPr marL="0" indent="0" algn="l">
              <a:lnSpc>
                <a:spcPct val="108000"/>
              </a:lnSpc>
              <a:buNone/>
            </a:pPr>
            <a:r>
              <a:rPr lang="en-US" sz="1300" b="1" dirty="0">
                <a:solidFill>
                  <a:srgbClr val="272525"/>
                </a:solidFill>
                <a:latin typeface="DM Sans Bold" pitchFamily="34" charset="0"/>
                <a:ea typeface="DM Sans Bold" pitchFamily="34" charset="-122"/>
                <a:cs typeface="DM Sans Bold" pitchFamily="34" charset="-120"/>
              </a:rPr>
              <a:t>Programme:</a:t>
            </a:r>
            <a:r>
              <a:rPr lang="en-US" sz="1300" dirty="0">
                <a:solidFill>
                  <a:srgbClr val="272525"/>
                </a:solidFill>
                <a:latin typeface="DM Sans" pitchFamily="34" charset="0"/>
                <a:ea typeface="DM Sans" pitchFamily="34" charset="-122"/>
                <a:cs typeface="DM Sans" pitchFamily="34" charset="-120"/>
              </a:rPr>
              <a:t> MBA in Business Analytics</a:t>
            </a:r>
            <a:endParaRPr lang="en-US" sz="1300" dirty="0"/>
          </a:p>
          <a:p>
            <a:pPr marL="0" indent="0" algn="l">
              <a:lnSpc>
                <a:spcPct val="108000"/>
              </a:lnSpc>
              <a:buNone/>
            </a:pPr>
            <a:r>
              <a:rPr lang="en-US" sz="1300" b="1" dirty="0">
                <a:solidFill>
                  <a:srgbClr val="272525"/>
                </a:solidFill>
                <a:latin typeface="DM Sans Bold" pitchFamily="34" charset="0"/>
                <a:ea typeface="DM Sans Bold" pitchFamily="34" charset="-122"/>
                <a:cs typeface="DM Sans Bold" pitchFamily="34" charset="-120"/>
              </a:rPr>
              <a:t>Institution:</a:t>
            </a:r>
            <a:r>
              <a:rPr lang="en-US" sz="1300" dirty="0">
                <a:solidFill>
                  <a:srgbClr val="272525"/>
                </a:solidFill>
                <a:latin typeface="DM Sans" pitchFamily="34" charset="0"/>
                <a:ea typeface="DM Sans" pitchFamily="34" charset="-122"/>
                <a:cs typeface="DM Sans" pitchFamily="34" charset="-120"/>
              </a:rPr>
              <a:t> Symbiosis School of Online &amp; Digital Learning (SSODL)</a:t>
            </a:r>
            <a:endParaRPr lang="en-US" sz="1300" dirty="0"/>
          </a:p>
          <a:p>
            <a:pPr marL="0" indent="0" algn="l">
              <a:lnSpc>
                <a:spcPct val="108000"/>
              </a:lnSpc>
              <a:buNone/>
            </a:pPr>
            <a:r>
              <a:rPr lang="en-US" sz="1300" b="1" dirty="0">
                <a:solidFill>
                  <a:srgbClr val="272525"/>
                </a:solidFill>
                <a:latin typeface="DM Sans Bold" pitchFamily="34" charset="0"/>
                <a:ea typeface="DM Sans Bold" pitchFamily="34" charset="-122"/>
                <a:cs typeface="DM Sans Bold" pitchFamily="34" charset="-120"/>
              </a:rPr>
              <a:t>Guide:</a:t>
            </a:r>
            <a:r>
              <a:rPr lang="en-US" sz="1300" dirty="0">
                <a:solidFill>
                  <a:srgbClr val="272525"/>
                </a:solidFill>
                <a:latin typeface="DM Sans" pitchFamily="34" charset="0"/>
                <a:ea typeface="DM Sans" pitchFamily="34" charset="-122"/>
                <a:cs typeface="DM Sans" pitchFamily="34" charset="-120"/>
              </a:rPr>
              <a:t> Dr. Shradha Gupta</a:t>
            </a:r>
            <a:endParaRPr lang="en-US" sz="1300" dirty="0"/>
          </a:p>
        </p:txBody>
      </p:sp>
      <p:sp>
        <p:nvSpPr>
          <p:cNvPr id="7" name="Shape 5"/>
          <p:cNvSpPr/>
          <p:nvPr/>
        </p:nvSpPr>
        <p:spPr>
          <a:xfrm>
            <a:off x="661475" y="4214813"/>
            <a:ext cx="6359862" cy="19050"/>
          </a:xfrm>
          <a:prstGeom prst="roundRect">
            <a:avLst>
              <a:gd name="adj" fmla="val 59999"/>
            </a:avLst>
          </a:prstGeom>
          <a:solidFill>
            <a:srgbClr val="272525">
              <a:alpha val="50000"/>
            </a:srgbClr>
          </a:solidFill>
          <a:ln/>
        </p:spPr>
      </p:sp>
      <p:sp>
        <p:nvSpPr>
          <p:cNvPr id="8" name="Text 6"/>
          <p:cNvSpPr/>
          <p:nvPr/>
        </p:nvSpPr>
        <p:spPr>
          <a:xfrm>
            <a:off x="661475" y="4461173"/>
            <a:ext cx="6359862" cy="248047"/>
          </a:xfrm>
          <a:prstGeom prst="rect">
            <a:avLst/>
          </a:prstGeom>
          <a:noFill/>
          <a:ln/>
        </p:spPr>
        <p:txBody>
          <a:bodyPr wrap="none" lIns="0" tIns="0" rIns="0" bIns="0" rtlCol="0" anchor="t"/>
          <a:lstStyle/>
          <a:p>
            <a:pPr marL="0" indent="0" algn="l">
              <a:lnSpc>
                <a:spcPct val="83000"/>
              </a:lnSpc>
              <a:buNone/>
            </a:pPr>
            <a:r>
              <a:rPr lang="en-US" sz="1950" dirty="0">
                <a:solidFill>
                  <a:srgbClr val="000000"/>
                </a:solidFill>
                <a:latin typeface="DM Sans SemiBold" pitchFamily="34" charset="0"/>
                <a:ea typeface="DM Sans SemiBold" pitchFamily="34" charset="-122"/>
                <a:cs typeface="DM Sans SemiBold" pitchFamily="34" charset="-120"/>
              </a:rPr>
              <a:t>Why This Study?</a:t>
            </a:r>
            <a:endParaRPr lang="en-US" sz="1950" dirty="0"/>
          </a:p>
        </p:txBody>
      </p:sp>
      <p:sp>
        <p:nvSpPr>
          <p:cNvPr id="9" name="Text 7"/>
          <p:cNvSpPr/>
          <p:nvPr/>
        </p:nvSpPr>
        <p:spPr>
          <a:xfrm>
            <a:off x="661475" y="4874518"/>
            <a:ext cx="6359862" cy="1290042"/>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72525"/>
                </a:solidFill>
                <a:latin typeface="DM Sans" pitchFamily="34" charset="0"/>
                <a:ea typeface="DM Sans" pitchFamily="34" charset="-122"/>
                <a:cs typeface="DM Sans" pitchFamily="34" charset="-120"/>
              </a:rPr>
              <a:t>Getting a customer to download a UPI app is one thing. Keeping that customer for months and years is a very different challenge. This study investigates the factors that push customers away from one UPI platform and towards another, and then suggests retention strategies that service providers can actually use. The analysis is grounded in both primary survey data and secondary reports, processed through Python, SQL, Excel and Power BI.</a:t>
            </a:r>
            <a:endParaRPr lang="en-US" sz="1300" dirty="0"/>
          </a:p>
        </p:txBody>
      </p:sp>
      <p:sp>
        <p:nvSpPr>
          <p:cNvPr id="10" name="Shape 8"/>
          <p:cNvSpPr/>
          <p:nvPr/>
        </p:nvSpPr>
        <p:spPr>
          <a:xfrm>
            <a:off x="7312041" y="1523504"/>
            <a:ext cx="4343490" cy="4789884"/>
          </a:xfrm>
          <a:prstGeom prst="roundRect">
            <a:avLst>
              <a:gd name="adj" fmla="val 2742"/>
            </a:avLst>
          </a:prstGeom>
          <a:solidFill>
            <a:srgbClr val="E07A5F"/>
          </a:solidFill>
          <a:ln/>
        </p:spPr>
      </p:sp>
      <p:sp>
        <p:nvSpPr>
          <p:cNvPr id="11" name="Text 9"/>
          <p:cNvSpPr/>
          <p:nvPr/>
        </p:nvSpPr>
        <p:spPr>
          <a:xfrm>
            <a:off x="7477335" y="1688802"/>
            <a:ext cx="4012901" cy="248047"/>
          </a:xfrm>
          <a:prstGeom prst="rect">
            <a:avLst/>
          </a:prstGeom>
          <a:noFill/>
          <a:ln/>
        </p:spPr>
        <p:txBody>
          <a:bodyPr wrap="none" lIns="0" tIns="0" rIns="0" bIns="0" rtlCol="0" anchor="t"/>
          <a:lstStyle/>
          <a:p>
            <a:pPr marL="0" indent="0" algn="l">
              <a:lnSpc>
                <a:spcPct val="83000"/>
              </a:lnSpc>
              <a:buNone/>
            </a:pPr>
            <a:r>
              <a:rPr lang="en-US" sz="1950" dirty="0">
                <a:solidFill>
                  <a:srgbClr val="FAF6F0"/>
                </a:solidFill>
                <a:latin typeface="DM Sans SemiBold" pitchFamily="34" charset="0"/>
                <a:ea typeface="DM Sans SemiBold" pitchFamily="34" charset="-122"/>
                <a:cs typeface="DM Sans SemiBold" pitchFamily="34" charset="-120"/>
              </a:rPr>
              <a:t>First Impressions</a:t>
            </a:r>
            <a:endParaRPr lang="en-US" sz="1950" dirty="0"/>
          </a:p>
        </p:txBody>
      </p:sp>
      <p:sp>
        <p:nvSpPr>
          <p:cNvPr id="12" name="Text 10"/>
          <p:cNvSpPr/>
          <p:nvPr/>
        </p:nvSpPr>
        <p:spPr>
          <a:xfrm>
            <a:off x="7477335" y="2102148"/>
            <a:ext cx="4012901" cy="1290042"/>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FAF6F0"/>
                </a:solidFill>
                <a:latin typeface="DM Sans" pitchFamily="34" charset="0"/>
                <a:ea typeface="DM Sans" pitchFamily="34" charset="-122"/>
                <a:cs typeface="DM Sans" pitchFamily="34" charset="-120"/>
              </a:rPr>
              <a:t>India's UPI ecosystem is one of the busiest digital payments landscapes in the world. Yet in a market where every major app works well, the customer feels free to move. That tension — growth alongside churn — is precisely what this study sets out to understand.</a:t>
            </a:r>
            <a:endParaRPr lang="en-US" sz="1300" dirty="0"/>
          </a:p>
        </p:txBody>
      </p:sp>
      <p:pic>
        <p:nvPicPr>
          <p:cNvPr id="13" name="Image 0" descr="preencoded.png"/>
          <p:cNvPicPr>
            <a:picLocks noChangeAspect="1"/>
          </p:cNvPicPr>
          <p:nvPr/>
        </p:nvPicPr>
        <p:blipFill>
          <a:blip r:embed="rId3"/>
          <a:stretch>
            <a:fillRect/>
          </a:stretch>
        </p:blipFill>
        <p:spPr>
          <a:xfrm>
            <a:off x="7477335" y="3578225"/>
            <a:ext cx="4012901" cy="224899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2035076"/>
          </a:xfrm>
          <a:prstGeom prst="rect">
            <a:avLst/>
          </a:prstGeom>
        </p:spPr>
      </p:pic>
      <p:sp>
        <p:nvSpPr>
          <p:cNvPr id="3" name="Text 0"/>
          <p:cNvSpPr/>
          <p:nvPr/>
        </p:nvSpPr>
        <p:spPr>
          <a:xfrm>
            <a:off x="661475" y="2529384"/>
            <a:ext cx="10868745" cy="406995"/>
          </a:xfrm>
          <a:prstGeom prst="rect">
            <a:avLst/>
          </a:prstGeom>
          <a:noFill/>
          <a:ln/>
        </p:spPr>
        <p:txBody>
          <a:bodyPr wrap="none" lIns="0" tIns="0" rIns="0" bIns="0" rtlCol="0" anchor="t"/>
          <a:lstStyle/>
          <a:p>
            <a:pPr marL="0" indent="0" algn="l">
              <a:lnSpc>
                <a:spcPct val="83000"/>
              </a:lnSpc>
              <a:buNone/>
            </a:pPr>
            <a:r>
              <a:rPr lang="en-US" sz="3200" dirty="0">
                <a:solidFill>
                  <a:srgbClr val="000000"/>
                </a:solidFill>
                <a:latin typeface="DM Sans SemiBold" pitchFamily="34" charset="0"/>
                <a:ea typeface="DM Sans SemiBold" pitchFamily="34" charset="-122"/>
                <a:cs typeface="DM Sans SemiBold" pitchFamily="34" charset="-120"/>
              </a:rPr>
              <a:t>The UPI Landscape</a:t>
            </a:r>
            <a:endParaRPr lang="en-US" sz="3200" dirty="0"/>
          </a:p>
        </p:txBody>
      </p:sp>
      <p:sp>
        <p:nvSpPr>
          <p:cNvPr id="4" name="Shape 1"/>
          <p:cNvSpPr/>
          <p:nvPr/>
        </p:nvSpPr>
        <p:spPr>
          <a:xfrm>
            <a:off x="661475" y="3176687"/>
            <a:ext cx="5354206" cy="2166838"/>
          </a:xfrm>
          <a:prstGeom prst="roundRect">
            <a:avLst>
              <a:gd name="adj" fmla="val 3156"/>
            </a:avLst>
          </a:prstGeom>
          <a:solidFill>
            <a:srgbClr val="EFE8DD"/>
          </a:solidFill>
          <a:ln w="6350">
            <a:solidFill>
              <a:srgbClr val="D5CEC3"/>
            </a:solidFill>
            <a:prstDash val="solid"/>
          </a:ln>
        </p:spPr>
      </p:sp>
      <p:sp>
        <p:nvSpPr>
          <p:cNvPr id="5" name="Shape 2"/>
          <p:cNvSpPr/>
          <p:nvPr/>
        </p:nvSpPr>
        <p:spPr>
          <a:xfrm>
            <a:off x="830539" y="3345755"/>
            <a:ext cx="488342" cy="488355"/>
          </a:xfrm>
          <a:prstGeom prst="ellipse">
            <a:avLst/>
          </a:prstGeom>
          <a:solidFill>
            <a:srgbClr val="E07A5F"/>
          </a:solidFill>
          <a:ln/>
        </p:spPr>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4779" y="3479998"/>
            <a:ext cx="219764" cy="219770"/>
          </a:xfrm>
          <a:prstGeom prst="rect">
            <a:avLst/>
          </a:prstGeom>
        </p:spPr>
      </p:pic>
      <p:sp>
        <p:nvSpPr>
          <p:cNvPr id="7" name="Text 3"/>
          <p:cNvSpPr/>
          <p:nvPr/>
        </p:nvSpPr>
        <p:spPr>
          <a:xfrm>
            <a:off x="830539" y="3994348"/>
            <a:ext cx="5016077" cy="244177"/>
          </a:xfrm>
          <a:prstGeom prst="rect">
            <a:avLst/>
          </a:prstGeom>
          <a:noFill/>
          <a:ln/>
        </p:spPr>
        <p:txBody>
          <a:bodyPr wrap="none" lIns="0" tIns="0" rIns="0" bIns="0" rtlCol="0" anchor="t"/>
          <a:lstStyle/>
          <a:p>
            <a:pPr marL="0" indent="0" algn="l">
              <a:lnSpc>
                <a:spcPct val="83000"/>
              </a:lnSpc>
              <a:buNone/>
            </a:pPr>
            <a:r>
              <a:rPr lang="en-US" sz="1900" dirty="0">
                <a:solidFill>
                  <a:srgbClr val="272525"/>
                </a:solidFill>
                <a:latin typeface="DM Sans SemiBold" pitchFamily="34" charset="0"/>
                <a:ea typeface="DM Sans SemiBold" pitchFamily="34" charset="-122"/>
                <a:cs typeface="DM Sans SemiBold" pitchFamily="34" charset="-120"/>
              </a:rPr>
              <a:t>When</a:t>
            </a:r>
            <a:endParaRPr lang="en-US" sz="1900" dirty="0"/>
          </a:p>
        </p:txBody>
      </p:sp>
      <p:sp>
        <p:nvSpPr>
          <p:cNvPr id="8" name="Text 4"/>
          <p:cNvSpPr/>
          <p:nvPr/>
        </p:nvSpPr>
        <p:spPr>
          <a:xfrm>
            <a:off x="830539" y="4334669"/>
            <a:ext cx="5016077" cy="839788"/>
          </a:xfrm>
          <a:prstGeom prst="rect">
            <a:avLst/>
          </a:prstGeom>
          <a:noFill/>
          <a:ln/>
        </p:spPr>
        <p:txBody>
          <a:bodyPr wrap="square" lIns="0" tIns="0" rIns="0" bIns="0" rtlCol="0" anchor="t">
            <a:normAutofit/>
          </a:bodyPr>
          <a:lstStyle/>
          <a:p>
            <a:pPr marL="0" indent="0" algn="l">
              <a:lnSpc>
                <a:spcPct val="107000"/>
              </a:lnSpc>
              <a:buNone/>
            </a:pPr>
            <a:r>
              <a:rPr lang="en-US" sz="1250" dirty="0">
                <a:solidFill>
                  <a:srgbClr val="272525"/>
                </a:solidFill>
                <a:latin typeface="DM Sans" pitchFamily="34" charset="0"/>
                <a:ea typeface="DM Sans" pitchFamily="34" charset="-122"/>
                <a:cs typeface="DM Sans" pitchFamily="34" charset="-120"/>
              </a:rPr>
              <a:t>UPI was launched in 2016 by the National Payments Corporation of India. By May 2026 it processed 23.2 billion transactions in a single month — a 24% year-on-year rise — placing it among the largest real-time payment systems in the world.</a:t>
            </a:r>
            <a:endParaRPr lang="en-US" sz="1250" dirty="0"/>
          </a:p>
        </p:txBody>
      </p:sp>
      <p:sp>
        <p:nvSpPr>
          <p:cNvPr id="9" name="Shape 5"/>
          <p:cNvSpPr/>
          <p:nvPr/>
        </p:nvSpPr>
        <p:spPr>
          <a:xfrm>
            <a:off x="6175915" y="3176687"/>
            <a:ext cx="5354305" cy="2166838"/>
          </a:xfrm>
          <a:prstGeom prst="roundRect">
            <a:avLst>
              <a:gd name="adj" fmla="val 3156"/>
            </a:avLst>
          </a:prstGeom>
          <a:solidFill>
            <a:srgbClr val="EFE8DD"/>
          </a:solidFill>
          <a:ln w="6350">
            <a:solidFill>
              <a:srgbClr val="D5CEC3"/>
            </a:solidFill>
            <a:prstDash val="solid"/>
          </a:ln>
        </p:spPr>
      </p:sp>
      <p:sp>
        <p:nvSpPr>
          <p:cNvPr id="10" name="Shape 6"/>
          <p:cNvSpPr/>
          <p:nvPr/>
        </p:nvSpPr>
        <p:spPr>
          <a:xfrm>
            <a:off x="6344980" y="3345755"/>
            <a:ext cx="488342" cy="488355"/>
          </a:xfrm>
          <a:prstGeom prst="ellipse">
            <a:avLst/>
          </a:prstGeom>
          <a:solidFill>
            <a:srgbClr val="E07A5F"/>
          </a:solidFill>
          <a:ln/>
        </p:spPr>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9219" y="3479998"/>
            <a:ext cx="219764" cy="219770"/>
          </a:xfrm>
          <a:prstGeom prst="rect">
            <a:avLst/>
          </a:prstGeom>
        </p:spPr>
      </p:pic>
      <p:sp>
        <p:nvSpPr>
          <p:cNvPr id="12" name="Text 7"/>
          <p:cNvSpPr/>
          <p:nvPr/>
        </p:nvSpPr>
        <p:spPr>
          <a:xfrm>
            <a:off x="6344980" y="3994348"/>
            <a:ext cx="5016176" cy="244177"/>
          </a:xfrm>
          <a:prstGeom prst="rect">
            <a:avLst/>
          </a:prstGeom>
          <a:noFill/>
          <a:ln/>
        </p:spPr>
        <p:txBody>
          <a:bodyPr wrap="none" lIns="0" tIns="0" rIns="0" bIns="0" rtlCol="0" anchor="t"/>
          <a:lstStyle/>
          <a:p>
            <a:pPr marL="0" indent="0" algn="l">
              <a:lnSpc>
                <a:spcPct val="83000"/>
              </a:lnSpc>
              <a:buNone/>
            </a:pPr>
            <a:r>
              <a:rPr lang="en-US" sz="1900" dirty="0">
                <a:solidFill>
                  <a:srgbClr val="272525"/>
                </a:solidFill>
                <a:latin typeface="DM Sans SemiBold" pitchFamily="34" charset="0"/>
                <a:ea typeface="DM Sans SemiBold" pitchFamily="34" charset="-122"/>
                <a:cs typeface="DM Sans SemiBold" pitchFamily="34" charset="-120"/>
              </a:rPr>
              <a:t>Where</a:t>
            </a:r>
            <a:endParaRPr lang="en-US" sz="1900" dirty="0"/>
          </a:p>
        </p:txBody>
      </p:sp>
      <p:sp>
        <p:nvSpPr>
          <p:cNvPr id="13" name="Text 8"/>
          <p:cNvSpPr/>
          <p:nvPr/>
        </p:nvSpPr>
        <p:spPr>
          <a:xfrm>
            <a:off x="6344980" y="4334669"/>
            <a:ext cx="5016176" cy="839788"/>
          </a:xfrm>
          <a:prstGeom prst="rect">
            <a:avLst/>
          </a:prstGeom>
          <a:noFill/>
          <a:ln/>
        </p:spPr>
        <p:txBody>
          <a:bodyPr wrap="square" lIns="0" tIns="0" rIns="0" bIns="0" rtlCol="0" anchor="t">
            <a:normAutofit/>
          </a:bodyPr>
          <a:lstStyle/>
          <a:p>
            <a:pPr marL="0" indent="0" algn="l">
              <a:lnSpc>
                <a:spcPct val="107000"/>
              </a:lnSpc>
              <a:buNone/>
            </a:pPr>
            <a:r>
              <a:rPr lang="en-US" sz="1250" dirty="0">
                <a:solidFill>
                  <a:srgbClr val="272525"/>
                </a:solidFill>
                <a:latin typeface="DM Sans" pitchFamily="34" charset="0"/>
                <a:ea typeface="DM Sans" pitchFamily="34" charset="-122"/>
                <a:cs typeface="DM Sans" pitchFamily="34" charset="-120"/>
              </a:rPr>
              <a:t>From metro cities into smaller towns and rural pockets, UPI has spread across India. A tea stall, a vegetable vendor, an auto driver — all accept UPI today. Cheap smartphones, affordable data and over 700 connected banks made this reach possible.</a:t>
            </a:r>
            <a:endParaRPr lang="en-US" sz="1250" dirty="0"/>
          </a:p>
        </p:txBody>
      </p:sp>
      <p:sp>
        <p:nvSpPr>
          <p:cNvPr id="14" name="Text 9"/>
          <p:cNvSpPr/>
          <p:nvPr/>
        </p:nvSpPr>
        <p:spPr>
          <a:xfrm>
            <a:off x="661475" y="5523805"/>
            <a:ext cx="10868745" cy="839788"/>
          </a:xfrm>
          <a:prstGeom prst="rect">
            <a:avLst/>
          </a:prstGeom>
          <a:noFill/>
          <a:ln/>
        </p:spPr>
        <p:txBody>
          <a:bodyPr wrap="square" lIns="0" tIns="0" rIns="0" bIns="0" rtlCol="0" anchor="t">
            <a:normAutofit/>
          </a:bodyPr>
          <a:lstStyle/>
          <a:p>
            <a:pPr marL="0" indent="0" algn="l">
              <a:lnSpc>
                <a:spcPct val="107000"/>
              </a:lnSpc>
              <a:buNone/>
            </a:pPr>
            <a:r>
              <a:rPr lang="en-US" sz="1250" b="1" dirty="0">
                <a:solidFill>
                  <a:srgbClr val="272525"/>
                </a:solidFill>
                <a:latin typeface="DM Sans Bold" pitchFamily="34" charset="0"/>
                <a:ea typeface="DM Sans Bold" pitchFamily="34" charset="-122"/>
                <a:cs typeface="DM Sans Bold" pitchFamily="34" charset="-120"/>
              </a:rPr>
              <a:t>The setting is far more than just a payments backdrop</a:t>
            </a:r>
            <a:r>
              <a:rPr lang="en-US" sz="1250" dirty="0">
                <a:solidFill>
                  <a:srgbClr val="272525"/>
                </a:solidFill>
                <a:latin typeface="DM Sans" pitchFamily="34" charset="0"/>
                <a:ea typeface="DM Sans" pitchFamily="34" charset="-122"/>
                <a:cs typeface="DM Sans" pitchFamily="34" charset="-120"/>
              </a:rPr>
              <a:t>—it actively shapes why churn is so damaging. Most UPI apps charge users nothing for basic transactions. Revenue comes from lending, merchant services, advertising and cross-selling. This means a churned user represents not a lost fee but an entire future stream of data and value. Even in a booming market, retaining customers is a constant, serious concern, and it forms the backdrop against which this entire study is set.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792262"/>
            <a:ext cx="132255" cy="132259"/>
          </a:xfrm>
          <a:prstGeom prst="rect">
            <a:avLst/>
          </a:prstGeom>
          <a:solidFill>
            <a:srgbClr val="911E1B"/>
          </a:solidFill>
          <a:ln/>
        </p:spPr>
      </p:sp>
      <p:sp>
        <p:nvSpPr>
          <p:cNvPr id="3" name="Text 1"/>
          <p:cNvSpPr/>
          <p:nvPr/>
        </p:nvSpPr>
        <p:spPr>
          <a:xfrm>
            <a:off x="859808" y="782340"/>
            <a:ext cx="1404704" cy="152202"/>
          </a:xfrm>
          <a:prstGeom prst="rect">
            <a:avLst/>
          </a:prstGeom>
          <a:noFill/>
          <a:ln/>
        </p:spPr>
        <p:txBody>
          <a:bodyPr wrap="none" lIns="0" tIns="0" rIns="0" bIns="0" rtlCol="0" anchor="t"/>
          <a:lstStyle/>
          <a:p>
            <a:pPr marL="0" indent="0" algn="l">
              <a:lnSpc>
                <a:spcPct val="96000"/>
              </a:lnSpc>
              <a:buNone/>
            </a:pPr>
            <a:r>
              <a:rPr lang="en-US" sz="1000" dirty="0">
                <a:solidFill>
                  <a:srgbClr val="911E1B"/>
                </a:solidFill>
                <a:latin typeface="DM Sans" pitchFamily="34" charset="0"/>
                <a:ea typeface="DM Sans" pitchFamily="34" charset="-122"/>
                <a:cs typeface="DM Sans" pitchFamily="34" charset="-120"/>
              </a:rPr>
              <a:t>KEY PLAYERS</a:t>
            </a:r>
            <a:endParaRPr lang="en-US" sz="1000" dirty="0"/>
          </a:p>
        </p:txBody>
      </p:sp>
      <p:sp>
        <p:nvSpPr>
          <p:cNvPr id="4" name="Text 2"/>
          <p:cNvSpPr/>
          <p:nvPr/>
        </p:nvSpPr>
        <p:spPr>
          <a:xfrm>
            <a:off x="661475" y="1050230"/>
            <a:ext cx="10868745" cy="413445"/>
          </a:xfrm>
          <a:prstGeom prst="rect">
            <a:avLst/>
          </a:prstGeom>
          <a:noFill/>
          <a:ln/>
        </p:spPr>
        <p:txBody>
          <a:bodyPr wrap="none" lIns="0" tIns="0" rIns="0" bIns="0" rtlCol="0" anchor="t"/>
          <a:lstStyle/>
          <a:p>
            <a:pPr marL="0" indent="0" algn="l">
              <a:lnSpc>
                <a:spcPct val="83000"/>
              </a:lnSpc>
              <a:buNone/>
            </a:pPr>
            <a:r>
              <a:rPr lang="en-US" sz="3250" dirty="0">
                <a:solidFill>
                  <a:srgbClr val="000000"/>
                </a:solidFill>
                <a:latin typeface="DM Sans SemiBold" pitchFamily="34" charset="0"/>
                <a:ea typeface="DM Sans SemiBold" pitchFamily="34" charset="-122"/>
                <a:cs typeface="DM Sans SemiBold" pitchFamily="34" charset="-120"/>
              </a:rPr>
              <a:t>The Major UPI Applications</a:t>
            </a:r>
            <a:endParaRPr lang="en-US" sz="32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711722"/>
            <a:ext cx="10868745" cy="1360984"/>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4017" y="2268141"/>
            <a:ext cx="248041" cy="248047"/>
          </a:xfrm>
          <a:prstGeom prst="rect">
            <a:avLst/>
          </a:prstGeom>
        </p:spPr>
      </p:pic>
      <p:sp>
        <p:nvSpPr>
          <p:cNvPr id="7" name="Text 3"/>
          <p:cNvSpPr/>
          <p:nvPr/>
        </p:nvSpPr>
        <p:spPr>
          <a:xfrm>
            <a:off x="1507294" y="1896070"/>
            <a:ext cx="9838583" cy="248047"/>
          </a:xfrm>
          <a:prstGeom prst="rect">
            <a:avLst/>
          </a:prstGeom>
          <a:noFill/>
          <a:ln/>
        </p:spPr>
        <p:txBody>
          <a:bodyPr wrap="none" lIns="0" tIns="0" rIns="0" bIns="0" rtlCol="0" anchor="t"/>
          <a:lstStyle/>
          <a:p>
            <a:pPr marL="0" indent="0" algn="l">
              <a:lnSpc>
                <a:spcPct val="83000"/>
              </a:lnSpc>
              <a:buNone/>
            </a:pPr>
            <a:r>
              <a:rPr lang="en-US" sz="1950" dirty="0">
                <a:solidFill>
                  <a:srgbClr val="272525"/>
                </a:solidFill>
                <a:latin typeface="DM Sans SemiBold" pitchFamily="34" charset="0"/>
                <a:ea typeface="DM Sans SemiBold" pitchFamily="34" charset="-122"/>
                <a:cs typeface="DM Sans SemiBold" pitchFamily="34" charset="-120"/>
              </a:rPr>
              <a:t>Google Pay — Market Leader</a:t>
            </a:r>
            <a:endParaRPr lang="en-US" sz="1950" dirty="0"/>
          </a:p>
        </p:txBody>
      </p:sp>
      <p:sp>
        <p:nvSpPr>
          <p:cNvPr id="8" name="Text 4"/>
          <p:cNvSpPr/>
          <p:nvPr/>
        </p:nvSpPr>
        <p:spPr>
          <a:xfrm>
            <a:off x="1507294" y="2243336"/>
            <a:ext cx="9838583" cy="645021"/>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72525"/>
                </a:solidFill>
                <a:latin typeface="DM Sans" pitchFamily="34" charset="0"/>
                <a:ea typeface="DM Sans" pitchFamily="34" charset="-122"/>
                <a:cs typeface="DM Sans" pitchFamily="34" charset="-120"/>
              </a:rPr>
              <a:t>Chosen by 50% of respondents in this study, Google Pay is known for its clean, uncluttered interface and reliability. Users say it simply works. It leans on security and simplicity as its main selling points, building a loyal base that values a smooth, predictable everyday experience.</a:t>
            </a:r>
            <a:endParaRPr lang="en-US" sz="13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238004"/>
            <a:ext cx="10868745" cy="1360984"/>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4017" y="3794423"/>
            <a:ext cx="248041" cy="248047"/>
          </a:xfrm>
          <a:prstGeom prst="rect">
            <a:avLst/>
          </a:prstGeom>
        </p:spPr>
      </p:pic>
      <p:sp>
        <p:nvSpPr>
          <p:cNvPr id="11" name="Text 5"/>
          <p:cNvSpPr/>
          <p:nvPr/>
        </p:nvSpPr>
        <p:spPr>
          <a:xfrm>
            <a:off x="1507294" y="3422352"/>
            <a:ext cx="9838583" cy="248047"/>
          </a:xfrm>
          <a:prstGeom prst="rect">
            <a:avLst/>
          </a:prstGeom>
          <a:noFill/>
          <a:ln/>
        </p:spPr>
        <p:txBody>
          <a:bodyPr wrap="none" lIns="0" tIns="0" rIns="0" bIns="0" rtlCol="0" anchor="t"/>
          <a:lstStyle/>
          <a:p>
            <a:pPr marL="0" indent="0" algn="l">
              <a:lnSpc>
                <a:spcPct val="83000"/>
              </a:lnSpc>
              <a:buNone/>
            </a:pPr>
            <a:r>
              <a:rPr lang="en-US" sz="1950" dirty="0">
                <a:solidFill>
                  <a:srgbClr val="272525"/>
                </a:solidFill>
                <a:latin typeface="DM Sans SemiBold" pitchFamily="34" charset="0"/>
                <a:ea typeface="DM Sans SemiBold" pitchFamily="34" charset="-122"/>
                <a:cs typeface="DM Sans SemiBold" pitchFamily="34" charset="-120"/>
              </a:rPr>
              <a:t>PhonePe — Close Second</a:t>
            </a:r>
            <a:endParaRPr lang="en-US" sz="1950" dirty="0"/>
          </a:p>
        </p:txBody>
      </p:sp>
      <p:sp>
        <p:nvSpPr>
          <p:cNvPr id="12" name="Text 6"/>
          <p:cNvSpPr/>
          <p:nvPr/>
        </p:nvSpPr>
        <p:spPr>
          <a:xfrm>
            <a:off x="1507294" y="3769618"/>
            <a:ext cx="9838583" cy="645021"/>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72525"/>
                </a:solidFill>
                <a:latin typeface="DM Sans" pitchFamily="34" charset="0"/>
                <a:ea typeface="DM Sans" pitchFamily="34" charset="-122"/>
                <a:cs typeface="DM Sans" pitchFamily="34" charset="-120"/>
              </a:rPr>
              <a:t>Preferred by 28% of respondents, PhonePe grew fast on aggressive cashback and a wide merchant network. It expanded beyond payments into insurance, mutual funds and bill payments, positioning itself as a place where users manage many parts of their financial life.</a:t>
            </a:r>
            <a:endParaRPr lang="en-US" sz="130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764286"/>
            <a:ext cx="10868745" cy="1360984"/>
          </a:xfrm>
          <a:prstGeom prst="rect">
            <a:avLst/>
          </a:prstGeom>
        </p:spPr>
      </p:pic>
      <p:pic>
        <p:nvPicPr>
          <p:cNvPr id="14"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84017" y="5320705"/>
            <a:ext cx="248041" cy="248047"/>
          </a:xfrm>
          <a:prstGeom prst="rect">
            <a:avLst/>
          </a:prstGeom>
        </p:spPr>
      </p:pic>
      <p:sp>
        <p:nvSpPr>
          <p:cNvPr id="15" name="Text 7"/>
          <p:cNvSpPr/>
          <p:nvPr/>
        </p:nvSpPr>
        <p:spPr>
          <a:xfrm>
            <a:off x="1507294" y="4948634"/>
            <a:ext cx="9838583" cy="248047"/>
          </a:xfrm>
          <a:prstGeom prst="rect">
            <a:avLst/>
          </a:prstGeom>
          <a:noFill/>
          <a:ln/>
        </p:spPr>
        <p:txBody>
          <a:bodyPr wrap="none" lIns="0" tIns="0" rIns="0" bIns="0" rtlCol="0" anchor="t"/>
          <a:lstStyle/>
          <a:p>
            <a:pPr marL="0" indent="0" algn="l">
              <a:lnSpc>
                <a:spcPct val="83000"/>
              </a:lnSpc>
              <a:buNone/>
            </a:pPr>
            <a:r>
              <a:rPr lang="en-US" sz="1950" dirty="0">
                <a:solidFill>
                  <a:srgbClr val="272525"/>
                </a:solidFill>
                <a:latin typeface="DM Sans SemiBold" pitchFamily="34" charset="0"/>
                <a:ea typeface="DM Sans SemiBold" pitchFamily="34" charset="-122"/>
                <a:cs typeface="DM Sans SemiBold" pitchFamily="34" charset="-120"/>
              </a:rPr>
              <a:t>Paytm, BHIM &amp; Amazon Pay</a:t>
            </a:r>
            <a:endParaRPr lang="en-US" sz="1950" dirty="0"/>
          </a:p>
        </p:txBody>
      </p:sp>
      <p:sp>
        <p:nvSpPr>
          <p:cNvPr id="16" name="Text 8"/>
          <p:cNvSpPr/>
          <p:nvPr/>
        </p:nvSpPr>
        <p:spPr>
          <a:xfrm>
            <a:off x="1507294" y="5295900"/>
            <a:ext cx="9838583" cy="645021"/>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72525"/>
                </a:solidFill>
                <a:latin typeface="DM Sans" pitchFamily="34" charset="0"/>
                <a:ea typeface="DM Sans" pitchFamily="34" charset="-122"/>
                <a:cs typeface="DM Sans" pitchFamily="34" charset="-120"/>
              </a:rPr>
              <a:t>Paytm — the oldest in Indian digital payments memory — offers the broadest range of services from a payments bank to ticketing. BHIM, launched by NPCI itself, does the core job cleanly and is trusted for its institutional credibility. Amazon Pay leverages the existing shopping ecosystem to retain users through shopping-linked rewards.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09687"/>
            <a:ext cx="10868745" cy="351433"/>
          </a:xfrm>
          <a:prstGeom prst="rect">
            <a:avLst/>
          </a:prstGeom>
          <a:noFill/>
          <a:ln/>
        </p:spPr>
        <p:txBody>
          <a:bodyPr wrap="none" lIns="0" tIns="0" rIns="0" bIns="0" rtlCol="0" anchor="t"/>
          <a:lstStyle/>
          <a:p>
            <a:pPr marL="0" indent="0" algn="l">
              <a:lnSpc>
                <a:spcPct val="83000"/>
              </a:lnSpc>
              <a:buNone/>
            </a:pPr>
            <a:r>
              <a:rPr lang="en-US" sz="2750" dirty="0">
                <a:solidFill>
                  <a:srgbClr val="000000"/>
                </a:solidFill>
                <a:latin typeface="DM Sans SemiBold" pitchFamily="34" charset="0"/>
                <a:ea typeface="DM Sans SemiBold" pitchFamily="34" charset="-122"/>
                <a:cs typeface="DM Sans SemiBold" pitchFamily="34" charset="-120"/>
              </a:rPr>
              <a:t>Research Methodology</a:t>
            </a:r>
            <a:endParaRPr lang="en-US" sz="2750" dirty="0"/>
          </a:p>
        </p:txBody>
      </p:sp>
      <p:pic>
        <p:nvPicPr>
          <p:cNvPr id="3" name="Image 0" descr="preencoded.png"/>
          <p:cNvPicPr>
            <a:picLocks noChangeAspect="1"/>
          </p:cNvPicPr>
          <p:nvPr/>
        </p:nvPicPr>
        <p:blipFill>
          <a:blip r:embed="rId3"/>
          <a:stretch>
            <a:fillRect/>
          </a:stretch>
        </p:blipFill>
        <p:spPr>
          <a:xfrm>
            <a:off x="661475" y="1100038"/>
            <a:ext cx="9724484" cy="3144242"/>
          </a:xfrm>
          <a:prstGeom prst="rect">
            <a:avLst/>
          </a:prstGeom>
        </p:spPr>
      </p:pic>
      <p:sp>
        <p:nvSpPr>
          <p:cNvPr id="4" name="Text 1"/>
          <p:cNvSpPr/>
          <p:nvPr/>
        </p:nvSpPr>
        <p:spPr>
          <a:xfrm>
            <a:off x="1374934" y="2933722"/>
            <a:ext cx="2133674" cy="213373"/>
          </a:xfrm>
          <a:prstGeom prst="rect">
            <a:avLst/>
          </a:prstGeom>
          <a:noFill/>
          <a:ln/>
        </p:spPr>
        <p:txBody>
          <a:bodyPr wrap="none" lIns="0" tIns="0" rIns="0" bIns="0" rtlCol="0" anchor="t"/>
          <a:lstStyle/>
          <a:p>
            <a:pPr marL="0" indent="0" algn="r">
              <a:lnSpc>
                <a:spcPct val="83000"/>
              </a:lnSpc>
              <a:buNone/>
            </a:pPr>
            <a:r>
              <a:rPr lang="en-US" sz="1650" dirty="0">
                <a:solidFill>
                  <a:srgbClr val="000000"/>
                </a:solidFill>
                <a:latin typeface="DM Sans SemiBold" pitchFamily="34" charset="0"/>
                <a:ea typeface="DM Sans SemiBold" pitchFamily="34" charset="-122"/>
                <a:cs typeface="DM Sans SemiBold" pitchFamily="34" charset="-120"/>
              </a:rPr>
              <a:t>Data Collection</a:t>
            </a:r>
            <a:endParaRPr lang="en-US" sz="1650" dirty="0"/>
          </a:p>
        </p:txBody>
      </p:sp>
      <p:sp>
        <p:nvSpPr>
          <p:cNvPr id="5" name="Text 2"/>
          <p:cNvSpPr/>
          <p:nvPr/>
        </p:nvSpPr>
        <p:spPr>
          <a:xfrm>
            <a:off x="891301" y="3222961"/>
            <a:ext cx="2617307" cy="592109"/>
          </a:xfrm>
          <a:prstGeom prst="rect">
            <a:avLst/>
          </a:prstGeom>
          <a:noFill/>
          <a:ln/>
        </p:spPr>
        <p:txBody>
          <a:bodyPr wrap="square" lIns="0" tIns="0" rIns="0" bIns="0" rtlCol="0" anchor="t">
            <a:normAutofit/>
          </a:bodyPr>
          <a:lstStyle/>
          <a:p>
            <a:pPr marL="0" indent="0" algn="r">
              <a:lnSpc>
                <a:spcPct val="96000"/>
              </a:lnSpc>
              <a:buNone/>
            </a:pPr>
            <a:r>
              <a:rPr lang="en-US" sz="1300" dirty="0">
                <a:solidFill>
                  <a:srgbClr val="272525"/>
                </a:solidFill>
                <a:latin typeface="DM Sans" pitchFamily="34" charset="0"/>
                <a:ea typeface="DM Sans" pitchFamily="34" charset="-122"/>
                <a:cs typeface="DM Sans" pitchFamily="34" charset="-120"/>
              </a:rPr>
              <a:t>Structured questionnaire via Google Forms; 46 valid responses collected.</a:t>
            </a:r>
            <a:endParaRPr lang="en-US" sz="1300" dirty="0"/>
          </a:p>
        </p:txBody>
      </p:sp>
      <p:sp>
        <p:nvSpPr>
          <p:cNvPr id="6" name="Text 3"/>
          <p:cNvSpPr/>
          <p:nvPr/>
        </p:nvSpPr>
        <p:spPr>
          <a:xfrm>
            <a:off x="7605115" y="2189288"/>
            <a:ext cx="2133675" cy="213373"/>
          </a:xfrm>
          <a:prstGeom prst="rect">
            <a:avLst/>
          </a:prstGeom>
          <a:noFill/>
          <a:ln/>
        </p:spPr>
        <p:txBody>
          <a:bodyPr wrap="none" lIns="0" tIns="0" rIns="0" bIns="0" rtlCol="0" anchor="t"/>
          <a:lstStyle/>
          <a:p>
            <a:pPr marL="0" indent="0" algn="l">
              <a:lnSpc>
                <a:spcPct val="83000"/>
              </a:lnSpc>
              <a:buNone/>
            </a:pPr>
            <a:r>
              <a:rPr lang="en-US" sz="1650" dirty="0">
                <a:solidFill>
                  <a:srgbClr val="000000"/>
                </a:solidFill>
                <a:latin typeface="DM Sans SemiBold" pitchFamily="34" charset="0"/>
                <a:ea typeface="DM Sans SemiBold" pitchFamily="34" charset="-122"/>
                <a:cs typeface="DM Sans SemiBold" pitchFamily="34" charset="-120"/>
              </a:rPr>
              <a:t>Data Preparation</a:t>
            </a:r>
            <a:endParaRPr lang="en-US" sz="1650" dirty="0"/>
          </a:p>
        </p:txBody>
      </p:sp>
      <p:sp>
        <p:nvSpPr>
          <p:cNvPr id="7" name="Text 4"/>
          <p:cNvSpPr/>
          <p:nvPr/>
        </p:nvSpPr>
        <p:spPr>
          <a:xfrm>
            <a:off x="7605115" y="2478527"/>
            <a:ext cx="2550926" cy="592110"/>
          </a:xfrm>
          <a:prstGeom prst="rect">
            <a:avLst/>
          </a:prstGeom>
          <a:noFill/>
          <a:ln/>
        </p:spPr>
        <p:txBody>
          <a:bodyPr wrap="square" lIns="0" tIns="0" rIns="0" bIns="0" rtlCol="0" anchor="t">
            <a:normAutofit/>
          </a:bodyPr>
          <a:lstStyle/>
          <a:p>
            <a:pPr marL="0" indent="0" algn="l">
              <a:lnSpc>
                <a:spcPct val="96000"/>
              </a:lnSpc>
              <a:buNone/>
            </a:pPr>
            <a:r>
              <a:rPr lang="en-US" sz="1300" dirty="0">
                <a:solidFill>
                  <a:srgbClr val="272525"/>
                </a:solidFill>
                <a:latin typeface="DM Sans" pitchFamily="34" charset="0"/>
                <a:ea typeface="DM Sans" pitchFamily="34" charset="-122"/>
                <a:cs typeface="DM Sans" pitchFamily="34" charset="-120"/>
              </a:rPr>
              <a:t>Cleaned in Excel, transformed with Python, loaded into MySQL database.</a:t>
            </a:r>
            <a:endParaRPr lang="en-US" sz="1300" dirty="0"/>
          </a:p>
        </p:txBody>
      </p:sp>
      <p:sp>
        <p:nvSpPr>
          <p:cNvPr id="8" name="Text 5"/>
          <p:cNvSpPr/>
          <p:nvPr/>
        </p:nvSpPr>
        <p:spPr>
          <a:xfrm>
            <a:off x="1071922" y="1511237"/>
            <a:ext cx="2436538" cy="213373"/>
          </a:xfrm>
          <a:prstGeom prst="rect">
            <a:avLst/>
          </a:prstGeom>
          <a:noFill/>
          <a:ln/>
        </p:spPr>
        <p:txBody>
          <a:bodyPr wrap="none" lIns="0" tIns="0" rIns="0" bIns="0" rtlCol="0" anchor="t"/>
          <a:lstStyle/>
          <a:p>
            <a:pPr marL="0" indent="0" algn="r">
              <a:lnSpc>
                <a:spcPct val="83000"/>
              </a:lnSpc>
              <a:buNone/>
            </a:pPr>
            <a:r>
              <a:rPr lang="en-US" sz="1650" dirty="0">
                <a:solidFill>
                  <a:srgbClr val="000000"/>
                </a:solidFill>
                <a:latin typeface="DM Sans SemiBold" pitchFamily="34" charset="0"/>
                <a:ea typeface="DM Sans SemiBold" pitchFamily="34" charset="-122"/>
                <a:cs typeface="DM Sans SemiBold" pitchFamily="34" charset="-120"/>
              </a:rPr>
              <a:t>Analysis &amp; Visualisation</a:t>
            </a:r>
            <a:endParaRPr lang="en-US" sz="1650" dirty="0"/>
          </a:p>
        </p:txBody>
      </p:sp>
      <p:sp>
        <p:nvSpPr>
          <p:cNvPr id="9" name="Text 6"/>
          <p:cNvSpPr/>
          <p:nvPr/>
        </p:nvSpPr>
        <p:spPr>
          <a:xfrm>
            <a:off x="891153" y="1800476"/>
            <a:ext cx="2617307" cy="592110"/>
          </a:xfrm>
          <a:prstGeom prst="rect">
            <a:avLst/>
          </a:prstGeom>
          <a:noFill/>
          <a:ln/>
        </p:spPr>
        <p:txBody>
          <a:bodyPr wrap="square" lIns="0" tIns="0" rIns="0" bIns="0" rtlCol="0" anchor="t">
            <a:normAutofit/>
          </a:bodyPr>
          <a:lstStyle/>
          <a:p>
            <a:pPr marL="0" indent="0" algn="r">
              <a:lnSpc>
                <a:spcPct val="96000"/>
              </a:lnSpc>
              <a:buNone/>
            </a:pPr>
            <a:r>
              <a:rPr lang="en-US" sz="1300" dirty="0">
                <a:solidFill>
                  <a:srgbClr val="272525"/>
                </a:solidFill>
                <a:latin typeface="DM Sans" pitchFamily="34" charset="0"/>
                <a:ea typeface="DM Sans" pitchFamily="34" charset="-122"/>
                <a:cs typeface="DM Sans" pitchFamily="34" charset="-120"/>
              </a:rPr>
              <a:t>SQL queries for insights; Power BI interactive dashboards for patterns.</a:t>
            </a:r>
            <a:endParaRPr lang="en-US" sz="1300" dirty="0"/>
          </a:p>
        </p:txBody>
      </p:sp>
      <p:sp>
        <p:nvSpPr>
          <p:cNvPr id="10" name="Text 7"/>
          <p:cNvSpPr/>
          <p:nvPr/>
        </p:nvSpPr>
        <p:spPr>
          <a:xfrm>
            <a:off x="661475" y="4378623"/>
            <a:ext cx="11478330" cy="168970"/>
          </a:xfrm>
          <a:prstGeom prst="rect">
            <a:avLst/>
          </a:prstGeom>
          <a:noFill/>
          <a:ln/>
        </p:spPr>
        <p:txBody>
          <a:bodyPr wrap="none" lIns="0" tIns="0" rIns="0" bIns="0" rtlCol="0" anchor="t"/>
          <a:lstStyle/>
          <a:p>
            <a:pPr marL="0" indent="0" algn="l">
              <a:lnSpc>
                <a:spcPct val="100000"/>
              </a:lnSpc>
              <a:buNone/>
            </a:pPr>
            <a:r>
              <a:rPr lang="en-US" sz="1100" dirty="0">
                <a:solidFill>
                  <a:srgbClr val="272525"/>
                </a:solidFill>
                <a:latin typeface="DM Sans" pitchFamily="34" charset="0"/>
                <a:ea typeface="DM Sans" pitchFamily="34" charset="-122"/>
                <a:cs typeface="DM Sans" pitchFamily="34" charset="-120"/>
              </a:rPr>
              <a:t>The study follows a descriptive and analytical research design, drawing on both primary and secondary data to understand customer behaviour and retention factors.</a:t>
            </a:r>
            <a:endParaRPr lang="en-US" sz="1100" dirty="0"/>
          </a:p>
        </p:txBody>
      </p:sp>
      <p:sp>
        <p:nvSpPr>
          <p:cNvPr id="11" name="Text 8"/>
          <p:cNvSpPr/>
          <p:nvPr/>
        </p:nvSpPr>
        <p:spPr>
          <a:xfrm>
            <a:off x="661475" y="4681934"/>
            <a:ext cx="281080" cy="140494"/>
          </a:xfrm>
          <a:prstGeom prst="rect">
            <a:avLst/>
          </a:prstGeom>
          <a:noFill/>
          <a:ln/>
        </p:spPr>
        <p:txBody>
          <a:bodyPr wrap="none" lIns="0" tIns="0" rIns="0" bIns="0" rtlCol="0" anchor="ctr"/>
          <a:lstStyle/>
          <a:p>
            <a:pPr marL="0" indent="0" algn="l">
              <a:lnSpc>
                <a:spcPct val="100000"/>
              </a:lnSpc>
              <a:buNone/>
            </a:pPr>
            <a:r>
              <a:rPr lang="en-US" sz="1100" dirty="0">
                <a:solidFill>
                  <a:srgbClr val="272525"/>
                </a:solidFill>
                <a:latin typeface="DM Sans Light" pitchFamily="34" charset="0"/>
                <a:ea typeface="DM Sans Light" pitchFamily="34" charset="-122"/>
                <a:cs typeface="DM Sans Light" pitchFamily="34" charset="-120"/>
              </a:rPr>
              <a:t>01</a:t>
            </a:r>
            <a:endParaRPr lang="en-US" sz="1100" dirty="0"/>
          </a:p>
        </p:txBody>
      </p:sp>
      <p:sp>
        <p:nvSpPr>
          <p:cNvPr id="12" name="Shape 9"/>
          <p:cNvSpPr/>
          <p:nvPr/>
        </p:nvSpPr>
        <p:spPr>
          <a:xfrm>
            <a:off x="661475" y="4866580"/>
            <a:ext cx="3543211" cy="19050"/>
          </a:xfrm>
          <a:prstGeom prst="rect">
            <a:avLst/>
          </a:prstGeom>
          <a:solidFill>
            <a:srgbClr val="E07A5F"/>
          </a:solidFill>
          <a:ln/>
        </p:spPr>
      </p:sp>
      <p:sp>
        <p:nvSpPr>
          <p:cNvPr id="13" name="Text 10"/>
          <p:cNvSpPr/>
          <p:nvPr/>
        </p:nvSpPr>
        <p:spPr>
          <a:xfrm>
            <a:off x="661475" y="4974927"/>
            <a:ext cx="3543211" cy="175716"/>
          </a:xfrm>
          <a:prstGeom prst="rect">
            <a:avLst/>
          </a:prstGeom>
          <a:noFill/>
          <a:ln/>
        </p:spPr>
        <p:txBody>
          <a:bodyPr wrap="none" lIns="0" tIns="0" rIns="0" bIns="0" rtlCol="0" anchor="t"/>
          <a:lstStyle/>
          <a:p>
            <a:pPr marL="0" indent="0" algn="l">
              <a:lnSpc>
                <a:spcPct val="83000"/>
              </a:lnSpc>
              <a:buNone/>
            </a:pPr>
            <a:r>
              <a:rPr lang="en-US" sz="1350" dirty="0">
                <a:solidFill>
                  <a:srgbClr val="272525"/>
                </a:solidFill>
                <a:latin typeface="DM Sans SemiBold" pitchFamily="34" charset="0"/>
                <a:ea typeface="DM Sans SemiBold" pitchFamily="34" charset="-122"/>
                <a:cs typeface="DM Sans SemiBold" pitchFamily="34" charset="-120"/>
              </a:rPr>
              <a:t>Step 1: Primary Data Collection</a:t>
            </a:r>
            <a:endParaRPr lang="en-US" sz="1350" dirty="0"/>
          </a:p>
        </p:txBody>
      </p:sp>
      <p:sp>
        <p:nvSpPr>
          <p:cNvPr id="14" name="Text 11"/>
          <p:cNvSpPr/>
          <p:nvPr/>
        </p:nvSpPr>
        <p:spPr>
          <a:xfrm>
            <a:off x="661475" y="5222280"/>
            <a:ext cx="3543211" cy="844848"/>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272525"/>
                </a:solidFill>
                <a:latin typeface="DM Sans" pitchFamily="34" charset="0"/>
                <a:ea typeface="DM Sans" pitchFamily="34" charset="-122"/>
                <a:cs typeface="DM Sans" pitchFamily="34" charset="-120"/>
              </a:rPr>
              <a:t>A structured 12-question questionnaire covering demographics, UPI usage, churn factors and loyalty was circulated via Google Forms. Convenience sampling was used across students, working professionals and business owners.</a:t>
            </a:r>
            <a:endParaRPr lang="en-US" sz="1100" dirty="0"/>
          </a:p>
        </p:txBody>
      </p:sp>
      <p:sp>
        <p:nvSpPr>
          <p:cNvPr id="15" name="Text 12"/>
          <p:cNvSpPr/>
          <p:nvPr/>
        </p:nvSpPr>
        <p:spPr>
          <a:xfrm>
            <a:off x="4324143" y="4681934"/>
            <a:ext cx="281080" cy="140494"/>
          </a:xfrm>
          <a:prstGeom prst="rect">
            <a:avLst/>
          </a:prstGeom>
          <a:noFill/>
          <a:ln/>
        </p:spPr>
        <p:txBody>
          <a:bodyPr wrap="none" lIns="0" tIns="0" rIns="0" bIns="0" rtlCol="0" anchor="ctr"/>
          <a:lstStyle/>
          <a:p>
            <a:pPr marL="0" indent="0" algn="l">
              <a:lnSpc>
                <a:spcPct val="100000"/>
              </a:lnSpc>
              <a:buNone/>
            </a:pPr>
            <a:r>
              <a:rPr lang="en-US" sz="1100" dirty="0">
                <a:solidFill>
                  <a:srgbClr val="272525"/>
                </a:solidFill>
                <a:latin typeface="DM Sans Light" pitchFamily="34" charset="0"/>
                <a:ea typeface="DM Sans Light" pitchFamily="34" charset="-122"/>
                <a:cs typeface="DM Sans Light" pitchFamily="34" charset="-120"/>
              </a:rPr>
              <a:t>02</a:t>
            </a:r>
            <a:endParaRPr lang="en-US" sz="1100" dirty="0"/>
          </a:p>
        </p:txBody>
      </p:sp>
      <p:sp>
        <p:nvSpPr>
          <p:cNvPr id="16" name="Shape 13"/>
          <p:cNvSpPr/>
          <p:nvPr/>
        </p:nvSpPr>
        <p:spPr>
          <a:xfrm>
            <a:off x="4324143" y="4866580"/>
            <a:ext cx="3543311" cy="19050"/>
          </a:xfrm>
          <a:prstGeom prst="rect">
            <a:avLst/>
          </a:prstGeom>
          <a:solidFill>
            <a:srgbClr val="E07A5F"/>
          </a:solidFill>
          <a:ln/>
        </p:spPr>
      </p:sp>
      <p:sp>
        <p:nvSpPr>
          <p:cNvPr id="17" name="Text 14"/>
          <p:cNvSpPr/>
          <p:nvPr/>
        </p:nvSpPr>
        <p:spPr>
          <a:xfrm>
            <a:off x="4324143" y="4974927"/>
            <a:ext cx="3543311" cy="175716"/>
          </a:xfrm>
          <a:prstGeom prst="rect">
            <a:avLst/>
          </a:prstGeom>
          <a:noFill/>
          <a:ln/>
        </p:spPr>
        <p:txBody>
          <a:bodyPr wrap="none" lIns="0" tIns="0" rIns="0" bIns="0" rtlCol="0" anchor="t"/>
          <a:lstStyle/>
          <a:p>
            <a:pPr marL="0" indent="0" algn="l">
              <a:lnSpc>
                <a:spcPct val="83000"/>
              </a:lnSpc>
              <a:buNone/>
            </a:pPr>
            <a:r>
              <a:rPr lang="en-US" sz="1350" dirty="0">
                <a:solidFill>
                  <a:srgbClr val="272525"/>
                </a:solidFill>
                <a:latin typeface="DM Sans SemiBold" pitchFamily="34" charset="0"/>
                <a:ea typeface="DM Sans SemiBold" pitchFamily="34" charset="-122"/>
                <a:cs typeface="DM Sans SemiBold" pitchFamily="34" charset="-120"/>
              </a:rPr>
              <a:t>Step 2: Cleaning, Python &amp; MySQL</a:t>
            </a:r>
            <a:endParaRPr lang="en-US" sz="1350" dirty="0"/>
          </a:p>
        </p:txBody>
      </p:sp>
      <p:sp>
        <p:nvSpPr>
          <p:cNvPr id="18" name="Text 15"/>
          <p:cNvSpPr/>
          <p:nvPr/>
        </p:nvSpPr>
        <p:spPr>
          <a:xfrm>
            <a:off x="4324143" y="5222280"/>
            <a:ext cx="3543311" cy="675878"/>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272525"/>
                </a:solidFill>
                <a:latin typeface="DM Sans" pitchFamily="34" charset="0"/>
                <a:ea typeface="DM Sans" pitchFamily="34" charset="-122"/>
                <a:cs typeface="DM Sans" pitchFamily="34" charset="-120"/>
              </a:rPr>
              <a:t>Responses were exported to Excel for cleaning and standardisation, then loaded into a MySQL database via Python (pandas and mysql-connector-python) for structured querying.</a:t>
            </a:r>
            <a:endParaRPr lang="en-US" sz="1100" dirty="0"/>
          </a:p>
        </p:txBody>
      </p:sp>
      <p:sp>
        <p:nvSpPr>
          <p:cNvPr id="19" name="Text 16"/>
          <p:cNvSpPr/>
          <p:nvPr/>
        </p:nvSpPr>
        <p:spPr>
          <a:xfrm>
            <a:off x="7986910" y="4681934"/>
            <a:ext cx="281080" cy="140494"/>
          </a:xfrm>
          <a:prstGeom prst="rect">
            <a:avLst/>
          </a:prstGeom>
          <a:noFill/>
          <a:ln/>
        </p:spPr>
        <p:txBody>
          <a:bodyPr wrap="none" lIns="0" tIns="0" rIns="0" bIns="0" rtlCol="0" anchor="ctr"/>
          <a:lstStyle/>
          <a:p>
            <a:pPr marL="0" indent="0" algn="l">
              <a:lnSpc>
                <a:spcPct val="100000"/>
              </a:lnSpc>
              <a:buNone/>
            </a:pPr>
            <a:r>
              <a:rPr lang="en-US" sz="1100" dirty="0">
                <a:solidFill>
                  <a:srgbClr val="272525"/>
                </a:solidFill>
                <a:latin typeface="DM Sans Light" pitchFamily="34" charset="0"/>
                <a:ea typeface="DM Sans Light" pitchFamily="34" charset="-122"/>
                <a:cs typeface="DM Sans Light" pitchFamily="34" charset="-120"/>
              </a:rPr>
              <a:t>03</a:t>
            </a:r>
            <a:endParaRPr lang="en-US" sz="1100" dirty="0"/>
          </a:p>
        </p:txBody>
      </p:sp>
      <p:sp>
        <p:nvSpPr>
          <p:cNvPr id="20" name="Shape 17"/>
          <p:cNvSpPr/>
          <p:nvPr/>
        </p:nvSpPr>
        <p:spPr>
          <a:xfrm>
            <a:off x="7986910" y="4866580"/>
            <a:ext cx="3543311" cy="19050"/>
          </a:xfrm>
          <a:prstGeom prst="rect">
            <a:avLst/>
          </a:prstGeom>
          <a:solidFill>
            <a:srgbClr val="E07A5F"/>
          </a:solidFill>
          <a:ln/>
        </p:spPr>
      </p:sp>
      <p:sp>
        <p:nvSpPr>
          <p:cNvPr id="21" name="Text 18"/>
          <p:cNvSpPr/>
          <p:nvPr/>
        </p:nvSpPr>
        <p:spPr>
          <a:xfrm>
            <a:off x="7986910" y="4974927"/>
            <a:ext cx="3543311" cy="351433"/>
          </a:xfrm>
          <a:prstGeom prst="rect">
            <a:avLst/>
          </a:prstGeom>
          <a:noFill/>
          <a:ln/>
        </p:spPr>
        <p:txBody>
          <a:bodyPr wrap="square" lIns="0" tIns="0" rIns="0" bIns="0" rtlCol="0" anchor="t">
            <a:normAutofit/>
          </a:bodyPr>
          <a:lstStyle/>
          <a:p>
            <a:pPr marL="0" indent="0" algn="l">
              <a:lnSpc>
                <a:spcPct val="83000"/>
              </a:lnSpc>
              <a:buNone/>
            </a:pPr>
            <a:r>
              <a:rPr lang="en-US" sz="1350" dirty="0">
                <a:solidFill>
                  <a:srgbClr val="272525"/>
                </a:solidFill>
                <a:latin typeface="DM Sans SemiBold" pitchFamily="34" charset="0"/>
                <a:ea typeface="DM Sans SemiBold" pitchFamily="34" charset="-122"/>
                <a:cs typeface="DM Sans SemiBold" pitchFamily="34" charset="-120"/>
              </a:rPr>
              <a:t>Step 3: SQL Analysis &amp; Power BI Dashboard</a:t>
            </a:r>
            <a:endParaRPr lang="en-US" sz="1350" dirty="0"/>
          </a:p>
        </p:txBody>
      </p:sp>
      <p:sp>
        <p:nvSpPr>
          <p:cNvPr id="22" name="Text 19"/>
          <p:cNvSpPr/>
          <p:nvPr/>
        </p:nvSpPr>
        <p:spPr>
          <a:xfrm>
            <a:off x="7986910" y="5397996"/>
            <a:ext cx="3543311" cy="844848"/>
          </a:xfrm>
          <a:prstGeom prst="rect">
            <a:avLst/>
          </a:prstGeom>
          <a:noFill/>
          <a:ln/>
        </p:spPr>
        <p:txBody>
          <a:bodyPr wrap="square" lIns="0" tIns="0" rIns="0" bIns="0" rtlCol="0" anchor="t">
            <a:normAutofit/>
          </a:bodyPr>
          <a:lstStyle/>
          <a:p>
            <a:pPr marL="0" indent="0" algn="l">
              <a:lnSpc>
                <a:spcPct val="100000"/>
              </a:lnSpc>
              <a:buNone/>
            </a:pPr>
            <a:r>
              <a:rPr lang="en-US" sz="1100" dirty="0">
                <a:solidFill>
                  <a:srgbClr val="272525"/>
                </a:solidFill>
                <a:latin typeface="DM Sans" pitchFamily="34" charset="0"/>
                <a:ea typeface="DM Sans" pitchFamily="34" charset="-122"/>
                <a:cs typeface="DM Sans" pitchFamily="34" charset="-120"/>
              </a:rPr>
              <a:t>SQL aggregate functions (COUNT, AVG, GROUP BY) extracted frequencies, satisfaction levels and churn reasons. Power BI dashboards with KPI cards, bar, pie and donut charts, and interactive slicers brought the patterns to life.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647799"/>
            <a:ext cx="99216" cy="99219"/>
          </a:xfrm>
          <a:prstGeom prst="rect">
            <a:avLst/>
          </a:prstGeom>
          <a:solidFill>
            <a:srgbClr val="911E1B"/>
          </a:solidFill>
          <a:ln/>
        </p:spPr>
      </p:sp>
      <p:sp>
        <p:nvSpPr>
          <p:cNvPr id="3" name="Text 1"/>
          <p:cNvSpPr/>
          <p:nvPr/>
        </p:nvSpPr>
        <p:spPr>
          <a:xfrm>
            <a:off x="810299" y="640358"/>
            <a:ext cx="1304892" cy="114102"/>
          </a:xfrm>
          <a:prstGeom prst="rect">
            <a:avLst/>
          </a:prstGeom>
          <a:noFill/>
          <a:ln/>
        </p:spPr>
        <p:txBody>
          <a:bodyPr wrap="none" lIns="0" tIns="0" rIns="0" bIns="0" rtlCol="0" anchor="t"/>
          <a:lstStyle/>
          <a:p>
            <a:pPr marL="0" indent="0" algn="l">
              <a:lnSpc>
                <a:spcPct val="96000"/>
              </a:lnSpc>
              <a:buNone/>
            </a:pPr>
            <a:r>
              <a:rPr lang="en-US" sz="750" dirty="0">
                <a:solidFill>
                  <a:srgbClr val="911E1B"/>
                </a:solidFill>
                <a:latin typeface="DM Sans" pitchFamily="34" charset="0"/>
                <a:ea typeface="DM Sans" pitchFamily="34" charset="-122"/>
                <a:cs typeface="DM Sans" pitchFamily="34" charset="-120"/>
              </a:rPr>
              <a:t>DATA ANALYSIS</a:t>
            </a:r>
            <a:endParaRPr lang="en-US" sz="750" dirty="0"/>
          </a:p>
        </p:txBody>
      </p:sp>
      <p:sp>
        <p:nvSpPr>
          <p:cNvPr id="4" name="Text 2"/>
          <p:cNvSpPr/>
          <p:nvPr/>
        </p:nvSpPr>
        <p:spPr>
          <a:xfrm>
            <a:off x="661475" y="828873"/>
            <a:ext cx="10868745" cy="310158"/>
          </a:xfrm>
          <a:prstGeom prst="rect">
            <a:avLst/>
          </a:prstGeom>
          <a:noFill/>
          <a:ln/>
        </p:spPr>
        <p:txBody>
          <a:bodyPr wrap="none" lIns="0" tIns="0" rIns="0" bIns="0" rtlCol="0" anchor="t"/>
          <a:lstStyle/>
          <a:p>
            <a:pPr marL="0" indent="0" algn="l">
              <a:lnSpc>
                <a:spcPct val="83000"/>
              </a:lnSpc>
              <a:buNone/>
            </a:pPr>
            <a:r>
              <a:rPr lang="en-US" sz="2400" dirty="0">
                <a:solidFill>
                  <a:srgbClr val="000000"/>
                </a:solidFill>
                <a:latin typeface="DM Sans SemiBold" pitchFamily="34" charset="0"/>
                <a:ea typeface="DM Sans SemiBold" pitchFamily="34" charset="-122"/>
                <a:cs typeface="DM Sans SemiBold" pitchFamily="34" charset="-120"/>
              </a:rPr>
              <a:t>Research Framework &amp; Process Overview</a:t>
            </a:r>
            <a:endParaRPr lang="en-US" sz="2400" dirty="0"/>
          </a:p>
        </p:txBody>
      </p:sp>
      <p:sp>
        <p:nvSpPr>
          <p:cNvPr id="5" name="Text 3"/>
          <p:cNvSpPr/>
          <p:nvPr/>
        </p:nvSpPr>
        <p:spPr>
          <a:xfrm>
            <a:off x="661475" y="1278533"/>
            <a:ext cx="10868745" cy="527546"/>
          </a:xfrm>
          <a:prstGeom prst="rect">
            <a:avLst/>
          </a:prstGeom>
          <a:noFill/>
          <a:ln/>
        </p:spPr>
        <p:txBody>
          <a:bodyPr wrap="square" lIns="0" tIns="0" rIns="0" bIns="0" rtlCol="0" anchor="t">
            <a:normAutofit/>
          </a:bodyPr>
          <a:lstStyle/>
          <a:p>
            <a:pPr marL="0" indent="0" algn="l">
              <a:lnSpc>
                <a:spcPct val="95000"/>
              </a:lnSpc>
              <a:spcAft>
                <a:spcPts val="800"/>
              </a:spcAft>
              <a:buNone/>
            </a:pPr>
            <a:r>
              <a:rPr lang="en-US" sz="950" dirty="0">
                <a:solidFill>
                  <a:srgbClr val="272525"/>
                </a:solidFill>
                <a:latin typeface="DM Sans" pitchFamily="34" charset="0"/>
                <a:ea typeface="DM Sans" pitchFamily="34" charset="-122"/>
                <a:cs typeface="DM Sans" pitchFamily="34" charset="-120"/>
              </a:rPr>
              <a:t>A structured capstone workflow designed to investigate customer churn and retention in UPI-based digital payment platforms through survey research, data preparation, analysis, and dashboarding.</a:t>
            </a:r>
            <a:endParaRPr lang="en-US" sz="950" dirty="0"/>
          </a:p>
          <a:p>
            <a:pPr marL="0" indent="0" algn="l">
              <a:lnSpc>
                <a:spcPct val="95000"/>
              </a:lnSpc>
              <a:buNone/>
            </a:pPr>
            <a:r>
              <a:rPr lang="en-US" sz="950" dirty="0">
                <a:solidFill>
                  <a:srgbClr val="272525"/>
                </a:solidFill>
                <a:latin typeface="DM Sans" pitchFamily="34" charset="0"/>
                <a:ea typeface="DM Sans" pitchFamily="34" charset="-122"/>
                <a:cs typeface="DM Sans" pitchFamily="34" charset="-120"/>
              </a:rPr>
              <a:t>This process moves from primary data collection to actionable business insights, turning raw survey responses into a clean analytical dataset and an interactive reporting dashboard.</a:t>
            </a:r>
            <a:endParaRPr lang="en-US" sz="9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910655"/>
            <a:ext cx="10868745" cy="907256"/>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5975" y="2271216"/>
            <a:ext cx="186031" cy="186035"/>
          </a:xfrm>
          <a:prstGeom prst="rect">
            <a:avLst/>
          </a:prstGeom>
        </p:spPr>
      </p:pic>
      <p:sp>
        <p:nvSpPr>
          <p:cNvPr id="8" name="Text 4"/>
          <p:cNvSpPr/>
          <p:nvPr/>
        </p:nvSpPr>
        <p:spPr>
          <a:xfrm>
            <a:off x="1263222" y="2047379"/>
            <a:ext cx="10130279" cy="155079"/>
          </a:xfrm>
          <a:prstGeom prst="rect">
            <a:avLst/>
          </a:prstGeom>
          <a:noFill/>
          <a:ln/>
        </p:spPr>
        <p:txBody>
          <a:bodyPr wrap="none" lIns="0" tIns="0" rIns="0" bIns="0" rtlCol="0" anchor="t"/>
          <a:lstStyle/>
          <a:p>
            <a:pPr marL="0" indent="0" algn="l">
              <a:lnSpc>
                <a:spcPct val="83000"/>
              </a:lnSpc>
              <a:buNone/>
            </a:pPr>
            <a:r>
              <a:rPr lang="en-US" sz="1200" dirty="0">
                <a:solidFill>
                  <a:srgbClr val="272525"/>
                </a:solidFill>
                <a:latin typeface="DM Sans SemiBold" pitchFamily="34" charset="0"/>
                <a:ea typeface="DM Sans SemiBold" pitchFamily="34" charset="-122"/>
                <a:cs typeface="DM Sans SemiBold" pitchFamily="34" charset="-120"/>
              </a:rPr>
              <a:t>Step 1: Primary Data Collection Using Google Forms</a:t>
            </a:r>
            <a:endParaRPr lang="en-US" sz="1200" dirty="0"/>
          </a:p>
        </p:txBody>
      </p:sp>
      <p:sp>
        <p:nvSpPr>
          <p:cNvPr id="9" name="Text 5"/>
          <p:cNvSpPr/>
          <p:nvPr/>
        </p:nvSpPr>
        <p:spPr>
          <a:xfrm>
            <a:off x="1263222" y="2258219"/>
            <a:ext cx="10130279" cy="422970"/>
          </a:xfrm>
          <a:prstGeom prst="rect">
            <a:avLst/>
          </a:prstGeom>
          <a:noFill/>
          <a:ln/>
        </p:spPr>
        <p:txBody>
          <a:bodyPr wrap="square" lIns="0" tIns="0" rIns="0" bIns="0" rtlCol="0" anchor="t">
            <a:normAutofit/>
          </a:bodyPr>
          <a:lstStyle/>
          <a:p>
            <a:pPr marL="0" indent="0" algn="l">
              <a:lnSpc>
                <a:spcPct val="95000"/>
              </a:lnSpc>
              <a:buNone/>
            </a:pPr>
            <a:r>
              <a:rPr lang="en-US" sz="950" dirty="0">
                <a:solidFill>
                  <a:srgbClr val="272525"/>
                </a:solidFill>
                <a:latin typeface="DM Sans" pitchFamily="34" charset="0"/>
                <a:ea typeface="DM Sans" pitchFamily="34" charset="-122"/>
                <a:cs typeface="DM Sans" pitchFamily="34" charset="-120"/>
              </a:rPr>
              <a:t>A structured 12-question questionnaire was designed and distributed via Google Forms to collect primary data. The questionnaire covered four key sections: Basic Information, Banking Usage, Customer Churn Factors, and Customer Retention &amp; Loyalty. The form was shared across WhatsApp, Email, and social media platforms, collecting 46 valid responses from students, working professionals, and business owners.</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2910880"/>
            <a:ext cx="10868745" cy="766266"/>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5975" y="3200995"/>
            <a:ext cx="186031" cy="186035"/>
          </a:xfrm>
          <a:prstGeom prst="rect">
            <a:avLst/>
          </a:prstGeom>
        </p:spPr>
      </p:pic>
      <p:sp>
        <p:nvSpPr>
          <p:cNvPr id="12" name="Text 6"/>
          <p:cNvSpPr/>
          <p:nvPr/>
        </p:nvSpPr>
        <p:spPr>
          <a:xfrm>
            <a:off x="1263222" y="3047603"/>
            <a:ext cx="10130279" cy="155079"/>
          </a:xfrm>
          <a:prstGeom prst="rect">
            <a:avLst/>
          </a:prstGeom>
          <a:noFill/>
          <a:ln/>
        </p:spPr>
        <p:txBody>
          <a:bodyPr wrap="none" lIns="0" tIns="0" rIns="0" bIns="0" rtlCol="0" anchor="t"/>
          <a:lstStyle/>
          <a:p>
            <a:pPr marL="0" indent="0" algn="l">
              <a:lnSpc>
                <a:spcPct val="83000"/>
              </a:lnSpc>
              <a:buNone/>
            </a:pPr>
            <a:r>
              <a:rPr lang="en-US" sz="1200" dirty="0">
                <a:solidFill>
                  <a:srgbClr val="272525"/>
                </a:solidFill>
                <a:latin typeface="DM Sans SemiBold" pitchFamily="34" charset="0"/>
                <a:ea typeface="DM Sans SemiBold" pitchFamily="34" charset="-122"/>
                <a:cs typeface="DM Sans SemiBold" pitchFamily="34" charset="-120"/>
              </a:rPr>
              <a:t>Step 2: Data Cleaning &amp; Preparation Using Microsoft Excel</a:t>
            </a:r>
            <a:endParaRPr lang="en-US" sz="1200" dirty="0"/>
          </a:p>
        </p:txBody>
      </p:sp>
      <p:sp>
        <p:nvSpPr>
          <p:cNvPr id="13" name="Text 7"/>
          <p:cNvSpPr/>
          <p:nvPr/>
        </p:nvSpPr>
        <p:spPr>
          <a:xfrm>
            <a:off x="1263222" y="3258443"/>
            <a:ext cx="10130279" cy="281980"/>
          </a:xfrm>
          <a:prstGeom prst="rect">
            <a:avLst/>
          </a:prstGeom>
          <a:noFill/>
          <a:ln/>
        </p:spPr>
        <p:txBody>
          <a:bodyPr wrap="square" lIns="0" tIns="0" rIns="0" bIns="0" rtlCol="0" anchor="t">
            <a:normAutofit/>
          </a:bodyPr>
          <a:lstStyle/>
          <a:p>
            <a:pPr marL="0" indent="0" algn="l">
              <a:lnSpc>
                <a:spcPct val="95000"/>
              </a:lnSpc>
              <a:buNone/>
            </a:pPr>
            <a:r>
              <a:rPr lang="en-US" sz="950" dirty="0">
                <a:solidFill>
                  <a:srgbClr val="272525"/>
                </a:solidFill>
                <a:latin typeface="DM Sans" pitchFamily="34" charset="0"/>
                <a:ea typeface="DM Sans" pitchFamily="34" charset="-122"/>
                <a:cs typeface="DM Sans" pitchFamily="34" charset="-120"/>
              </a:rPr>
              <a:t>The exported responses were cleaned in Excel by removing duplicates, handling missing values, standardizing data formats (e.g., "Gpay" → "Google Pay"), and ensuring consistent capitalization and formatting. The cleaned dataset was saved in both Excel and CSV formats for further processing.</a:t>
            </a:r>
            <a:endParaRPr lang="en-US" sz="95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3770114"/>
            <a:ext cx="10868745" cy="766266"/>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5975" y="4060230"/>
            <a:ext cx="186031" cy="186035"/>
          </a:xfrm>
          <a:prstGeom prst="rect">
            <a:avLst/>
          </a:prstGeom>
        </p:spPr>
      </p:pic>
      <p:sp>
        <p:nvSpPr>
          <p:cNvPr id="16" name="Text 8"/>
          <p:cNvSpPr/>
          <p:nvPr/>
        </p:nvSpPr>
        <p:spPr>
          <a:xfrm>
            <a:off x="1263222" y="3906838"/>
            <a:ext cx="10130279" cy="155079"/>
          </a:xfrm>
          <a:prstGeom prst="rect">
            <a:avLst/>
          </a:prstGeom>
          <a:noFill/>
          <a:ln/>
        </p:spPr>
        <p:txBody>
          <a:bodyPr wrap="none" lIns="0" tIns="0" rIns="0" bIns="0" rtlCol="0" anchor="t"/>
          <a:lstStyle/>
          <a:p>
            <a:pPr marL="0" indent="0" algn="l">
              <a:lnSpc>
                <a:spcPct val="83000"/>
              </a:lnSpc>
              <a:buNone/>
            </a:pPr>
            <a:r>
              <a:rPr lang="en-US" sz="1200" dirty="0">
                <a:solidFill>
                  <a:srgbClr val="272525"/>
                </a:solidFill>
                <a:latin typeface="DM Sans SemiBold" pitchFamily="34" charset="0"/>
                <a:ea typeface="DM Sans SemiBold" pitchFamily="34" charset="-122"/>
                <a:cs typeface="DM Sans SemiBold" pitchFamily="34" charset="-120"/>
              </a:rPr>
              <a:t>Step 3: Data Transformation &amp; Loading Using Python</a:t>
            </a:r>
            <a:endParaRPr lang="en-US" sz="1200" dirty="0"/>
          </a:p>
        </p:txBody>
      </p:sp>
      <p:sp>
        <p:nvSpPr>
          <p:cNvPr id="17" name="Text 9"/>
          <p:cNvSpPr/>
          <p:nvPr/>
        </p:nvSpPr>
        <p:spPr>
          <a:xfrm>
            <a:off x="1263222" y="4117677"/>
            <a:ext cx="10130279" cy="281980"/>
          </a:xfrm>
          <a:prstGeom prst="rect">
            <a:avLst/>
          </a:prstGeom>
          <a:noFill/>
          <a:ln/>
        </p:spPr>
        <p:txBody>
          <a:bodyPr wrap="square" lIns="0" tIns="0" rIns="0" bIns="0" rtlCol="0" anchor="t">
            <a:normAutofit/>
          </a:bodyPr>
          <a:lstStyle/>
          <a:p>
            <a:pPr marL="0" indent="0" algn="l">
              <a:lnSpc>
                <a:spcPct val="95000"/>
              </a:lnSpc>
              <a:buNone/>
            </a:pPr>
            <a:r>
              <a:rPr lang="en-US" sz="950" dirty="0">
                <a:solidFill>
                  <a:srgbClr val="272525"/>
                </a:solidFill>
                <a:latin typeface="DM Sans" pitchFamily="34" charset="0"/>
                <a:ea typeface="DM Sans" pitchFamily="34" charset="-122"/>
                <a:cs typeface="DM Sans" pitchFamily="34" charset="-120"/>
              </a:rPr>
              <a:t>Python (with pandas and mysql-connector-python libraries) was used to automate data processing. The CSV file was imported, additional cleaning was performed, and the data was loaded into a MySQL database called "Digital_Banking" using INSERT statements.</a:t>
            </a:r>
            <a:endParaRPr lang="en-US" sz="950" dirty="0"/>
          </a:p>
        </p:txBody>
      </p:sp>
      <p:pic>
        <p:nvPicPr>
          <p:cNvPr id="18"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4629348"/>
            <a:ext cx="10868745" cy="766266"/>
          </a:xfrm>
          <a:prstGeom prst="rect">
            <a:avLst/>
          </a:prstGeom>
        </p:spPr>
      </p:pic>
      <p:pic>
        <p:nvPicPr>
          <p:cNvPr id="19"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5975" y="4919464"/>
            <a:ext cx="186031" cy="186035"/>
          </a:xfrm>
          <a:prstGeom prst="rect">
            <a:avLst/>
          </a:prstGeom>
        </p:spPr>
      </p:pic>
      <p:sp>
        <p:nvSpPr>
          <p:cNvPr id="20" name="Text 10"/>
          <p:cNvSpPr/>
          <p:nvPr/>
        </p:nvSpPr>
        <p:spPr>
          <a:xfrm>
            <a:off x="1263222" y="4766072"/>
            <a:ext cx="10130279" cy="155079"/>
          </a:xfrm>
          <a:prstGeom prst="rect">
            <a:avLst/>
          </a:prstGeom>
          <a:noFill/>
          <a:ln/>
        </p:spPr>
        <p:txBody>
          <a:bodyPr wrap="none" lIns="0" tIns="0" rIns="0" bIns="0" rtlCol="0" anchor="t"/>
          <a:lstStyle/>
          <a:p>
            <a:pPr marL="0" indent="0" algn="l">
              <a:lnSpc>
                <a:spcPct val="83000"/>
              </a:lnSpc>
              <a:buNone/>
            </a:pPr>
            <a:r>
              <a:rPr lang="en-US" sz="1200" dirty="0">
                <a:solidFill>
                  <a:srgbClr val="272525"/>
                </a:solidFill>
                <a:latin typeface="DM Sans SemiBold" pitchFamily="34" charset="0"/>
                <a:ea typeface="DM Sans SemiBold" pitchFamily="34" charset="-122"/>
                <a:cs typeface="DM Sans SemiBold" pitchFamily="34" charset="-120"/>
              </a:rPr>
              <a:t>Step 4: Data Analysis Using MySQL</a:t>
            </a:r>
            <a:endParaRPr lang="en-US" sz="1200" dirty="0"/>
          </a:p>
        </p:txBody>
      </p:sp>
      <p:sp>
        <p:nvSpPr>
          <p:cNvPr id="21" name="Text 11"/>
          <p:cNvSpPr/>
          <p:nvPr/>
        </p:nvSpPr>
        <p:spPr>
          <a:xfrm>
            <a:off x="1263222" y="4976912"/>
            <a:ext cx="10130279" cy="281980"/>
          </a:xfrm>
          <a:prstGeom prst="rect">
            <a:avLst/>
          </a:prstGeom>
          <a:noFill/>
          <a:ln/>
        </p:spPr>
        <p:txBody>
          <a:bodyPr wrap="square" lIns="0" tIns="0" rIns="0" bIns="0" rtlCol="0" anchor="t">
            <a:normAutofit/>
          </a:bodyPr>
          <a:lstStyle/>
          <a:p>
            <a:pPr marL="0" indent="0" algn="l">
              <a:lnSpc>
                <a:spcPct val="95000"/>
              </a:lnSpc>
              <a:buNone/>
            </a:pPr>
            <a:r>
              <a:rPr lang="en-US" sz="950" dirty="0">
                <a:solidFill>
                  <a:srgbClr val="272525"/>
                </a:solidFill>
                <a:latin typeface="DM Sans" pitchFamily="34" charset="0"/>
                <a:ea typeface="DM Sans" pitchFamily="34" charset="-122"/>
                <a:cs typeface="DM Sans" pitchFamily="34" charset="-120"/>
              </a:rPr>
              <a:t>SQL queries with aggregate functions (COUNT, AVG, GROUP BY, ORDER BY) were executed to analyze customer behavior, including age distribution, gender breakdown, occupation analysis, UPI app preferences, usage frequency, satisfaction levels, churn patterns, and loyalty factors.</a:t>
            </a:r>
            <a:endParaRPr lang="en-US" sz="950" dirty="0"/>
          </a:p>
        </p:txBody>
      </p:sp>
      <p:pic>
        <p:nvPicPr>
          <p:cNvPr id="22" name="Image 8"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5488583"/>
            <a:ext cx="10868745" cy="766266"/>
          </a:xfrm>
          <a:prstGeom prst="rect">
            <a:avLst/>
          </a:prstGeom>
        </p:spPr>
      </p:pic>
      <p:pic>
        <p:nvPicPr>
          <p:cNvPr id="23" name="Image 9"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25975" y="5778698"/>
            <a:ext cx="186031" cy="186035"/>
          </a:xfrm>
          <a:prstGeom prst="rect">
            <a:avLst/>
          </a:prstGeom>
        </p:spPr>
      </p:pic>
      <p:sp>
        <p:nvSpPr>
          <p:cNvPr id="24" name="Text 12"/>
          <p:cNvSpPr/>
          <p:nvPr/>
        </p:nvSpPr>
        <p:spPr>
          <a:xfrm>
            <a:off x="1263222" y="5625306"/>
            <a:ext cx="10130279" cy="155079"/>
          </a:xfrm>
          <a:prstGeom prst="rect">
            <a:avLst/>
          </a:prstGeom>
          <a:noFill/>
          <a:ln/>
        </p:spPr>
        <p:txBody>
          <a:bodyPr wrap="none" lIns="0" tIns="0" rIns="0" bIns="0" rtlCol="0" anchor="t"/>
          <a:lstStyle/>
          <a:p>
            <a:pPr marL="0" indent="0" algn="l">
              <a:lnSpc>
                <a:spcPct val="83000"/>
              </a:lnSpc>
              <a:buNone/>
            </a:pPr>
            <a:r>
              <a:rPr lang="en-US" sz="1200" dirty="0">
                <a:solidFill>
                  <a:srgbClr val="272525"/>
                </a:solidFill>
                <a:latin typeface="DM Sans SemiBold" pitchFamily="34" charset="0"/>
                <a:ea typeface="DM Sans SemiBold" pitchFamily="34" charset="-122"/>
                <a:cs typeface="DM Sans SemiBold" pitchFamily="34" charset="-120"/>
              </a:rPr>
              <a:t>Step 5: Dashboard Development Using Microsoft Power BI</a:t>
            </a:r>
            <a:endParaRPr lang="en-US" sz="1200" dirty="0"/>
          </a:p>
        </p:txBody>
      </p:sp>
      <p:sp>
        <p:nvSpPr>
          <p:cNvPr id="25" name="Text 13"/>
          <p:cNvSpPr/>
          <p:nvPr/>
        </p:nvSpPr>
        <p:spPr>
          <a:xfrm>
            <a:off x="1263222" y="5836146"/>
            <a:ext cx="10130279" cy="281980"/>
          </a:xfrm>
          <a:prstGeom prst="rect">
            <a:avLst/>
          </a:prstGeom>
          <a:noFill/>
          <a:ln/>
        </p:spPr>
        <p:txBody>
          <a:bodyPr wrap="square" lIns="0" tIns="0" rIns="0" bIns="0" rtlCol="0" anchor="t">
            <a:normAutofit/>
          </a:bodyPr>
          <a:lstStyle/>
          <a:p>
            <a:pPr marL="0" indent="0" algn="l">
              <a:lnSpc>
                <a:spcPct val="95000"/>
              </a:lnSpc>
              <a:buNone/>
            </a:pPr>
            <a:r>
              <a:rPr lang="en-US" sz="950" dirty="0">
                <a:solidFill>
                  <a:srgbClr val="272525"/>
                </a:solidFill>
                <a:latin typeface="DM Sans" pitchFamily="34" charset="0"/>
                <a:ea typeface="DM Sans" pitchFamily="34" charset="-122"/>
                <a:cs typeface="DM Sans" pitchFamily="34" charset="-120"/>
              </a:rPr>
              <a:t>The MySQL database was connected to Power BI, where interactive dashboards were created using KPI cards, bar charts, pie charts, column charts, and interactive slicers. The dashboard enabled dynamic exploration of survey results by age group, gender, occupation, and UPI application.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538956"/>
            <a:ext cx="80564" cy="80566"/>
          </a:xfrm>
          <a:prstGeom prst="rect">
            <a:avLst/>
          </a:prstGeom>
          <a:solidFill>
            <a:srgbClr val="911E1B"/>
          </a:solidFill>
          <a:ln/>
        </p:spPr>
      </p:sp>
      <p:sp>
        <p:nvSpPr>
          <p:cNvPr id="3" name="Text 1"/>
          <p:cNvSpPr/>
          <p:nvPr/>
        </p:nvSpPr>
        <p:spPr>
          <a:xfrm>
            <a:off x="782320" y="532904"/>
            <a:ext cx="1711183" cy="92670"/>
          </a:xfrm>
          <a:prstGeom prst="rect">
            <a:avLst/>
          </a:prstGeom>
          <a:noFill/>
          <a:ln/>
        </p:spPr>
        <p:txBody>
          <a:bodyPr wrap="none" lIns="0" tIns="0" rIns="0" bIns="0" rtlCol="0" anchor="t"/>
          <a:lstStyle/>
          <a:p>
            <a:pPr marL="0" indent="0" algn="l">
              <a:lnSpc>
                <a:spcPct val="96000"/>
              </a:lnSpc>
              <a:buNone/>
            </a:pPr>
            <a:r>
              <a:rPr lang="en-US" sz="600" dirty="0">
                <a:solidFill>
                  <a:srgbClr val="911E1B"/>
                </a:solidFill>
                <a:latin typeface="DM Sans" pitchFamily="34" charset="0"/>
                <a:ea typeface="DM Sans" pitchFamily="34" charset="-122"/>
                <a:cs typeface="DM Sans" pitchFamily="34" charset="-120"/>
              </a:rPr>
              <a:t>DETAILED PROCESS &amp; ETHICS</a:t>
            </a:r>
            <a:endParaRPr lang="en-US" sz="600" dirty="0"/>
          </a:p>
        </p:txBody>
      </p:sp>
      <p:sp>
        <p:nvSpPr>
          <p:cNvPr id="4" name="Text 2"/>
          <p:cNvSpPr/>
          <p:nvPr/>
        </p:nvSpPr>
        <p:spPr>
          <a:xfrm>
            <a:off x="661475" y="680244"/>
            <a:ext cx="10868745" cy="252016"/>
          </a:xfrm>
          <a:prstGeom prst="rect">
            <a:avLst/>
          </a:prstGeom>
          <a:noFill/>
          <a:ln/>
        </p:spPr>
        <p:txBody>
          <a:bodyPr wrap="none" lIns="0" tIns="0" rIns="0" bIns="0" rtlCol="0" anchor="t"/>
          <a:lstStyle/>
          <a:p>
            <a:pPr marL="0" indent="0" algn="l">
              <a:lnSpc>
                <a:spcPct val="83000"/>
              </a:lnSpc>
              <a:buNone/>
            </a:pPr>
            <a:r>
              <a:rPr lang="en-US" sz="1950" dirty="0">
                <a:solidFill>
                  <a:srgbClr val="000000"/>
                </a:solidFill>
                <a:latin typeface="DM Sans SemiBold" pitchFamily="34" charset="0"/>
                <a:ea typeface="DM Sans SemiBold" pitchFamily="34" charset="-122"/>
                <a:cs typeface="DM Sans SemiBold" pitchFamily="34" charset="-120"/>
              </a:rPr>
              <a:t>Research Process Documentation &amp; Ethical Considerations</a:t>
            </a:r>
            <a:endParaRPr lang="en-US" sz="1950" dirty="0"/>
          </a:p>
        </p:txBody>
      </p:sp>
      <p:sp>
        <p:nvSpPr>
          <p:cNvPr id="5" name="Text 3"/>
          <p:cNvSpPr/>
          <p:nvPr/>
        </p:nvSpPr>
        <p:spPr>
          <a:xfrm>
            <a:off x="661475" y="1085751"/>
            <a:ext cx="7312041" cy="201613"/>
          </a:xfrm>
          <a:prstGeom prst="rect">
            <a:avLst/>
          </a:prstGeom>
          <a:noFill/>
          <a:ln/>
        </p:spPr>
        <p:txBody>
          <a:bodyPr wrap="none" lIns="0" tIns="0" rIns="0" bIns="0" rtlCol="0" anchor="t"/>
          <a:lstStyle/>
          <a:p>
            <a:pPr marL="0" indent="0" algn="l">
              <a:lnSpc>
                <a:spcPct val="83000"/>
              </a:lnSpc>
              <a:buNone/>
            </a:pPr>
            <a:r>
              <a:rPr lang="en-US" sz="1550" dirty="0">
                <a:solidFill>
                  <a:srgbClr val="000000"/>
                </a:solidFill>
                <a:latin typeface="DM Sans SemiBold" pitchFamily="34" charset="0"/>
                <a:ea typeface="DM Sans SemiBold" pitchFamily="34" charset="-122"/>
                <a:cs typeface="DM Sans SemiBold" pitchFamily="34" charset="-120"/>
              </a:rPr>
              <a:t>Detailed Implementation Steps</a:t>
            </a:r>
            <a:endParaRPr lang="en-US" sz="1550" dirty="0"/>
          </a:p>
        </p:txBody>
      </p:sp>
      <p:sp>
        <p:nvSpPr>
          <p:cNvPr id="6" name="Shape 4"/>
          <p:cNvSpPr/>
          <p:nvPr/>
        </p:nvSpPr>
        <p:spPr>
          <a:xfrm>
            <a:off x="661475" y="1489670"/>
            <a:ext cx="7312041" cy="12700"/>
          </a:xfrm>
          <a:prstGeom prst="rect">
            <a:avLst/>
          </a:prstGeom>
          <a:solidFill>
            <a:srgbClr val="E07A5F"/>
          </a:solidFill>
          <a:ln/>
        </p:spPr>
      </p:sp>
      <p:sp>
        <p:nvSpPr>
          <p:cNvPr id="7" name="Text 5"/>
          <p:cNvSpPr/>
          <p:nvPr/>
        </p:nvSpPr>
        <p:spPr>
          <a:xfrm>
            <a:off x="661475" y="1565374"/>
            <a:ext cx="7312041" cy="126008"/>
          </a:xfrm>
          <a:prstGeom prst="rect">
            <a:avLst/>
          </a:prstGeom>
          <a:noFill/>
          <a:ln/>
        </p:spPr>
        <p:txBody>
          <a:bodyPr wrap="none" lIns="0" tIns="0" rIns="0" bIns="0" rtlCol="0" anchor="t"/>
          <a:lstStyle/>
          <a:p>
            <a:pPr marL="0" indent="0" algn="l">
              <a:lnSpc>
                <a:spcPct val="83000"/>
              </a:lnSpc>
              <a:buNone/>
            </a:pPr>
            <a:r>
              <a:rPr lang="en-US" sz="950" dirty="0">
                <a:solidFill>
                  <a:srgbClr val="272525"/>
                </a:solidFill>
                <a:latin typeface="DM Sans SemiBold" pitchFamily="34" charset="0"/>
                <a:ea typeface="DM Sans SemiBold" pitchFamily="34" charset="-122"/>
                <a:cs typeface="DM Sans SemiBold" pitchFamily="34" charset="-120"/>
              </a:rPr>
              <a:t>Google Forms Data Collection</a:t>
            </a:r>
            <a:endParaRPr lang="en-US" sz="950" dirty="0"/>
          </a:p>
        </p:txBody>
      </p:sp>
      <p:sp>
        <p:nvSpPr>
          <p:cNvPr id="8" name="Text 6"/>
          <p:cNvSpPr/>
          <p:nvPr/>
        </p:nvSpPr>
        <p:spPr>
          <a:xfrm>
            <a:off x="661475" y="1752798"/>
            <a:ext cx="7312041" cy="316111"/>
          </a:xfrm>
          <a:prstGeom prst="rect">
            <a:avLst/>
          </a:prstGeom>
          <a:noFill/>
          <a:ln/>
        </p:spPr>
        <p:txBody>
          <a:bodyPr wrap="square" lIns="0" tIns="0" rIns="0" bIns="0" rtlCol="0" anchor="t">
            <a:normAutofit/>
          </a:bodyPr>
          <a:lstStyle/>
          <a:p>
            <a:pPr marL="0" indent="0" algn="l">
              <a:lnSpc>
                <a:spcPct val="87000"/>
              </a:lnSpc>
              <a:buNone/>
            </a:pPr>
            <a:r>
              <a:rPr lang="en-US" sz="750" dirty="0">
                <a:solidFill>
                  <a:srgbClr val="272525"/>
                </a:solidFill>
                <a:latin typeface="DM Sans" pitchFamily="34" charset="0"/>
                <a:ea typeface="DM Sans" pitchFamily="34" charset="-122"/>
                <a:cs typeface="DM Sans" pitchFamily="34" charset="-120"/>
              </a:rPr>
              <a:t>The questionnaire was carefully designed with 12 questions divided into four sections. Most questions used multiple-choice format for consistency. The form was marked as required for important questions to minimize missing data. Responses were automatically stored and later exported to Google Sheets, then downloaded as an Excel file.</a:t>
            </a:r>
            <a:endParaRPr lang="en-US" sz="750" dirty="0"/>
          </a:p>
        </p:txBody>
      </p:sp>
      <p:sp>
        <p:nvSpPr>
          <p:cNvPr id="9" name="Shape 7"/>
          <p:cNvSpPr/>
          <p:nvPr/>
        </p:nvSpPr>
        <p:spPr>
          <a:xfrm>
            <a:off x="661475" y="2339082"/>
            <a:ext cx="7312041" cy="12700"/>
          </a:xfrm>
          <a:prstGeom prst="rect">
            <a:avLst/>
          </a:prstGeom>
          <a:solidFill>
            <a:srgbClr val="E07A5F"/>
          </a:solidFill>
          <a:ln/>
        </p:spPr>
      </p:sp>
      <p:sp>
        <p:nvSpPr>
          <p:cNvPr id="10" name="Text 8"/>
          <p:cNvSpPr/>
          <p:nvPr/>
        </p:nvSpPr>
        <p:spPr>
          <a:xfrm>
            <a:off x="661475" y="2414786"/>
            <a:ext cx="7312041" cy="126008"/>
          </a:xfrm>
          <a:prstGeom prst="rect">
            <a:avLst/>
          </a:prstGeom>
          <a:noFill/>
          <a:ln/>
        </p:spPr>
        <p:txBody>
          <a:bodyPr wrap="none" lIns="0" tIns="0" rIns="0" bIns="0" rtlCol="0" anchor="t"/>
          <a:lstStyle/>
          <a:p>
            <a:pPr marL="0" indent="0" algn="l">
              <a:lnSpc>
                <a:spcPct val="83000"/>
              </a:lnSpc>
              <a:buNone/>
            </a:pPr>
            <a:r>
              <a:rPr lang="en-US" sz="950" dirty="0">
                <a:solidFill>
                  <a:srgbClr val="272525"/>
                </a:solidFill>
                <a:latin typeface="DM Sans SemiBold" pitchFamily="34" charset="0"/>
                <a:ea typeface="DM Sans SemiBold" pitchFamily="34" charset="-122"/>
                <a:cs typeface="DM Sans SemiBold" pitchFamily="34" charset="-120"/>
              </a:rPr>
              <a:t>Excel Data Cleaning</a:t>
            </a:r>
            <a:endParaRPr lang="en-US" sz="950" dirty="0"/>
          </a:p>
        </p:txBody>
      </p:sp>
      <p:sp>
        <p:nvSpPr>
          <p:cNvPr id="11" name="Text 9"/>
          <p:cNvSpPr/>
          <p:nvPr/>
        </p:nvSpPr>
        <p:spPr>
          <a:xfrm>
            <a:off x="661475" y="2602210"/>
            <a:ext cx="7312041" cy="316111"/>
          </a:xfrm>
          <a:prstGeom prst="rect">
            <a:avLst/>
          </a:prstGeom>
          <a:noFill/>
          <a:ln/>
        </p:spPr>
        <p:txBody>
          <a:bodyPr wrap="square" lIns="0" tIns="0" rIns="0" bIns="0" rtlCol="0" anchor="t">
            <a:normAutofit/>
          </a:bodyPr>
          <a:lstStyle/>
          <a:p>
            <a:pPr marL="0" indent="0" algn="l">
              <a:lnSpc>
                <a:spcPct val="87000"/>
              </a:lnSpc>
              <a:buNone/>
            </a:pPr>
            <a:r>
              <a:rPr lang="en-US" sz="750" dirty="0">
                <a:solidFill>
                  <a:srgbClr val="272525"/>
                </a:solidFill>
                <a:latin typeface="DM Sans" pitchFamily="34" charset="0"/>
                <a:ea typeface="DM Sans" pitchFamily="34" charset="-122"/>
                <a:cs typeface="DM Sans" pitchFamily="34" charset="-120"/>
              </a:rPr>
              <a:t>The dataset was reviewed for blank responses, duplicates, incorrect spellings, and inconsistent values. Excel's Remove Duplicates feature eliminated repeated entries. Data standardization converted variations (e.g., "Gpay" → "Google Pay", "Phone pe" → "PhonePe") into consistent formats. Column headers were formatted, unnecessary spaces removed, and capitalization corrected.</a:t>
            </a:r>
            <a:endParaRPr lang="en-US" sz="750" dirty="0"/>
          </a:p>
        </p:txBody>
      </p:sp>
      <p:sp>
        <p:nvSpPr>
          <p:cNvPr id="12" name="Shape 10"/>
          <p:cNvSpPr/>
          <p:nvPr/>
        </p:nvSpPr>
        <p:spPr>
          <a:xfrm>
            <a:off x="661475" y="3188494"/>
            <a:ext cx="7312041" cy="12700"/>
          </a:xfrm>
          <a:prstGeom prst="rect">
            <a:avLst/>
          </a:prstGeom>
          <a:solidFill>
            <a:srgbClr val="E07A5F"/>
          </a:solidFill>
          <a:ln/>
        </p:spPr>
      </p:sp>
      <p:sp>
        <p:nvSpPr>
          <p:cNvPr id="13" name="Text 11"/>
          <p:cNvSpPr/>
          <p:nvPr/>
        </p:nvSpPr>
        <p:spPr>
          <a:xfrm>
            <a:off x="661475" y="3264198"/>
            <a:ext cx="7312041" cy="126008"/>
          </a:xfrm>
          <a:prstGeom prst="rect">
            <a:avLst/>
          </a:prstGeom>
          <a:noFill/>
          <a:ln/>
        </p:spPr>
        <p:txBody>
          <a:bodyPr wrap="none" lIns="0" tIns="0" rIns="0" bIns="0" rtlCol="0" anchor="t"/>
          <a:lstStyle/>
          <a:p>
            <a:pPr marL="0" indent="0" algn="l">
              <a:lnSpc>
                <a:spcPct val="83000"/>
              </a:lnSpc>
              <a:buNone/>
            </a:pPr>
            <a:r>
              <a:rPr lang="en-US" sz="950" dirty="0">
                <a:solidFill>
                  <a:srgbClr val="272525"/>
                </a:solidFill>
                <a:latin typeface="DM Sans SemiBold" pitchFamily="34" charset="0"/>
                <a:ea typeface="DM Sans SemiBold" pitchFamily="34" charset="-122"/>
                <a:cs typeface="DM Sans SemiBold" pitchFamily="34" charset="-120"/>
              </a:rPr>
              <a:t>Python Data Processing</a:t>
            </a:r>
            <a:endParaRPr lang="en-US" sz="950" dirty="0"/>
          </a:p>
        </p:txBody>
      </p:sp>
      <p:sp>
        <p:nvSpPr>
          <p:cNvPr id="14" name="Text 12"/>
          <p:cNvSpPr/>
          <p:nvPr/>
        </p:nvSpPr>
        <p:spPr>
          <a:xfrm>
            <a:off x="661475" y="3451622"/>
            <a:ext cx="7312041" cy="316111"/>
          </a:xfrm>
          <a:prstGeom prst="rect">
            <a:avLst/>
          </a:prstGeom>
          <a:noFill/>
          <a:ln/>
        </p:spPr>
        <p:txBody>
          <a:bodyPr wrap="square" lIns="0" tIns="0" rIns="0" bIns="0" rtlCol="0" anchor="t">
            <a:normAutofit/>
          </a:bodyPr>
          <a:lstStyle/>
          <a:p>
            <a:pPr marL="0" indent="0" algn="l">
              <a:lnSpc>
                <a:spcPct val="87000"/>
              </a:lnSpc>
              <a:buNone/>
            </a:pPr>
            <a:r>
              <a:rPr lang="en-US" sz="750" dirty="0">
                <a:solidFill>
                  <a:srgbClr val="272525"/>
                </a:solidFill>
                <a:latin typeface="DM Sans" pitchFamily="34" charset="0"/>
                <a:ea typeface="DM Sans" pitchFamily="34" charset="-122"/>
                <a:cs typeface="DM Sans" pitchFamily="34" charset="-120"/>
              </a:rPr>
              <a:t>Libraries used: pandas and mysql-connector-python. The CSV file was imported into a DataFrame for processing. Python performed additional cleaning including duplicate removal, missing value handling, text trimming, and value standardization. The dataset was converted into a MySQL-compatible format with proper column naming and data type conversion.</a:t>
            </a:r>
            <a:endParaRPr lang="en-US" sz="750" dirty="0"/>
          </a:p>
        </p:txBody>
      </p:sp>
      <p:sp>
        <p:nvSpPr>
          <p:cNvPr id="15" name="Shape 13"/>
          <p:cNvSpPr/>
          <p:nvPr/>
        </p:nvSpPr>
        <p:spPr>
          <a:xfrm>
            <a:off x="661475" y="4037905"/>
            <a:ext cx="7312041" cy="12700"/>
          </a:xfrm>
          <a:prstGeom prst="rect">
            <a:avLst/>
          </a:prstGeom>
          <a:solidFill>
            <a:srgbClr val="E07A5F"/>
          </a:solidFill>
          <a:ln/>
        </p:spPr>
      </p:sp>
      <p:sp>
        <p:nvSpPr>
          <p:cNvPr id="16" name="Text 14"/>
          <p:cNvSpPr/>
          <p:nvPr/>
        </p:nvSpPr>
        <p:spPr>
          <a:xfrm>
            <a:off x="661475" y="4113609"/>
            <a:ext cx="7312041" cy="126008"/>
          </a:xfrm>
          <a:prstGeom prst="rect">
            <a:avLst/>
          </a:prstGeom>
          <a:noFill/>
          <a:ln/>
        </p:spPr>
        <p:txBody>
          <a:bodyPr wrap="none" lIns="0" tIns="0" rIns="0" bIns="0" rtlCol="0" anchor="t"/>
          <a:lstStyle/>
          <a:p>
            <a:pPr marL="0" indent="0" algn="l">
              <a:lnSpc>
                <a:spcPct val="83000"/>
              </a:lnSpc>
              <a:buNone/>
            </a:pPr>
            <a:r>
              <a:rPr lang="en-US" sz="950" dirty="0">
                <a:solidFill>
                  <a:srgbClr val="272525"/>
                </a:solidFill>
                <a:latin typeface="DM Sans SemiBold" pitchFamily="34" charset="0"/>
                <a:ea typeface="DM Sans SemiBold" pitchFamily="34" charset="-122"/>
                <a:cs typeface="DM Sans SemiBold" pitchFamily="34" charset="-120"/>
              </a:rPr>
              <a:t>MySQL Database Setup</a:t>
            </a:r>
            <a:endParaRPr lang="en-US" sz="950" dirty="0"/>
          </a:p>
        </p:txBody>
      </p:sp>
      <p:sp>
        <p:nvSpPr>
          <p:cNvPr id="17" name="Text 15"/>
          <p:cNvSpPr/>
          <p:nvPr/>
        </p:nvSpPr>
        <p:spPr>
          <a:xfrm>
            <a:off x="661475" y="4301034"/>
            <a:ext cx="7312041" cy="210741"/>
          </a:xfrm>
          <a:prstGeom prst="rect">
            <a:avLst/>
          </a:prstGeom>
          <a:noFill/>
          <a:ln/>
        </p:spPr>
        <p:txBody>
          <a:bodyPr wrap="square" lIns="0" tIns="0" rIns="0" bIns="0" rtlCol="0" anchor="t">
            <a:normAutofit/>
          </a:bodyPr>
          <a:lstStyle/>
          <a:p>
            <a:pPr marL="0" indent="0" algn="l">
              <a:lnSpc>
                <a:spcPct val="87000"/>
              </a:lnSpc>
              <a:buNone/>
            </a:pPr>
            <a:r>
              <a:rPr lang="en-US" sz="750" dirty="0">
                <a:solidFill>
                  <a:srgbClr val="272525"/>
                </a:solidFill>
                <a:latin typeface="DM Sans" pitchFamily="34" charset="0"/>
                <a:ea typeface="DM Sans" pitchFamily="34" charset="-122"/>
                <a:cs typeface="DM Sans" pitchFamily="34" charset="-120"/>
              </a:rPr>
              <a:t>A database named "Digital_Banking" was created. Python dynamically generated a table based on CSV column names, with each survey question becoming a database column. Data was inserted using SQL INSERT statements, and transactions were committed to make records available for analysis.</a:t>
            </a:r>
            <a:endParaRPr lang="en-US" sz="750" dirty="0"/>
          </a:p>
        </p:txBody>
      </p:sp>
      <p:sp>
        <p:nvSpPr>
          <p:cNvPr id="18" name="Shape 16"/>
          <p:cNvSpPr/>
          <p:nvPr/>
        </p:nvSpPr>
        <p:spPr>
          <a:xfrm>
            <a:off x="661475" y="4781947"/>
            <a:ext cx="7312041" cy="12700"/>
          </a:xfrm>
          <a:prstGeom prst="rect">
            <a:avLst/>
          </a:prstGeom>
          <a:solidFill>
            <a:srgbClr val="E07A5F"/>
          </a:solidFill>
          <a:ln/>
        </p:spPr>
      </p:sp>
      <p:sp>
        <p:nvSpPr>
          <p:cNvPr id="19" name="Text 17"/>
          <p:cNvSpPr/>
          <p:nvPr/>
        </p:nvSpPr>
        <p:spPr>
          <a:xfrm>
            <a:off x="661475" y="4857651"/>
            <a:ext cx="7312041" cy="126008"/>
          </a:xfrm>
          <a:prstGeom prst="rect">
            <a:avLst/>
          </a:prstGeom>
          <a:noFill/>
          <a:ln/>
        </p:spPr>
        <p:txBody>
          <a:bodyPr wrap="none" lIns="0" tIns="0" rIns="0" bIns="0" rtlCol="0" anchor="t"/>
          <a:lstStyle/>
          <a:p>
            <a:pPr marL="0" indent="0" algn="l">
              <a:lnSpc>
                <a:spcPct val="83000"/>
              </a:lnSpc>
              <a:buNone/>
            </a:pPr>
            <a:r>
              <a:rPr lang="en-US" sz="950" dirty="0">
                <a:solidFill>
                  <a:srgbClr val="272525"/>
                </a:solidFill>
                <a:latin typeface="DM Sans SemiBold" pitchFamily="34" charset="0"/>
                <a:ea typeface="DM Sans SemiBold" pitchFamily="34" charset="-122"/>
                <a:cs typeface="DM Sans SemiBold" pitchFamily="34" charset="-120"/>
              </a:rPr>
              <a:t>SQL Analysis Queries</a:t>
            </a:r>
            <a:endParaRPr lang="en-US" sz="950" dirty="0"/>
          </a:p>
        </p:txBody>
      </p:sp>
      <p:sp>
        <p:nvSpPr>
          <p:cNvPr id="20" name="Text 18"/>
          <p:cNvSpPr/>
          <p:nvPr/>
        </p:nvSpPr>
        <p:spPr>
          <a:xfrm>
            <a:off x="661475" y="5045075"/>
            <a:ext cx="7312041" cy="316111"/>
          </a:xfrm>
          <a:prstGeom prst="rect">
            <a:avLst/>
          </a:prstGeom>
          <a:noFill/>
          <a:ln/>
        </p:spPr>
        <p:txBody>
          <a:bodyPr wrap="square" lIns="0" tIns="0" rIns="0" bIns="0" rtlCol="0" anchor="t">
            <a:normAutofit/>
          </a:bodyPr>
          <a:lstStyle/>
          <a:p>
            <a:pPr marL="0" indent="0" algn="l">
              <a:lnSpc>
                <a:spcPct val="87000"/>
              </a:lnSpc>
              <a:buNone/>
            </a:pPr>
            <a:r>
              <a:rPr lang="en-US" sz="750" dirty="0">
                <a:solidFill>
                  <a:srgbClr val="272525"/>
                </a:solidFill>
                <a:latin typeface="DM Sans" pitchFamily="34" charset="0"/>
                <a:ea typeface="DM Sans" pitchFamily="34" charset="-122"/>
                <a:cs typeface="DM Sans" pitchFamily="34" charset="-120"/>
              </a:rPr>
              <a:t>Aggregate functions were used extensively: COUNT() for totals, AVG() for averages, GROUP BY for categorization, ORDER BY for sorting, and CASE statements for conditional logic. Queries analyzed age distribution, gender breakdown, occupation categories, most-used UPI apps, usage frequency, satisfaction scores, churn patterns, and loyalty factors.</a:t>
            </a:r>
            <a:endParaRPr lang="en-US" sz="750" dirty="0"/>
          </a:p>
        </p:txBody>
      </p:sp>
      <p:sp>
        <p:nvSpPr>
          <p:cNvPr id="21" name="Shape 19"/>
          <p:cNvSpPr/>
          <p:nvPr/>
        </p:nvSpPr>
        <p:spPr>
          <a:xfrm>
            <a:off x="661475" y="5631359"/>
            <a:ext cx="7312041" cy="12700"/>
          </a:xfrm>
          <a:prstGeom prst="rect">
            <a:avLst/>
          </a:prstGeom>
          <a:solidFill>
            <a:srgbClr val="E07A5F"/>
          </a:solidFill>
          <a:ln/>
        </p:spPr>
      </p:sp>
      <p:sp>
        <p:nvSpPr>
          <p:cNvPr id="22" name="Text 20"/>
          <p:cNvSpPr/>
          <p:nvPr/>
        </p:nvSpPr>
        <p:spPr>
          <a:xfrm>
            <a:off x="661475" y="5707063"/>
            <a:ext cx="7312041" cy="126008"/>
          </a:xfrm>
          <a:prstGeom prst="rect">
            <a:avLst/>
          </a:prstGeom>
          <a:noFill/>
          <a:ln/>
        </p:spPr>
        <p:txBody>
          <a:bodyPr wrap="none" lIns="0" tIns="0" rIns="0" bIns="0" rtlCol="0" anchor="t"/>
          <a:lstStyle/>
          <a:p>
            <a:pPr marL="0" indent="0" algn="l">
              <a:lnSpc>
                <a:spcPct val="83000"/>
              </a:lnSpc>
              <a:buNone/>
            </a:pPr>
            <a:r>
              <a:rPr lang="en-US" sz="950" dirty="0">
                <a:solidFill>
                  <a:srgbClr val="272525"/>
                </a:solidFill>
                <a:latin typeface="DM Sans SemiBold" pitchFamily="34" charset="0"/>
                <a:ea typeface="DM Sans SemiBold" pitchFamily="34" charset="-122"/>
                <a:cs typeface="DM Sans SemiBold" pitchFamily="34" charset="-120"/>
              </a:rPr>
              <a:t>Power BI Dashboard Creation</a:t>
            </a:r>
            <a:endParaRPr lang="en-US" sz="950" dirty="0"/>
          </a:p>
        </p:txBody>
      </p:sp>
      <p:sp>
        <p:nvSpPr>
          <p:cNvPr id="23" name="Text 21"/>
          <p:cNvSpPr/>
          <p:nvPr/>
        </p:nvSpPr>
        <p:spPr>
          <a:xfrm>
            <a:off x="661475" y="5894487"/>
            <a:ext cx="7312041" cy="316111"/>
          </a:xfrm>
          <a:prstGeom prst="rect">
            <a:avLst/>
          </a:prstGeom>
          <a:noFill/>
          <a:ln/>
        </p:spPr>
        <p:txBody>
          <a:bodyPr wrap="square" lIns="0" tIns="0" rIns="0" bIns="0" rtlCol="0" anchor="t">
            <a:normAutofit/>
          </a:bodyPr>
          <a:lstStyle/>
          <a:p>
            <a:pPr marL="0" indent="0" algn="l">
              <a:lnSpc>
                <a:spcPct val="87000"/>
              </a:lnSpc>
              <a:buNone/>
            </a:pPr>
            <a:r>
              <a:rPr lang="en-US" sz="750" dirty="0">
                <a:solidFill>
                  <a:srgbClr val="272525"/>
                </a:solidFill>
                <a:latin typeface="DM Sans" pitchFamily="34" charset="0"/>
                <a:ea typeface="DM Sans" pitchFamily="34" charset="-122"/>
                <a:cs typeface="DM Sans" pitchFamily="34" charset="-120"/>
              </a:rPr>
              <a:t>The MySQL database was connected directly to Power BI. Data was imported and transformed using Power Query Editor. DAX measures were created for KPIs including Total Responses, Average Satisfaction Rating, and Most Used UPI Application. Interactive slicers enabled filtering by age group, gender, occupation, and UPI application.</a:t>
            </a:r>
            <a:endParaRPr lang="en-US" sz="750" dirty="0"/>
          </a:p>
        </p:txBody>
      </p:sp>
      <p:sp>
        <p:nvSpPr>
          <p:cNvPr id="24" name="Shape 22"/>
          <p:cNvSpPr/>
          <p:nvPr/>
        </p:nvSpPr>
        <p:spPr>
          <a:xfrm>
            <a:off x="8153097" y="1024334"/>
            <a:ext cx="3456000" cy="5330825"/>
          </a:xfrm>
          <a:prstGeom prst="roundRect">
            <a:avLst>
              <a:gd name="adj" fmla="val 2100"/>
            </a:avLst>
          </a:prstGeom>
          <a:solidFill>
            <a:srgbClr val="F8F2F1"/>
          </a:solidFill>
          <a:ln/>
        </p:spPr>
      </p:sp>
      <p:sp>
        <p:nvSpPr>
          <p:cNvPr id="25" name="Text 23"/>
          <p:cNvSpPr/>
          <p:nvPr/>
        </p:nvSpPr>
        <p:spPr>
          <a:xfrm>
            <a:off x="8253801" y="1085751"/>
            <a:ext cx="3254591" cy="201613"/>
          </a:xfrm>
          <a:prstGeom prst="rect">
            <a:avLst/>
          </a:prstGeom>
          <a:noFill/>
          <a:ln/>
        </p:spPr>
        <p:txBody>
          <a:bodyPr wrap="none" lIns="0" tIns="0" rIns="0" bIns="0" rtlCol="0" anchor="t"/>
          <a:lstStyle/>
          <a:p>
            <a:pPr marL="0" indent="0" algn="l">
              <a:lnSpc>
                <a:spcPct val="83000"/>
              </a:lnSpc>
              <a:buNone/>
            </a:pPr>
            <a:r>
              <a:rPr lang="en-US" sz="1550" dirty="0">
                <a:solidFill>
                  <a:srgbClr val="000000"/>
                </a:solidFill>
                <a:latin typeface="DM Sans SemiBold" pitchFamily="34" charset="0"/>
                <a:ea typeface="DM Sans SemiBold" pitchFamily="34" charset="-122"/>
                <a:cs typeface="DM Sans SemiBold" pitchFamily="34" charset="-120"/>
              </a:rPr>
              <a:t>Ethical Considerations</a:t>
            </a:r>
            <a:endParaRPr lang="en-US" sz="1550" dirty="0"/>
          </a:p>
        </p:txBody>
      </p:sp>
      <p:sp>
        <p:nvSpPr>
          <p:cNvPr id="26" name="Shape 24"/>
          <p:cNvSpPr/>
          <p:nvPr/>
        </p:nvSpPr>
        <p:spPr>
          <a:xfrm>
            <a:off x="8253801" y="1356420"/>
            <a:ext cx="3254591" cy="371475"/>
          </a:xfrm>
          <a:prstGeom prst="roundRect">
            <a:avLst>
              <a:gd name="adj" fmla="val 11395"/>
            </a:avLst>
          </a:prstGeom>
          <a:solidFill>
            <a:srgbClr val="F7DBD4"/>
          </a:solidFill>
          <a:ln/>
        </p:spPr>
      </p:sp>
      <p:pic>
        <p:nvPicPr>
          <p:cNvPr id="27" name="Image 0" descr="preencoded.png"/>
          <p:cNvPicPr>
            <a:picLocks noChangeAspect="1"/>
          </p:cNvPicPr>
          <p:nvPr/>
        </p:nvPicPr>
        <p:blipFill>
          <a:blip r:embed="rId3"/>
          <a:stretch>
            <a:fillRect/>
          </a:stretch>
        </p:blipFill>
        <p:spPr>
          <a:xfrm>
            <a:off x="8354506" y="1482229"/>
            <a:ext cx="125905" cy="100707"/>
          </a:xfrm>
          <a:prstGeom prst="rect">
            <a:avLst/>
          </a:prstGeom>
        </p:spPr>
      </p:pic>
      <p:sp>
        <p:nvSpPr>
          <p:cNvPr id="28" name="Text 25"/>
          <p:cNvSpPr/>
          <p:nvPr/>
        </p:nvSpPr>
        <p:spPr>
          <a:xfrm>
            <a:off x="8581116" y="1436787"/>
            <a:ext cx="2826572" cy="210741"/>
          </a:xfrm>
          <a:prstGeom prst="rect">
            <a:avLst/>
          </a:prstGeom>
          <a:noFill/>
          <a:ln/>
        </p:spPr>
        <p:txBody>
          <a:bodyPr wrap="square" lIns="0" tIns="0" rIns="0" bIns="0" rtlCol="0" anchor="t">
            <a:normAutofit/>
          </a:bodyPr>
          <a:lstStyle/>
          <a:p>
            <a:pPr marL="0" indent="0" algn="l">
              <a:lnSpc>
                <a:spcPct val="87000"/>
              </a:lnSpc>
              <a:buNone/>
            </a:pPr>
            <a:r>
              <a:rPr lang="en-US" sz="750" dirty="0">
                <a:solidFill>
                  <a:srgbClr val="000000"/>
                </a:solidFill>
                <a:latin typeface="DM Sans" pitchFamily="34" charset="0"/>
                <a:ea typeface="DM Sans" pitchFamily="34" charset="-122"/>
                <a:cs typeface="DM Sans" pitchFamily="34" charset="-120"/>
              </a:rPr>
              <a:t>Key principle: the research prioritized participant privacy, consent, and academic use only.</a:t>
            </a:r>
            <a:endParaRPr lang="en-US" sz="750" dirty="0"/>
          </a:p>
        </p:txBody>
      </p:sp>
      <p:pic>
        <p:nvPicPr>
          <p:cNvPr id="2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53801" y="1796951"/>
            <a:ext cx="3254591" cy="624979"/>
          </a:xfrm>
          <a:prstGeom prst="rect">
            <a:avLst/>
          </a:prstGeom>
        </p:spPr>
      </p:pic>
      <p:sp>
        <p:nvSpPr>
          <p:cNvPr id="30" name="Text 26"/>
          <p:cNvSpPr/>
          <p:nvPr/>
        </p:nvSpPr>
        <p:spPr>
          <a:xfrm>
            <a:off x="8418004" y="1910358"/>
            <a:ext cx="2976984" cy="126008"/>
          </a:xfrm>
          <a:prstGeom prst="rect">
            <a:avLst/>
          </a:prstGeom>
          <a:noFill/>
          <a:ln/>
        </p:spPr>
        <p:txBody>
          <a:bodyPr wrap="none" lIns="0" tIns="0" rIns="0" bIns="0" rtlCol="0" anchor="t"/>
          <a:lstStyle/>
          <a:p>
            <a:pPr marL="0" indent="0" algn="l">
              <a:lnSpc>
                <a:spcPct val="83000"/>
              </a:lnSpc>
              <a:buNone/>
            </a:pPr>
            <a:r>
              <a:rPr lang="en-US" sz="950" dirty="0">
                <a:solidFill>
                  <a:srgbClr val="272525"/>
                </a:solidFill>
                <a:latin typeface="DM Sans SemiBold" pitchFamily="34" charset="0"/>
                <a:ea typeface="DM Sans SemiBold" pitchFamily="34" charset="-122"/>
                <a:cs typeface="DM Sans SemiBold" pitchFamily="34" charset="-120"/>
              </a:rPr>
              <a:t>Voluntary Participation</a:t>
            </a:r>
            <a:endParaRPr lang="en-US" sz="950" dirty="0"/>
          </a:p>
        </p:txBody>
      </p:sp>
      <p:sp>
        <p:nvSpPr>
          <p:cNvPr id="31" name="Text 27"/>
          <p:cNvSpPr/>
          <p:nvPr/>
        </p:nvSpPr>
        <p:spPr>
          <a:xfrm>
            <a:off x="8418004" y="2097782"/>
            <a:ext cx="2976984" cy="210741"/>
          </a:xfrm>
          <a:prstGeom prst="rect">
            <a:avLst/>
          </a:prstGeom>
          <a:noFill/>
          <a:ln/>
        </p:spPr>
        <p:txBody>
          <a:bodyPr wrap="square" lIns="0" tIns="0" rIns="0" bIns="0" rtlCol="0" anchor="t">
            <a:normAutofit/>
          </a:bodyPr>
          <a:lstStyle/>
          <a:p>
            <a:pPr marL="0" indent="0" algn="l">
              <a:lnSpc>
                <a:spcPct val="87000"/>
              </a:lnSpc>
              <a:buNone/>
            </a:pPr>
            <a:r>
              <a:rPr lang="en-US" sz="750" dirty="0">
                <a:solidFill>
                  <a:srgbClr val="272525"/>
                </a:solidFill>
                <a:latin typeface="DM Sans" pitchFamily="34" charset="0"/>
                <a:ea typeface="DM Sans" pitchFamily="34" charset="-122"/>
                <a:cs typeface="DM Sans" pitchFamily="34" charset="-120"/>
              </a:rPr>
              <a:t>No respondent was coerced or pressured to take part in the survey.</a:t>
            </a:r>
            <a:endParaRPr lang="en-US" sz="750" dirty="0"/>
          </a:p>
        </p:txBody>
      </p:sp>
      <p:pic>
        <p:nvPicPr>
          <p:cNvPr id="32"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53801" y="2483346"/>
            <a:ext cx="3254591" cy="624979"/>
          </a:xfrm>
          <a:prstGeom prst="rect">
            <a:avLst/>
          </a:prstGeom>
        </p:spPr>
      </p:pic>
      <p:sp>
        <p:nvSpPr>
          <p:cNvPr id="33" name="Text 28"/>
          <p:cNvSpPr/>
          <p:nvPr/>
        </p:nvSpPr>
        <p:spPr>
          <a:xfrm>
            <a:off x="8418004" y="2596753"/>
            <a:ext cx="2976984" cy="126008"/>
          </a:xfrm>
          <a:prstGeom prst="rect">
            <a:avLst/>
          </a:prstGeom>
          <a:noFill/>
          <a:ln/>
        </p:spPr>
        <p:txBody>
          <a:bodyPr wrap="none" lIns="0" tIns="0" rIns="0" bIns="0" rtlCol="0" anchor="t"/>
          <a:lstStyle/>
          <a:p>
            <a:pPr marL="0" indent="0" algn="l">
              <a:lnSpc>
                <a:spcPct val="83000"/>
              </a:lnSpc>
              <a:buNone/>
            </a:pPr>
            <a:r>
              <a:rPr lang="en-US" sz="950" dirty="0">
                <a:solidFill>
                  <a:srgbClr val="272525"/>
                </a:solidFill>
                <a:latin typeface="DM Sans SemiBold" pitchFamily="34" charset="0"/>
                <a:ea typeface="DM Sans SemiBold" pitchFamily="34" charset="-122"/>
                <a:cs typeface="DM Sans SemiBold" pitchFamily="34" charset="-120"/>
              </a:rPr>
              <a:t>Confidentiality</a:t>
            </a:r>
            <a:endParaRPr lang="en-US" sz="950" dirty="0"/>
          </a:p>
        </p:txBody>
      </p:sp>
      <p:sp>
        <p:nvSpPr>
          <p:cNvPr id="34" name="Text 29"/>
          <p:cNvSpPr/>
          <p:nvPr/>
        </p:nvSpPr>
        <p:spPr>
          <a:xfrm>
            <a:off x="8418004" y="2784177"/>
            <a:ext cx="2976984" cy="210741"/>
          </a:xfrm>
          <a:prstGeom prst="rect">
            <a:avLst/>
          </a:prstGeom>
          <a:noFill/>
          <a:ln/>
        </p:spPr>
        <p:txBody>
          <a:bodyPr wrap="square" lIns="0" tIns="0" rIns="0" bIns="0" rtlCol="0" anchor="t">
            <a:normAutofit/>
          </a:bodyPr>
          <a:lstStyle/>
          <a:p>
            <a:pPr marL="0" indent="0" algn="l">
              <a:lnSpc>
                <a:spcPct val="87000"/>
              </a:lnSpc>
              <a:buNone/>
            </a:pPr>
            <a:r>
              <a:rPr lang="en-US" sz="750" dirty="0">
                <a:solidFill>
                  <a:srgbClr val="272525"/>
                </a:solidFill>
                <a:latin typeface="DM Sans" pitchFamily="34" charset="0"/>
                <a:ea typeface="DM Sans" pitchFamily="34" charset="-122"/>
                <a:cs typeface="DM Sans" pitchFamily="34" charset="-120"/>
              </a:rPr>
              <a:t>Respondent identities were kept confidential throughout the research process.</a:t>
            </a:r>
            <a:endParaRPr lang="en-US" sz="750" dirty="0"/>
          </a:p>
        </p:txBody>
      </p:sp>
      <p:pic>
        <p:nvPicPr>
          <p:cNvPr id="3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53801" y="3169741"/>
            <a:ext cx="3254591" cy="730349"/>
          </a:xfrm>
          <a:prstGeom prst="rect">
            <a:avLst/>
          </a:prstGeom>
        </p:spPr>
      </p:pic>
      <p:sp>
        <p:nvSpPr>
          <p:cNvPr id="36" name="Text 30"/>
          <p:cNvSpPr/>
          <p:nvPr/>
        </p:nvSpPr>
        <p:spPr>
          <a:xfrm>
            <a:off x="8418004" y="3283148"/>
            <a:ext cx="2976984" cy="126008"/>
          </a:xfrm>
          <a:prstGeom prst="rect">
            <a:avLst/>
          </a:prstGeom>
          <a:noFill/>
          <a:ln/>
        </p:spPr>
        <p:txBody>
          <a:bodyPr wrap="none" lIns="0" tIns="0" rIns="0" bIns="0" rtlCol="0" anchor="t"/>
          <a:lstStyle/>
          <a:p>
            <a:pPr marL="0" indent="0" algn="l">
              <a:lnSpc>
                <a:spcPct val="83000"/>
              </a:lnSpc>
              <a:buNone/>
            </a:pPr>
            <a:r>
              <a:rPr lang="en-US" sz="950" dirty="0">
                <a:solidFill>
                  <a:srgbClr val="272525"/>
                </a:solidFill>
                <a:latin typeface="DM Sans SemiBold" pitchFamily="34" charset="0"/>
                <a:ea typeface="DM Sans SemiBold" pitchFamily="34" charset="-122"/>
                <a:cs typeface="DM Sans SemiBold" pitchFamily="34" charset="-120"/>
              </a:rPr>
              <a:t>Academic Use Only</a:t>
            </a:r>
            <a:endParaRPr lang="en-US" sz="950" dirty="0"/>
          </a:p>
        </p:txBody>
      </p:sp>
      <p:sp>
        <p:nvSpPr>
          <p:cNvPr id="37" name="Text 31"/>
          <p:cNvSpPr/>
          <p:nvPr/>
        </p:nvSpPr>
        <p:spPr>
          <a:xfrm>
            <a:off x="8418004" y="3470573"/>
            <a:ext cx="2976984" cy="316111"/>
          </a:xfrm>
          <a:prstGeom prst="rect">
            <a:avLst/>
          </a:prstGeom>
          <a:noFill/>
          <a:ln/>
        </p:spPr>
        <p:txBody>
          <a:bodyPr wrap="square" lIns="0" tIns="0" rIns="0" bIns="0" rtlCol="0" anchor="t">
            <a:normAutofit/>
          </a:bodyPr>
          <a:lstStyle/>
          <a:p>
            <a:pPr marL="0" indent="0" algn="l">
              <a:lnSpc>
                <a:spcPct val="87000"/>
              </a:lnSpc>
              <a:buNone/>
            </a:pPr>
            <a:r>
              <a:rPr lang="en-US" sz="750" dirty="0">
                <a:solidFill>
                  <a:srgbClr val="272525"/>
                </a:solidFill>
                <a:latin typeface="DM Sans" pitchFamily="34" charset="0"/>
                <a:ea typeface="DM Sans" pitchFamily="34" charset="-122"/>
                <a:cs typeface="DM Sans" pitchFamily="34" charset="-120"/>
              </a:rPr>
              <a:t>Data was collected and used exclusively for academic purposes, with no disclosure of personal or sensitive information.</a:t>
            </a:r>
            <a:endParaRPr lang="en-US" sz="750" dirty="0"/>
          </a:p>
        </p:txBody>
      </p:sp>
      <p:pic>
        <p:nvPicPr>
          <p:cNvPr id="38"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53801" y="3961507"/>
            <a:ext cx="3254591" cy="624979"/>
          </a:xfrm>
          <a:prstGeom prst="rect">
            <a:avLst/>
          </a:prstGeom>
        </p:spPr>
      </p:pic>
      <p:sp>
        <p:nvSpPr>
          <p:cNvPr id="39" name="Text 32"/>
          <p:cNvSpPr/>
          <p:nvPr/>
        </p:nvSpPr>
        <p:spPr>
          <a:xfrm>
            <a:off x="8418004" y="4074914"/>
            <a:ext cx="2976984" cy="126008"/>
          </a:xfrm>
          <a:prstGeom prst="rect">
            <a:avLst/>
          </a:prstGeom>
          <a:noFill/>
          <a:ln/>
        </p:spPr>
        <p:txBody>
          <a:bodyPr wrap="none" lIns="0" tIns="0" rIns="0" bIns="0" rtlCol="0" anchor="t"/>
          <a:lstStyle/>
          <a:p>
            <a:pPr marL="0" indent="0" algn="l">
              <a:lnSpc>
                <a:spcPct val="83000"/>
              </a:lnSpc>
              <a:buNone/>
            </a:pPr>
            <a:r>
              <a:rPr lang="en-US" sz="950" dirty="0">
                <a:solidFill>
                  <a:srgbClr val="272525"/>
                </a:solidFill>
                <a:latin typeface="DM Sans SemiBold" pitchFamily="34" charset="0"/>
                <a:ea typeface="DM Sans SemiBold" pitchFamily="34" charset="-122"/>
                <a:cs typeface="DM Sans SemiBold" pitchFamily="34" charset="-120"/>
              </a:rPr>
              <a:t>Informed Consent</a:t>
            </a:r>
            <a:endParaRPr lang="en-US" sz="950" dirty="0"/>
          </a:p>
        </p:txBody>
      </p:sp>
      <p:sp>
        <p:nvSpPr>
          <p:cNvPr id="40" name="Text 33"/>
          <p:cNvSpPr/>
          <p:nvPr/>
        </p:nvSpPr>
        <p:spPr>
          <a:xfrm>
            <a:off x="8418004" y="4262338"/>
            <a:ext cx="2976984" cy="210741"/>
          </a:xfrm>
          <a:prstGeom prst="rect">
            <a:avLst/>
          </a:prstGeom>
          <a:noFill/>
          <a:ln/>
        </p:spPr>
        <p:txBody>
          <a:bodyPr wrap="square" lIns="0" tIns="0" rIns="0" bIns="0" rtlCol="0" anchor="t">
            <a:normAutofit/>
          </a:bodyPr>
          <a:lstStyle/>
          <a:p>
            <a:pPr marL="0" indent="0" algn="l">
              <a:lnSpc>
                <a:spcPct val="87000"/>
              </a:lnSpc>
              <a:buNone/>
            </a:pPr>
            <a:r>
              <a:rPr lang="en-US" sz="750" dirty="0">
                <a:solidFill>
                  <a:srgbClr val="272525"/>
                </a:solidFill>
                <a:latin typeface="DM Sans" pitchFamily="34" charset="0"/>
                <a:ea typeface="DM Sans" pitchFamily="34" charset="-122"/>
                <a:cs typeface="DM Sans" pitchFamily="34" charset="-120"/>
              </a:rPr>
              <a:t>Participants were informed about the study's purpose and their rights before completing the survey.</a:t>
            </a:r>
            <a:endParaRPr lang="en-US" sz="750" dirty="0"/>
          </a:p>
        </p:txBody>
      </p:sp>
      <p:sp>
        <p:nvSpPr>
          <p:cNvPr id="41" name="Shape 34"/>
          <p:cNvSpPr/>
          <p:nvPr/>
        </p:nvSpPr>
        <p:spPr>
          <a:xfrm>
            <a:off x="8253801" y="4680645"/>
            <a:ext cx="3254591" cy="12700"/>
          </a:xfrm>
          <a:prstGeom prst="roundRect">
            <a:avLst>
              <a:gd name="adj" fmla="val 59999"/>
            </a:avLst>
          </a:prstGeom>
          <a:solidFill>
            <a:srgbClr val="272525">
              <a:alpha val="50000"/>
            </a:srgbClr>
          </a:solidFill>
          <a:ln/>
        </p:spPr>
      </p:sp>
      <p:sp>
        <p:nvSpPr>
          <p:cNvPr id="42" name="Text 35"/>
          <p:cNvSpPr/>
          <p:nvPr/>
        </p:nvSpPr>
        <p:spPr>
          <a:xfrm>
            <a:off x="8253801" y="4787503"/>
            <a:ext cx="3254591" cy="210741"/>
          </a:xfrm>
          <a:prstGeom prst="rect">
            <a:avLst/>
          </a:prstGeom>
          <a:noFill/>
          <a:ln/>
        </p:spPr>
        <p:txBody>
          <a:bodyPr wrap="square" lIns="0" tIns="0" rIns="0" bIns="0" rtlCol="0" anchor="t">
            <a:normAutofit/>
          </a:bodyPr>
          <a:lstStyle/>
          <a:p>
            <a:pPr marL="0" indent="0" algn="l">
              <a:lnSpc>
                <a:spcPct val="87000"/>
              </a:lnSpc>
              <a:buNone/>
            </a:pPr>
            <a:r>
              <a:rPr lang="en-US" sz="750" b="1" dirty="0">
                <a:solidFill>
                  <a:srgbClr val="272525"/>
                </a:solidFill>
                <a:latin typeface="DM Sans Bold" pitchFamily="34" charset="0"/>
                <a:ea typeface="DM Sans Bold" pitchFamily="34" charset="-122"/>
                <a:cs typeface="DM Sans Bold" pitchFamily="34" charset="-120"/>
              </a:rPr>
              <a:t>Ethical standard:</a:t>
            </a:r>
            <a:r>
              <a:rPr lang="en-US" sz="750" dirty="0">
                <a:solidFill>
                  <a:srgbClr val="272525"/>
                </a:solidFill>
                <a:latin typeface="DM Sans" pitchFamily="34" charset="0"/>
                <a:ea typeface="DM Sans" pitchFamily="34" charset="-122"/>
                <a:cs typeface="DM Sans" pitchFamily="34" charset="-120"/>
              </a:rPr>
              <a:t> respect for respondents was maintained at every stage, from collection to analysis.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656134"/>
            <a:ext cx="92569" cy="92571"/>
          </a:xfrm>
          <a:prstGeom prst="rect">
            <a:avLst/>
          </a:prstGeom>
          <a:solidFill>
            <a:srgbClr val="911E1B"/>
          </a:solidFill>
          <a:ln/>
        </p:spPr>
      </p:sp>
      <p:sp>
        <p:nvSpPr>
          <p:cNvPr id="3" name="Text 1"/>
          <p:cNvSpPr/>
          <p:nvPr/>
        </p:nvSpPr>
        <p:spPr>
          <a:xfrm>
            <a:off x="800278" y="649188"/>
            <a:ext cx="1803752" cy="106561"/>
          </a:xfrm>
          <a:prstGeom prst="rect">
            <a:avLst/>
          </a:prstGeom>
          <a:noFill/>
          <a:ln/>
        </p:spPr>
        <p:txBody>
          <a:bodyPr wrap="none" lIns="0" tIns="0" rIns="0" bIns="0" rtlCol="0" anchor="t"/>
          <a:lstStyle/>
          <a:p>
            <a:pPr marL="0" indent="0" algn="l">
              <a:lnSpc>
                <a:spcPct val="96000"/>
              </a:lnSpc>
              <a:buNone/>
            </a:pPr>
            <a:r>
              <a:rPr lang="en-US" sz="700" dirty="0">
                <a:solidFill>
                  <a:srgbClr val="911E1B"/>
                </a:solidFill>
                <a:latin typeface="DM Sans" pitchFamily="34" charset="0"/>
                <a:ea typeface="DM Sans" pitchFamily="34" charset="-122"/>
                <a:cs typeface="DM Sans" pitchFamily="34" charset="-120"/>
              </a:rPr>
              <a:t>                  SURVEY DATA       </a:t>
            </a:r>
            <a:endParaRPr lang="en-US" sz="700" dirty="0"/>
          </a:p>
        </p:txBody>
      </p:sp>
      <p:sp>
        <p:nvSpPr>
          <p:cNvPr id="4" name="Text 2"/>
          <p:cNvSpPr/>
          <p:nvPr/>
        </p:nvSpPr>
        <p:spPr>
          <a:xfrm>
            <a:off x="661475" y="822821"/>
            <a:ext cx="10868745" cy="289421"/>
          </a:xfrm>
          <a:prstGeom prst="rect">
            <a:avLst/>
          </a:prstGeom>
          <a:noFill/>
          <a:ln/>
        </p:spPr>
        <p:txBody>
          <a:bodyPr wrap="none" lIns="0" tIns="0" rIns="0" bIns="0" rtlCol="0" anchor="t"/>
          <a:lstStyle/>
          <a:p>
            <a:pPr marL="0" indent="0" algn="l">
              <a:lnSpc>
                <a:spcPct val="83000"/>
              </a:lnSpc>
              <a:buNone/>
            </a:pPr>
            <a:r>
              <a:rPr lang="en-US" sz="2250" dirty="0">
                <a:solidFill>
                  <a:srgbClr val="000000"/>
                </a:solidFill>
                <a:latin typeface="DM Sans SemiBold" pitchFamily="34" charset="0"/>
                <a:ea typeface="DM Sans SemiBold" pitchFamily="34" charset="-122"/>
                <a:cs typeface="DM Sans SemiBold" pitchFamily="34" charset="-120"/>
              </a:rPr>
              <a:t>Survey Responses: Primary Data Collection</a:t>
            </a:r>
            <a:endParaRPr lang="en-US" sz="2250" dirty="0"/>
          </a:p>
        </p:txBody>
      </p:sp>
      <p:sp>
        <p:nvSpPr>
          <p:cNvPr id="5" name="Text 3"/>
          <p:cNvSpPr/>
          <p:nvPr/>
        </p:nvSpPr>
        <p:spPr>
          <a:xfrm>
            <a:off x="661475" y="1233785"/>
            <a:ext cx="10868745" cy="474762"/>
          </a:xfrm>
          <a:prstGeom prst="rect">
            <a:avLst/>
          </a:prstGeom>
          <a:noFill/>
          <a:ln/>
        </p:spPr>
        <p:txBody>
          <a:bodyPr wrap="square" lIns="0" tIns="0" rIns="0" bIns="0" rtlCol="0" anchor="t">
            <a:normAutofit/>
          </a:bodyPr>
          <a:lstStyle/>
          <a:p>
            <a:pPr marL="0" indent="0" algn="l">
              <a:lnSpc>
                <a:spcPct val="92000"/>
              </a:lnSpc>
              <a:spcAft>
                <a:spcPts val="700"/>
              </a:spcAft>
              <a:buNone/>
            </a:pPr>
            <a:r>
              <a:rPr lang="en-US" sz="900" dirty="0">
                <a:solidFill>
                  <a:srgbClr val="272525"/>
                </a:solidFill>
                <a:latin typeface="DM Sans" pitchFamily="34" charset="0"/>
                <a:ea typeface="DM Sans" pitchFamily="34" charset="-122"/>
                <a:cs typeface="DM Sans" pitchFamily="34" charset="-120"/>
              </a:rPr>
              <a:t>A structured 12-question questionnaire was circulated via Google Forms to collect primary data on customer behaviour, churn factors, and retention drivers in UPI-based digital payment platforms. A total of 49 valid responses were collected from students, working professionals, and business owners across India.</a:t>
            </a:r>
            <a:endParaRPr lang="en-US" sz="900" dirty="0"/>
          </a:p>
          <a:p>
            <a:pPr marL="0" indent="0" algn="l">
              <a:lnSpc>
                <a:spcPct val="92000"/>
              </a:lnSpc>
              <a:buNone/>
            </a:pPr>
            <a:r>
              <a:rPr lang="en-US" sz="900" dirty="0">
                <a:solidFill>
                  <a:srgbClr val="272525"/>
                </a:solidFill>
                <a:latin typeface="DM Sans" pitchFamily="34" charset="0"/>
                <a:ea typeface="DM Sans" pitchFamily="34" charset="-122"/>
                <a:cs typeface="DM Sans" pitchFamily="34" charset="-120"/>
              </a:rPr>
              <a:t>The survey covered:</a:t>
            </a:r>
            <a:endParaRPr lang="en-US" sz="900" dirty="0"/>
          </a:p>
        </p:txBody>
      </p:sp>
      <p:sp>
        <p:nvSpPr>
          <p:cNvPr id="6" name="Text 4"/>
          <p:cNvSpPr/>
          <p:nvPr/>
        </p:nvSpPr>
        <p:spPr>
          <a:xfrm>
            <a:off x="661475" y="1799630"/>
            <a:ext cx="10868745" cy="908745"/>
          </a:xfrm>
          <a:prstGeom prst="rect">
            <a:avLst/>
          </a:prstGeom>
          <a:noFill/>
          <a:ln/>
        </p:spPr>
        <p:txBody>
          <a:bodyPr wrap="square" lIns="0" tIns="0" rIns="0" bIns="0" rtlCol="0" anchor="t">
            <a:normAutofit/>
          </a:bodyPr>
          <a:lstStyle/>
          <a:p>
            <a:pPr marL="182880" indent="-182880" algn="l">
              <a:lnSpc>
                <a:spcPct val="92000"/>
              </a:lnSpc>
              <a:buSzPct val="100000"/>
              <a:buChar char="•"/>
            </a:pPr>
            <a:r>
              <a:rPr lang="en-US" sz="900" dirty="0">
                <a:solidFill>
                  <a:srgbClr val="272525"/>
                </a:solidFill>
                <a:latin typeface="DM Sans" pitchFamily="34" charset="0"/>
                <a:ea typeface="DM Sans" pitchFamily="34" charset="-122"/>
                <a:cs typeface="DM Sans" pitchFamily="34" charset="-120"/>
              </a:rPr>
              <a:t>Demographics (age, gender)</a:t>
            </a:r>
            <a:endParaRPr lang="en-US" sz="900" dirty="0"/>
          </a:p>
          <a:p>
            <a:pPr marL="182880" indent="-182880" algn="l">
              <a:lnSpc>
                <a:spcPct val="92000"/>
              </a:lnSpc>
              <a:buSzPct val="100000"/>
              <a:buChar char="•"/>
            </a:pPr>
            <a:r>
              <a:rPr lang="en-US" sz="900" dirty="0">
                <a:solidFill>
                  <a:srgbClr val="272525"/>
                </a:solidFill>
                <a:latin typeface="DM Sans" pitchFamily="34" charset="0"/>
                <a:ea typeface="DM Sans" pitchFamily="34" charset="-122"/>
                <a:cs typeface="DM Sans" pitchFamily="34" charset="-120"/>
              </a:rPr>
              <a:t>UPI app usage patterns and frequency</a:t>
            </a:r>
            <a:endParaRPr lang="en-US" sz="900" dirty="0"/>
          </a:p>
          <a:p>
            <a:pPr marL="182880" indent="-182880" algn="l">
              <a:lnSpc>
                <a:spcPct val="92000"/>
              </a:lnSpc>
              <a:buSzPct val="100000"/>
              <a:buChar char="•"/>
            </a:pPr>
            <a:r>
              <a:rPr lang="en-US" sz="900" dirty="0">
                <a:solidFill>
                  <a:srgbClr val="272525"/>
                </a:solidFill>
                <a:latin typeface="DM Sans" pitchFamily="34" charset="0"/>
                <a:ea typeface="DM Sans" pitchFamily="34" charset="-122"/>
                <a:cs typeface="DM Sans" pitchFamily="34" charset="-120"/>
              </a:rPr>
              <a:t>Customer satisfaction levels</a:t>
            </a:r>
            <a:endParaRPr lang="en-US" sz="900" dirty="0"/>
          </a:p>
          <a:p>
            <a:pPr marL="182880" indent="-182880" algn="l">
              <a:lnSpc>
                <a:spcPct val="92000"/>
              </a:lnSpc>
              <a:buSzPct val="100000"/>
              <a:buChar char="•"/>
            </a:pPr>
            <a:r>
              <a:rPr lang="en-US" sz="900" dirty="0">
                <a:solidFill>
                  <a:srgbClr val="272525"/>
                </a:solidFill>
                <a:latin typeface="DM Sans" pitchFamily="34" charset="0"/>
                <a:ea typeface="DM Sans" pitchFamily="34" charset="-122"/>
                <a:cs typeface="DM Sans" pitchFamily="34" charset="-120"/>
              </a:rPr>
              <a:t>Churn experience and reasons</a:t>
            </a:r>
            <a:endParaRPr lang="en-US" sz="900" dirty="0"/>
          </a:p>
          <a:p>
            <a:pPr marL="182880" indent="-182880" algn="l">
              <a:lnSpc>
                <a:spcPct val="92000"/>
              </a:lnSpc>
              <a:buSzPct val="100000"/>
              <a:buChar char="•"/>
            </a:pPr>
            <a:r>
              <a:rPr lang="en-US" sz="900" dirty="0">
                <a:solidFill>
                  <a:srgbClr val="272525"/>
                </a:solidFill>
                <a:latin typeface="DM Sans" pitchFamily="34" charset="0"/>
                <a:ea typeface="DM Sans" pitchFamily="34" charset="-122"/>
                <a:cs typeface="DM Sans" pitchFamily="34" charset="-120"/>
              </a:rPr>
              <a:t>Key factors influencing loyalty and retention</a:t>
            </a:r>
            <a:endParaRPr lang="en-US" sz="900" dirty="0"/>
          </a:p>
          <a:p>
            <a:pPr marL="182880" indent="-182880" algn="l">
              <a:lnSpc>
                <a:spcPct val="92000"/>
              </a:lnSpc>
              <a:buSzPct val="100000"/>
              <a:buChar char="•"/>
            </a:pPr>
            <a:r>
              <a:rPr lang="en-US" sz="900" dirty="0">
                <a:solidFill>
                  <a:srgbClr val="272525"/>
                </a:solidFill>
                <a:latin typeface="DM Sans" pitchFamily="34" charset="0"/>
                <a:ea typeface="DM Sans" pitchFamily="34" charset="-122"/>
                <a:cs typeface="DM Sans" pitchFamily="34" charset="-120"/>
              </a:rPr>
              <a:t>Impact of offers and incentives</a:t>
            </a:r>
            <a:endParaRPr lang="en-US" sz="900" dirty="0"/>
          </a:p>
        </p:txBody>
      </p:sp>
      <p:sp>
        <p:nvSpPr>
          <p:cNvPr id="7" name="Text 5"/>
          <p:cNvSpPr/>
          <p:nvPr/>
        </p:nvSpPr>
        <p:spPr>
          <a:xfrm>
            <a:off x="661475" y="2799457"/>
            <a:ext cx="11478330" cy="127893"/>
          </a:xfrm>
          <a:prstGeom prst="rect">
            <a:avLst/>
          </a:prstGeom>
          <a:noFill/>
          <a:ln/>
        </p:spPr>
        <p:txBody>
          <a:bodyPr wrap="none" lIns="0" tIns="0" rIns="0" bIns="0" rtlCol="0" anchor="t"/>
          <a:lstStyle/>
          <a:p>
            <a:pPr marL="0" indent="0" algn="l">
              <a:lnSpc>
                <a:spcPct val="92000"/>
              </a:lnSpc>
              <a:buNone/>
            </a:pPr>
            <a:r>
              <a:rPr lang="en-US" sz="900" dirty="0">
                <a:solidFill>
                  <a:srgbClr val="272525"/>
                </a:solidFill>
                <a:latin typeface="DM Sans" pitchFamily="34" charset="0"/>
                <a:ea typeface="DM Sans" pitchFamily="34" charset="-122"/>
                <a:cs typeface="DM Sans" pitchFamily="34" charset="-120"/>
              </a:rPr>
              <a:t>Below are the charts representing the distribution of responses for each of the survey questions, providing a visual overview of the collected data.</a:t>
            </a:r>
            <a:endParaRPr lang="en-US" sz="900" dirty="0"/>
          </a:p>
        </p:txBody>
      </p:sp>
      <p:pic>
        <p:nvPicPr>
          <p:cNvPr id="8" name="Image 0" descr="preencoded.png"/>
          <p:cNvPicPr>
            <a:picLocks noChangeAspect="1"/>
          </p:cNvPicPr>
          <p:nvPr/>
        </p:nvPicPr>
        <p:blipFill>
          <a:blip r:embed="rId3"/>
          <a:stretch>
            <a:fillRect/>
          </a:stretch>
        </p:blipFill>
        <p:spPr>
          <a:xfrm>
            <a:off x="667825" y="3095427"/>
            <a:ext cx="1471476" cy="1471513"/>
          </a:xfrm>
          <a:prstGeom prst="rect">
            <a:avLst/>
          </a:prstGeom>
        </p:spPr>
      </p:pic>
      <p:pic>
        <p:nvPicPr>
          <p:cNvPr id="9" name="Image 1" descr="preencoded.png"/>
          <p:cNvPicPr>
            <a:picLocks noChangeAspect="1"/>
          </p:cNvPicPr>
          <p:nvPr/>
        </p:nvPicPr>
        <p:blipFill>
          <a:blip r:embed="rId4"/>
          <a:stretch>
            <a:fillRect/>
          </a:stretch>
        </p:blipFill>
        <p:spPr>
          <a:xfrm>
            <a:off x="2231870" y="3095427"/>
            <a:ext cx="1471476" cy="1471513"/>
          </a:xfrm>
          <a:prstGeom prst="rect">
            <a:avLst/>
          </a:prstGeom>
        </p:spPr>
      </p:pic>
      <p:pic>
        <p:nvPicPr>
          <p:cNvPr id="10" name="Image 2" descr="preencoded.png"/>
          <p:cNvPicPr>
            <a:picLocks noChangeAspect="1"/>
          </p:cNvPicPr>
          <p:nvPr/>
        </p:nvPicPr>
        <p:blipFill>
          <a:blip r:embed="rId5"/>
          <a:stretch>
            <a:fillRect/>
          </a:stretch>
        </p:blipFill>
        <p:spPr>
          <a:xfrm>
            <a:off x="3795915" y="3095427"/>
            <a:ext cx="1471576" cy="1471613"/>
          </a:xfrm>
          <a:prstGeom prst="rect">
            <a:avLst/>
          </a:prstGeom>
        </p:spPr>
      </p:pic>
      <p:pic>
        <p:nvPicPr>
          <p:cNvPr id="11" name="Image 3" descr="preencoded.png"/>
          <p:cNvPicPr>
            <a:picLocks noChangeAspect="1"/>
          </p:cNvPicPr>
          <p:nvPr/>
        </p:nvPicPr>
        <p:blipFill>
          <a:blip r:embed="rId6"/>
          <a:stretch>
            <a:fillRect/>
          </a:stretch>
        </p:blipFill>
        <p:spPr>
          <a:xfrm>
            <a:off x="5360060" y="3095427"/>
            <a:ext cx="1471476" cy="1471513"/>
          </a:xfrm>
          <a:prstGeom prst="rect">
            <a:avLst/>
          </a:prstGeom>
        </p:spPr>
      </p:pic>
      <p:pic>
        <p:nvPicPr>
          <p:cNvPr id="12" name="Image 4" descr="preencoded.png"/>
          <p:cNvPicPr>
            <a:picLocks noChangeAspect="1"/>
          </p:cNvPicPr>
          <p:nvPr/>
        </p:nvPicPr>
        <p:blipFill>
          <a:blip r:embed="rId7"/>
          <a:stretch>
            <a:fillRect/>
          </a:stretch>
        </p:blipFill>
        <p:spPr>
          <a:xfrm>
            <a:off x="6924105" y="3095427"/>
            <a:ext cx="1471576" cy="1471613"/>
          </a:xfrm>
          <a:prstGeom prst="rect">
            <a:avLst/>
          </a:prstGeom>
        </p:spPr>
      </p:pic>
      <p:pic>
        <p:nvPicPr>
          <p:cNvPr id="13" name="Image 5" descr="preencoded.png"/>
          <p:cNvPicPr>
            <a:picLocks noChangeAspect="1"/>
          </p:cNvPicPr>
          <p:nvPr/>
        </p:nvPicPr>
        <p:blipFill>
          <a:blip r:embed="rId8"/>
          <a:stretch>
            <a:fillRect/>
          </a:stretch>
        </p:blipFill>
        <p:spPr>
          <a:xfrm>
            <a:off x="8488249" y="3095427"/>
            <a:ext cx="1471476" cy="1471513"/>
          </a:xfrm>
          <a:prstGeom prst="rect">
            <a:avLst/>
          </a:prstGeom>
        </p:spPr>
      </p:pic>
      <p:pic>
        <p:nvPicPr>
          <p:cNvPr id="14" name="Image 6" descr="preencoded.png"/>
          <p:cNvPicPr>
            <a:picLocks noChangeAspect="1"/>
          </p:cNvPicPr>
          <p:nvPr/>
        </p:nvPicPr>
        <p:blipFill>
          <a:blip r:embed="rId9"/>
          <a:stretch>
            <a:fillRect/>
          </a:stretch>
        </p:blipFill>
        <p:spPr>
          <a:xfrm>
            <a:off x="10052295" y="3095427"/>
            <a:ext cx="1471576" cy="1471613"/>
          </a:xfrm>
          <a:prstGeom prst="rect">
            <a:avLst/>
          </a:prstGeom>
        </p:spPr>
      </p:pic>
      <p:pic>
        <p:nvPicPr>
          <p:cNvPr id="15" name="Image 7" descr="preencoded.png"/>
          <p:cNvPicPr>
            <a:picLocks noChangeAspect="1"/>
          </p:cNvPicPr>
          <p:nvPr/>
        </p:nvPicPr>
        <p:blipFill>
          <a:blip r:embed="rId10"/>
          <a:stretch>
            <a:fillRect/>
          </a:stretch>
        </p:blipFill>
        <p:spPr>
          <a:xfrm>
            <a:off x="667825" y="4659610"/>
            <a:ext cx="1471476" cy="1471513"/>
          </a:xfrm>
          <a:prstGeom prst="rect">
            <a:avLst/>
          </a:prstGeom>
        </p:spPr>
      </p:pic>
      <p:pic>
        <p:nvPicPr>
          <p:cNvPr id="16" name="Image 8" descr="preencoded.png"/>
          <p:cNvPicPr>
            <a:picLocks noChangeAspect="1"/>
          </p:cNvPicPr>
          <p:nvPr/>
        </p:nvPicPr>
        <p:blipFill>
          <a:blip r:embed="rId11"/>
          <a:stretch>
            <a:fillRect/>
          </a:stretch>
        </p:blipFill>
        <p:spPr>
          <a:xfrm>
            <a:off x="2231870" y="4659610"/>
            <a:ext cx="1471476" cy="1471513"/>
          </a:xfrm>
          <a:prstGeom prst="rect">
            <a:avLst/>
          </a:prstGeom>
        </p:spPr>
      </p:pic>
      <p:pic>
        <p:nvPicPr>
          <p:cNvPr id="17" name="Image 9" descr="preencoded.png"/>
          <p:cNvPicPr>
            <a:picLocks noChangeAspect="1"/>
          </p:cNvPicPr>
          <p:nvPr/>
        </p:nvPicPr>
        <p:blipFill>
          <a:blip r:embed="rId12"/>
          <a:stretch>
            <a:fillRect/>
          </a:stretch>
        </p:blipFill>
        <p:spPr>
          <a:xfrm>
            <a:off x="3795915" y="4659610"/>
            <a:ext cx="1471576" cy="14716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26554"/>
            <a:ext cx="123723" cy="123726"/>
          </a:xfrm>
          <a:prstGeom prst="rect">
            <a:avLst/>
          </a:prstGeom>
          <a:solidFill>
            <a:srgbClr val="911E1B"/>
          </a:solidFill>
          <a:ln/>
        </p:spPr>
      </p:sp>
      <p:sp>
        <p:nvSpPr>
          <p:cNvPr id="3" name="Text 1"/>
          <p:cNvSpPr/>
          <p:nvPr/>
        </p:nvSpPr>
        <p:spPr>
          <a:xfrm>
            <a:off x="847009" y="517327"/>
            <a:ext cx="2298940" cy="142280"/>
          </a:xfrm>
          <a:prstGeom prst="rect">
            <a:avLst/>
          </a:prstGeom>
          <a:noFill/>
          <a:ln/>
        </p:spPr>
        <p:txBody>
          <a:bodyPr wrap="none" lIns="0" tIns="0" rIns="0" bIns="0" rtlCol="0" anchor="t"/>
          <a:lstStyle/>
          <a:p>
            <a:pPr marL="0" indent="0" algn="l">
              <a:lnSpc>
                <a:spcPct val="96000"/>
              </a:lnSpc>
              <a:buNone/>
            </a:pPr>
            <a:r>
              <a:rPr lang="en-US" sz="950" dirty="0">
                <a:solidFill>
                  <a:srgbClr val="911E1B"/>
                </a:solidFill>
                <a:latin typeface="DM Sans" pitchFamily="34" charset="0"/>
                <a:ea typeface="DM Sans" pitchFamily="34" charset="-122"/>
                <a:cs typeface="DM Sans" pitchFamily="34" charset="-120"/>
              </a:rPr>
              <a:t>                  DATA ANALYSIS       </a:t>
            </a:r>
            <a:endParaRPr lang="en-US" sz="950" dirty="0"/>
          </a:p>
        </p:txBody>
      </p:sp>
      <p:sp>
        <p:nvSpPr>
          <p:cNvPr id="4" name="Text 2"/>
          <p:cNvSpPr/>
          <p:nvPr/>
        </p:nvSpPr>
        <p:spPr>
          <a:xfrm>
            <a:off x="661475" y="763786"/>
            <a:ext cx="10868745" cy="386655"/>
          </a:xfrm>
          <a:prstGeom prst="rect">
            <a:avLst/>
          </a:prstGeom>
          <a:noFill/>
          <a:ln/>
        </p:spPr>
        <p:txBody>
          <a:bodyPr wrap="none" lIns="0" tIns="0" rIns="0" bIns="0" rtlCol="0" anchor="t"/>
          <a:lstStyle/>
          <a:p>
            <a:pPr marL="0" indent="0" algn="l">
              <a:lnSpc>
                <a:spcPct val="83000"/>
              </a:lnSpc>
              <a:buNone/>
            </a:pPr>
            <a:r>
              <a:rPr lang="en-US" sz="3000" dirty="0">
                <a:solidFill>
                  <a:srgbClr val="000000"/>
                </a:solidFill>
                <a:latin typeface="DM Sans SemiBold" pitchFamily="34" charset="0"/>
                <a:ea typeface="DM Sans SemiBold" pitchFamily="34" charset="-122"/>
                <a:cs typeface="DM Sans SemiBold" pitchFamily="34" charset="-120"/>
              </a:rPr>
              <a:t>Data Analysis Using SQL - Part 1</a:t>
            </a:r>
            <a:endParaRPr lang="en-US" sz="3000" dirty="0"/>
          </a:p>
        </p:txBody>
      </p:sp>
      <p:sp>
        <p:nvSpPr>
          <p:cNvPr id="5" name="Text 3"/>
          <p:cNvSpPr/>
          <p:nvPr/>
        </p:nvSpPr>
        <p:spPr>
          <a:xfrm>
            <a:off x="661475" y="1367334"/>
            <a:ext cx="10868745" cy="388938"/>
          </a:xfrm>
          <a:prstGeom prst="rect">
            <a:avLst/>
          </a:prstGeom>
          <a:noFill/>
          <a:ln/>
        </p:spPr>
        <p:txBody>
          <a:bodyPr wrap="square" lIns="0" tIns="0" rIns="0" bIns="0" rtlCol="0" anchor="t">
            <a:normAutofit/>
          </a:bodyPr>
          <a:lstStyle/>
          <a:p>
            <a:pPr marL="0" indent="0" algn="l">
              <a:lnSpc>
                <a:spcPct val="105000"/>
              </a:lnSpc>
              <a:buNone/>
            </a:pPr>
            <a:r>
              <a:rPr lang="en-US" sz="1200" dirty="0">
                <a:solidFill>
                  <a:srgbClr val="272525"/>
                </a:solidFill>
                <a:latin typeface="DM Sans" pitchFamily="34" charset="0"/>
                <a:ea typeface="DM Sans" pitchFamily="34" charset="-122"/>
                <a:cs typeface="DM Sans" pitchFamily="34" charset="-120"/>
              </a:rPr>
              <a:t>Detailed SQL analysis of the primary survey data was conducted to extract meaningful insights from the collected responses. The analysis focused on demographic segmentation, app usage patterns, and key behavioral metrics.</a:t>
            </a:r>
            <a:endParaRPr lang="en-US" sz="1200" dirty="0"/>
          </a:p>
        </p:txBody>
      </p:sp>
      <p:sp>
        <p:nvSpPr>
          <p:cNvPr id="6" name="Text 4"/>
          <p:cNvSpPr/>
          <p:nvPr/>
        </p:nvSpPr>
        <p:spPr>
          <a:xfrm>
            <a:off x="661475" y="1973163"/>
            <a:ext cx="10868745" cy="231973"/>
          </a:xfrm>
          <a:prstGeom prst="rect">
            <a:avLst/>
          </a:prstGeom>
          <a:noFill/>
          <a:ln/>
        </p:spPr>
        <p:txBody>
          <a:bodyPr wrap="none" lIns="0" tIns="0" rIns="0" bIns="0" rtlCol="0" anchor="t"/>
          <a:lstStyle/>
          <a:p>
            <a:pPr marL="0" indent="0" algn="l">
              <a:lnSpc>
                <a:spcPct val="83000"/>
              </a:lnSpc>
              <a:buNone/>
            </a:pPr>
            <a:r>
              <a:rPr lang="en-US" sz="1800" dirty="0">
                <a:solidFill>
                  <a:srgbClr val="000000"/>
                </a:solidFill>
                <a:latin typeface="DM Sans SemiBold" pitchFamily="34" charset="0"/>
                <a:ea typeface="DM Sans SemiBold" pitchFamily="34" charset="-122"/>
                <a:cs typeface="DM Sans SemiBold" pitchFamily="34" charset="-120"/>
              </a:rPr>
              <a:t>Key Analysis Areas:</a:t>
            </a:r>
            <a:endParaRPr lang="en-US" sz="1800" dirty="0"/>
          </a:p>
        </p:txBody>
      </p:sp>
      <p:sp>
        <p:nvSpPr>
          <p:cNvPr id="7" name="Text 5"/>
          <p:cNvSpPr/>
          <p:nvPr/>
        </p:nvSpPr>
        <p:spPr>
          <a:xfrm>
            <a:off x="661475" y="2422029"/>
            <a:ext cx="10868745" cy="929680"/>
          </a:xfrm>
          <a:prstGeom prst="rect">
            <a:avLst/>
          </a:prstGeom>
          <a:noFill/>
          <a:ln/>
        </p:spPr>
        <p:txBody>
          <a:bodyPr wrap="square" lIns="0" tIns="0" rIns="0" bIns="0" rtlCol="0" anchor="t">
            <a:normAutofit/>
          </a:bodyPr>
          <a:lstStyle/>
          <a:p>
            <a:pPr marL="243840" indent="-243840" algn="l">
              <a:lnSpc>
                <a:spcPct val="105000"/>
              </a:lnSpc>
              <a:buSzPct val="100000"/>
              <a:buChar char="•"/>
            </a:pPr>
            <a:r>
              <a:rPr lang="en-US" sz="1200" dirty="0">
                <a:solidFill>
                  <a:srgbClr val="272525"/>
                </a:solidFill>
                <a:latin typeface="DM Sans" pitchFamily="34" charset="0"/>
                <a:ea typeface="DM Sans" pitchFamily="34" charset="-122"/>
                <a:cs typeface="DM Sans" pitchFamily="34" charset="-120"/>
              </a:rPr>
              <a:t>Demographic breakdown (Age, Gender, Occupation)</a:t>
            </a:r>
            <a:endParaRPr lang="en-US" sz="1200" dirty="0"/>
          </a:p>
          <a:p>
            <a:pPr marL="243840" indent="-243840" algn="l">
              <a:lnSpc>
                <a:spcPct val="105000"/>
              </a:lnSpc>
              <a:buSzPct val="100000"/>
              <a:buChar char="•"/>
            </a:pPr>
            <a:r>
              <a:rPr lang="en-US" sz="1200" dirty="0">
                <a:solidFill>
                  <a:srgbClr val="272525"/>
                </a:solidFill>
                <a:latin typeface="DM Sans" pitchFamily="34" charset="0"/>
                <a:ea typeface="DM Sans" pitchFamily="34" charset="-122"/>
                <a:cs typeface="DM Sans" pitchFamily="34" charset="-120"/>
              </a:rPr>
              <a:t>UPI app usage distribution and preferences</a:t>
            </a:r>
            <a:endParaRPr lang="en-US" sz="1200" dirty="0"/>
          </a:p>
          <a:p>
            <a:pPr marL="243840" indent="-243840" algn="l">
              <a:lnSpc>
                <a:spcPct val="105000"/>
              </a:lnSpc>
              <a:buSzPct val="100000"/>
              <a:buChar char="•"/>
            </a:pPr>
            <a:r>
              <a:rPr lang="en-US" sz="1200" dirty="0">
                <a:solidFill>
                  <a:srgbClr val="272525"/>
                </a:solidFill>
                <a:latin typeface="DM Sans" pitchFamily="34" charset="0"/>
                <a:ea typeface="DM Sans" pitchFamily="34" charset="-122"/>
                <a:cs typeface="DM Sans" pitchFamily="34" charset="-120"/>
              </a:rPr>
              <a:t>Customer satisfaction metrics</a:t>
            </a:r>
            <a:endParaRPr lang="en-US" sz="1200" dirty="0"/>
          </a:p>
          <a:p>
            <a:pPr marL="243840" indent="-243840" algn="l">
              <a:lnSpc>
                <a:spcPct val="105000"/>
              </a:lnSpc>
              <a:buSzPct val="100000"/>
              <a:buChar char="•"/>
            </a:pPr>
            <a:r>
              <a:rPr lang="en-US" sz="1200" dirty="0">
                <a:solidFill>
                  <a:srgbClr val="272525"/>
                </a:solidFill>
                <a:latin typeface="DM Sans" pitchFamily="34" charset="0"/>
                <a:ea typeface="DM Sans" pitchFamily="34" charset="-122"/>
                <a:cs typeface="DM Sans" pitchFamily="34" charset="-120"/>
              </a:rPr>
              <a:t>Churn patterns and reasons</a:t>
            </a:r>
            <a:endParaRPr lang="en-US" sz="1200" dirty="0"/>
          </a:p>
        </p:txBody>
      </p:sp>
      <p:sp>
        <p:nvSpPr>
          <p:cNvPr id="8" name="Text 6"/>
          <p:cNvSpPr/>
          <p:nvPr/>
        </p:nvSpPr>
        <p:spPr>
          <a:xfrm>
            <a:off x="661475" y="3514427"/>
            <a:ext cx="10868745" cy="388938"/>
          </a:xfrm>
          <a:prstGeom prst="rect">
            <a:avLst/>
          </a:prstGeom>
          <a:noFill/>
          <a:ln/>
        </p:spPr>
        <p:txBody>
          <a:bodyPr wrap="square" lIns="0" tIns="0" rIns="0" bIns="0" rtlCol="0" anchor="t">
            <a:normAutofit/>
          </a:bodyPr>
          <a:lstStyle/>
          <a:p>
            <a:pPr marL="0" indent="0" algn="l">
              <a:lnSpc>
                <a:spcPct val="105000"/>
              </a:lnSpc>
              <a:buNone/>
            </a:pPr>
            <a:r>
              <a:rPr lang="en-US" sz="1200" dirty="0">
                <a:solidFill>
                  <a:srgbClr val="272525"/>
                </a:solidFill>
                <a:latin typeface="DM Sans" pitchFamily="34" charset="0"/>
                <a:ea typeface="DM Sans" pitchFamily="34" charset="-122"/>
                <a:cs typeface="DM Sans" pitchFamily="34" charset="-120"/>
              </a:rPr>
              <a:t>Below are screenshots of the SQL queries and their results, illustrating the analysis performed on demographics and app usage patterns from the survey data.</a:t>
            </a:r>
            <a:endParaRPr lang="en-US" sz="1200" dirty="0"/>
          </a:p>
        </p:txBody>
      </p:sp>
      <p:pic>
        <p:nvPicPr>
          <p:cNvPr id="9" name="Image 0" descr="preencoded.png"/>
          <p:cNvPicPr>
            <a:picLocks noChangeAspect="1"/>
          </p:cNvPicPr>
          <p:nvPr/>
        </p:nvPicPr>
        <p:blipFill>
          <a:blip r:embed="rId3"/>
          <a:stretch>
            <a:fillRect/>
          </a:stretch>
        </p:blipFill>
        <p:spPr>
          <a:xfrm>
            <a:off x="667825" y="4166791"/>
            <a:ext cx="2072231" cy="2072283"/>
          </a:xfrm>
          <a:prstGeom prst="rect">
            <a:avLst/>
          </a:prstGeom>
        </p:spPr>
      </p:pic>
      <p:pic>
        <p:nvPicPr>
          <p:cNvPr id="10" name="Image 1" descr="preencoded.png"/>
          <p:cNvPicPr>
            <a:picLocks noChangeAspect="1"/>
          </p:cNvPicPr>
          <p:nvPr/>
        </p:nvPicPr>
        <p:blipFill>
          <a:blip r:embed="rId4"/>
          <a:stretch>
            <a:fillRect/>
          </a:stretch>
        </p:blipFill>
        <p:spPr>
          <a:xfrm>
            <a:off x="2863778" y="4166791"/>
            <a:ext cx="2072231" cy="2072283"/>
          </a:xfrm>
          <a:prstGeom prst="rect">
            <a:avLst/>
          </a:prstGeom>
        </p:spPr>
      </p:pic>
      <p:pic>
        <p:nvPicPr>
          <p:cNvPr id="11" name="Image 2" descr="preencoded.png"/>
          <p:cNvPicPr>
            <a:picLocks noChangeAspect="1"/>
          </p:cNvPicPr>
          <p:nvPr/>
        </p:nvPicPr>
        <p:blipFill>
          <a:blip r:embed="rId5"/>
          <a:stretch>
            <a:fillRect/>
          </a:stretch>
        </p:blipFill>
        <p:spPr>
          <a:xfrm>
            <a:off x="5059732" y="4166791"/>
            <a:ext cx="2072231" cy="2072283"/>
          </a:xfrm>
          <a:prstGeom prst="rect">
            <a:avLst/>
          </a:prstGeom>
        </p:spPr>
      </p:pic>
      <p:pic>
        <p:nvPicPr>
          <p:cNvPr id="12" name="Image 3" descr="preencoded.png"/>
          <p:cNvPicPr>
            <a:picLocks noChangeAspect="1"/>
          </p:cNvPicPr>
          <p:nvPr/>
        </p:nvPicPr>
        <p:blipFill>
          <a:blip r:embed="rId6"/>
          <a:stretch>
            <a:fillRect/>
          </a:stretch>
        </p:blipFill>
        <p:spPr>
          <a:xfrm>
            <a:off x="7255686" y="4166791"/>
            <a:ext cx="2072231" cy="2072283"/>
          </a:xfrm>
          <a:prstGeom prst="rect">
            <a:avLst/>
          </a:prstGeom>
        </p:spPr>
      </p:pic>
      <p:pic>
        <p:nvPicPr>
          <p:cNvPr id="13" name="Image 4" descr="preencoded.png"/>
          <p:cNvPicPr>
            <a:picLocks noChangeAspect="1"/>
          </p:cNvPicPr>
          <p:nvPr/>
        </p:nvPicPr>
        <p:blipFill>
          <a:blip r:embed="rId7"/>
          <a:stretch>
            <a:fillRect/>
          </a:stretch>
        </p:blipFill>
        <p:spPr>
          <a:xfrm>
            <a:off x="9451639" y="4166791"/>
            <a:ext cx="2072231" cy="20722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535087"/>
            <a:ext cx="117174" cy="117177"/>
          </a:xfrm>
          <a:prstGeom prst="rect">
            <a:avLst/>
          </a:prstGeom>
          <a:solidFill>
            <a:srgbClr val="911E1B"/>
          </a:solidFill>
          <a:ln/>
        </p:spPr>
      </p:sp>
      <p:sp>
        <p:nvSpPr>
          <p:cNvPr id="3" name="Text 1"/>
          <p:cNvSpPr/>
          <p:nvPr/>
        </p:nvSpPr>
        <p:spPr>
          <a:xfrm>
            <a:off x="837187" y="526355"/>
            <a:ext cx="2990081" cy="134739"/>
          </a:xfrm>
          <a:prstGeom prst="rect">
            <a:avLst/>
          </a:prstGeom>
          <a:noFill/>
          <a:ln/>
        </p:spPr>
        <p:txBody>
          <a:bodyPr wrap="none" lIns="0" tIns="0" rIns="0" bIns="0" rtlCol="0" anchor="t"/>
          <a:lstStyle/>
          <a:p>
            <a:pPr marL="0" indent="0" algn="l">
              <a:lnSpc>
                <a:spcPct val="96000"/>
              </a:lnSpc>
              <a:buNone/>
            </a:pPr>
            <a:r>
              <a:rPr lang="en-US" sz="900" dirty="0">
                <a:solidFill>
                  <a:srgbClr val="911E1B"/>
                </a:solidFill>
                <a:latin typeface="DM Sans" pitchFamily="34" charset="0"/>
                <a:ea typeface="DM Sans" pitchFamily="34" charset="-122"/>
                <a:cs typeface="DM Sans" pitchFamily="34" charset="-120"/>
              </a:rPr>
              <a:t>                                    DATA ANALYSIS              </a:t>
            </a:r>
            <a:endParaRPr lang="en-US" sz="900" dirty="0"/>
          </a:p>
        </p:txBody>
      </p:sp>
      <p:sp>
        <p:nvSpPr>
          <p:cNvPr id="4" name="Text 2"/>
          <p:cNvSpPr/>
          <p:nvPr/>
        </p:nvSpPr>
        <p:spPr>
          <a:xfrm>
            <a:off x="661475" y="756940"/>
            <a:ext cx="10868745" cy="366316"/>
          </a:xfrm>
          <a:prstGeom prst="rect">
            <a:avLst/>
          </a:prstGeom>
          <a:noFill/>
          <a:ln/>
        </p:spPr>
        <p:txBody>
          <a:bodyPr wrap="none" lIns="0" tIns="0" rIns="0" bIns="0" rtlCol="0" anchor="t"/>
          <a:lstStyle/>
          <a:p>
            <a:pPr marL="0" indent="0" algn="l">
              <a:lnSpc>
                <a:spcPct val="83000"/>
              </a:lnSpc>
              <a:buNone/>
            </a:pPr>
            <a:r>
              <a:rPr lang="en-US" sz="2850" dirty="0">
                <a:solidFill>
                  <a:srgbClr val="000000"/>
                </a:solidFill>
                <a:latin typeface="DM Sans SemiBold" pitchFamily="34" charset="0"/>
                <a:ea typeface="DM Sans SemiBold" pitchFamily="34" charset="-122"/>
                <a:cs typeface="DM Sans SemiBold" pitchFamily="34" charset="-120"/>
              </a:rPr>
              <a:t>Data Analysis Using SQL - Part 2</a:t>
            </a:r>
            <a:endParaRPr lang="en-US" sz="2850" dirty="0"/>
          </a:p>
        </p:txBody>
      </p:sp>
      <p:sp>
        <p:nvSpPr>
          <p:cNvPr id="5" name="Text 3"/>
          <p:cNvSpPr/>
          <p:nvPr/>
        </p:nvSpPr>
        <p:spPr>
          <a:xfrm>
            <a:off x="661475" y="1317923"/>
            <a:ext cx="10868745" cy="359172"/>
          </a:xfrm>
          <a:prstGeom prst="rect">
            <a:avLst/>
          </a:prstGeom>
          <a:noFill/>
          <a:ln/>
        </p:spPr>
        <p:txBody>
          <a:bodyPr wrap="square" lIns="0" tIns="0" rIns="0" bIns="0" rtlCol="0" anchor="t">
            <a:normAutofit/>
          </a:bodyPr>
          <a:lstStyle/>
          <a:p>
            <a:pPr marL="0" indent="0" algn="l">
              <a:lnSpc>
                <a:spcPct val="102000"/>
              </a:lnSpc>
              <a:buNone/>
            </a:pPr>
            <a:r>
              <a:rPr lang="en-US" sz="1150" dirty="0">
                <a:solidFill>
                  <a:srgbClr val="272525"/>
                </a:solidFill>
                <a:latin typeface="DM Sans" pitchFamily="34" charset="0"/>
                <a:ea typeface="DM Sans" pitchFamily="34" charset="-122"/>
                <a:cs typeface="DM Sans" pitchFamily="34" charset="-120"/>
              </a:rPr>
              <a:t>Continued SQL analysis focusing on customer behavior, satisfaction metrics, and retention factors. This section examines the key drivers of churn and loyalty among UPI platform users.</a:t>
            </a:r>
            <a:endParaRPr lang="en-US" sz="1150" dirty="0"/>
          </a:p>
        </p:txBody>
      </p:sp>
      <p:sp>
        <p:nvSpPr>
          <p:cNvPr id="6" name="Text 4"/>
          <p:cNvSpPr/>
          <p:nvPr/>
        </p:nvSpPr>
        <p:spPr>
          <a:xfrm>
            <a:off x="661475" y="1871762"/>
            <a:ext cx="10868745" cy="219770"/>
          </a:xfrm>
          <a:prstGeom prst="rect">
            <a:avLst/>
          </a:prstGeom>
          <a:noFill/>
          <a:ln/>
        </p:spPr>
        <p:txBody>
          <a:bodyPr wrap="none" lIns="0" tIns="0" rIns="0" bIns="0" rtlCol="0" anchor="t"/>
          <a:lstStyle/>
          <a:p>
            <a:pPr marL="0" indent="0" algn="l">
              <a:lnSpc>
                <a:spcPct val="83000"/>
              </a:lnSpc>
              <a:buNone/>
            </a:pPr>
            <a:r>
              <a:rPr lang="en-US" sz="1700" dirty="0">
                <a:solidFill>
                  <a:srgbClr val="000000"/>
                </a:solidFill>
                <a:latin typeface="DM Sans SemiBold" pitchFamily="34" charset="0"/>
                <a:ea typeface="DM Sans SemiBold" pitchFamily="34" charset="-122"/>
                <a:cs typeface="DM Sans SemiBold" pitchFamily="34" charset="-120"/>
              </a:rPr>
              <a:t>Key Metrics Analyzed:</a:t>
            </a:r>
            <a:endParaRPr lang="en-US" sz="1700" dirty="0"/>
          </a:p>
        </p:txBody>
      </p:sp>
      <p:sp>
        <p:nvSpPr>
          <p:cNvPr id="7" name="Text 5"/>
          <p:cNvSpPr/>
          <p:nvPr/>
        </p:nvSpPr>
        <p:spPr>
          <a:xfrm>
            <a:off x="661475" y="2286198"/>
            <a:ext cx="10868745" cy="1304230"/>
          </a:xfrm>
          <a:prstGeom prst="rect">
            <a:avLst/>
          </a:prstGeom>
          <a:noFill/>
          <a:ln/>
        </p:spPr>
        <p:txBody>
          <a:bodyPr wrap="square" lIns="0" tIns="0" rIns="0" bIns="0" rtlCol="0" anchor="t">
            <a:normAutofit/>
          </a:bodyPr>
          <a:lstStyle/>
          <a:p>
            <a:pPr marL="233680" indent="-233680" algn="l">
              <a:lnSpc>
                <a:spcPct val="102000"/>
              </a:lnSpc>
              <a:buSzPct val="100000"/>
              <a:buChar char="•"/>
            </a:pPr>
            <a:r>
              <a:rPr lang="en-US" sz="1150" dirty="0">
                <a:solidFill>
                  <a:srgbClr val="272525"/>
                </a:solidFill>
                <a:latin typeface="DM Sans" pitchFamily="34" charset="0"/>
                <a:ea typeface="DM Sans" pitchFamily="34" charset="-122"/>
                <a:cs typeface="DM Sans" pitchFamily="34" charset="-120"/>
              </a:rPr>
              <a:t>Customer satisfaction levels and ratings</a:t>
            </a:r>
            <a:endParaRPr lang="en-US" sz="1150" dirty="0"/>
          </a:p>
          <a:p>
            <a:pPr marL="233680" indent="-233680" algn="l">
              <a:lnSpc>
                <a:spcPct val="102000"/>
              </a:lnSpc>
              <a:buSzPct val="100000"/>
              <a:buChar char="•"/>
            </a:pPr>
            <a:r>
              <a:rPr lang="en-US" sz="1150" dirty="0">
                <a:solidFill>
                  <a:srgbClr val="272525"/>
                </a:solidFill>
                <a:latin typeface="DM Sans" pitchFamily="34" charset="0"/>
                <a:ea typeface="DM Sans" pitchFamily="34" charset="-122"/>
                <a:cs typeface="DM Sans" pitchFamily="34" charset="-120"/>
              </a:rPr>
              <a:t>Churn experience and discontinuation patterns</a:t>
            </a:r>
            <a:endParaRPr lang="en-US" sz="1150" dirty="0"/>
          </a:p>
          <a:p>
            <a:pPr marL="233680" indent="-233680" algn="l">
              <a:lnSpc>
                <a:spcPct val="102000"/>
              </a:lnSpc>
              <a:buSzPct val="100000"/>
              <a:buChar char="•"/>
            </a:pPr>
            <a:r>
              <a:rPr lang="en-US" sz="1150" dirty="0">
                <a:solidFill>
                  <a:srgbClr val="272525"/>
                </a:solidFill>
                <a:latin typeface="DM Sans" pitchFamily="34" charset="0"/>
                <a:ea typeface="DM Sans" pitchFamily="34" charset="-122"/>
                <a:cs typeface="DM Sans" pitchFamily="34" charset="-120"/>
              </a:rPr>
              <a:t>Primary reasons for app discontinuation</a:t>
            </a:r>
            <a:endParaRPr lang="en-US" sz="1150" dirty="0"/>
          </a:p>
          <a:p>
            <a:pPr marL="233680" indent="-233680" algn="l">
              <a:lnSpc>
                <a:spcPct val="102000"/>
              </a:lnSpc>
              <a:buSzPct val="100000"/>
              <a:buChar char="•"/>
            </a:pPr>
            <a:r>
              <a:rPr lang="en-US" sz="1150" dirty="0">
                <a:solidFill>
                  <a:srgbClr val="272525"/>
                </a:solidFill>
                <a:latin typeface="DM Sans" pitchFamily="34" charset="0"/>
                <a:ea typeface="DM Sans" pitchFamily="34" charset="-122"/>
                <a:cs typeface="DM Sans" pitchFamily="34" charset="-120"/>
              </a:rPr>
              <a:t>Important factors influencing platform choice</a:t>
            </a:r>
            <a:endParaRPr lang="en-US" sz="1150" dirty="0"/>
          </a:p>
          <a:p>
            <a:pPr marL="233680" indent="-233680" algn="l">
              <a:lnSpc>
                <a:spcPct val="102000"/>
              </a:lnSpc>
              <a:buSzPct val="100000"/>
              <a:buChar char="•"/>
            </a:pPr>
            <a:r>
              <a:rPr lang="en-US" sz="1150" dirty="0">
                <a:solidFill>
                  <a:srgbClr val="272525"/>
                </a:solidFill>
                <a:latin typeface="DM Sans" pitchFamily="34" charset="0"/>
                <a:ea typeface="DM Sans" pitchFamily="34" charset="-122"/>
                <a:cs typeface="DM Sans" pitchFamily="34" charset="-120"/>
              </a:rPr>
              <a:t>Impact of offers and incentives on retention</a:t>
            </a:r>
            <a:endParaRPr lang="en-US" sz="1150" dirty="0"/>
          </a:p>
          <a:p>
            <a:pPr marL="233680" indent="-233680" algn="l">
              <a:lnSpc>
                <a:spcPct val="102000"/>
              </a:lnSpc>
              <a:buSzPct val="100000"/>
              <a:buChar char="•"/>
            </a:pPr>
            <a:r>
              <a:rPr lang="en-US" sz="1150" dirty="0">
                <a:solidFill>
                  <a:srgbClr val="272525"/>
                </a:solidFill>
                <a:latin typeface="DM Sans" pitchFamily="34" charset="0"/>
                <a:ea typeface="DM Sans" pitchFamily="34" charset="-122"/>
                <a:cs typeface="DM Sans" pitchFamily="34" charset="-120"/>
              </a:rPr>
              <a:t>Loyalty factors and user retention drivers</a:t>
            </a:r>
            <a:endParaRPr lang="en-US" sz="1150" dirty="0"/>
          </a:p>
        </p:txBody>
      </p:sp>
      <p:sp>
        <p:nvSpPr>
          <p:cNvPr id="8" name="Text 6"/>
          <p:cNvSpPr/>
          <p:nvPr/>
        </p:nvSpPr>
        <p:spPr>
          <a:xfrm>
            <a:off x="661475" y="3736380"/>
            <a:ext cx="11478330" cy="179586"/>
          </a:xfrm>
          <a:prstGeom prst="rect">
            <a:avLst/>
          </a:prstGeom>
          <a:noFill/>
          <a:ln/>
        </p:spPr>
        <p:txBody>
          <a:bodyPr wrap="none" lIns="0" tIns="0" rIns="0" bIns="0" rtlCol="0" anchor="t"/>
          <a:lstStyle/>
          <a:p>
            <a:pPr marL="0" indent="0" algn="l">
              <a:lnSpc>
                <a:spcPct val="102000"/>
              </a:lnSpc>
              <a:buNone/>
            </a:pPr>
            <a:r>
              <a:rPr lang="en-US" sz="1150" dirty="0">
                <a:solidFill>
                  <a:srgbClr val="272525"/>
                </a:solidFill>
                <a:latin typeface="DM Sans" pitchFamily="34" charset="0"/>
                <a:ea typeface="DM Sans" pitchFamily="34" charset="-122"/>
                <a:cs typeface="DM Sans" pitchFamily="34" charset="-120"/>
              </a:rPr>
              <a:t>Display all SQL query screenshots and results in a gallery showing the analysis of satisfaction, churn reasons, important factors, and offer motivation.</a:t>
            </a:r>
            <a:endParaRPr lang="en-US" sz="1150" dirty="0"/>
          </a:p>
        </p:txBody>
      </p:sp>
      <p:pic>
        <p:nvPicPr>
          <p:cNvPr id="9" name="Image 0" descr="preencoded.png"/>
          <p:cNvPicPr>
            <a:picLocks noChangeAspect="1"/>
          </p:cNvPicPr>
          <p:nvPr/>
        </p:nvPicPr>
        <p:blipFill>
          <a:blip r:embed="rId3"/>
          <a:stretch>
            <a:fillRect/>
          </a:stretch>
        </p:blipFill>
        <p:spPr>
          <a:xfrm>
            <a:off x="667825" y="4157662"/>
            <a:ext cx="2077390" cy="2077442"/>
          </a:xfrm>
          <a:prstGeom prst="rect">
            <a:avLst/>
          </a:prstGeom>
        </p:spPr>
      </p:pic>
      <p:pic>
        <p:nvPicPr>
          <p:cNvPr id="10" name="Image 1" descr="preencoded.png"/>
          <p:cNvPicPr>
            <a:picLocks noChangeAspect="1"/>
          </p:cNvPicPr>
          <p:nvPr/>
        </p:nvPicPr>
        <p:blipFill>
          <a:blip r:embed="rId4"/>
          <a:stretch>
            <a:fillRect/>
          </a:stretch>
        </p:blipFill>
        <p:spPr>
          <a:xfrm>
            <a:off x="2862389" y="4157662"/>
            <a:ext cx="2077489" cy="2077541"/>
          </a:xfrm>
          <a:prstGeom prst="rect">
            <a:avLst/>
          </a:prstGeom>
        </p:spPr>
      </p:pic>
      <p:pic>
        <p:nvPicPr>
          <p:cNvPr id="11" name="Image 2" descr="preencoded.png"/>
          <p:cNvPicPr>
            <a:picLocks noChangeAspect="1"/>
          </p:cNvPicPr>
          <p:nvPr/>
        </p:nvPicPr>
        <p:blipFill>
          <a:blip r:embed="rId5"/>
          <a:stretch>
            <a:fillRect/>
          </a:stretch>
        </p:blipFill>
        <p:spPr>
          <a:xfrm>
            <a:off x="5057053" y="4157662"/>
            <a:ext cx="2077489" cy="2077541"/>
          </a:xfrm>
          <a:prstGeom prst="rect">
            <a:avLst/>
          </a:prstGeom>
        </p:spPr>
      </p:pic>
      <p:pic>
        <p:nvPicPr>
          <p:cNvPr id="12" name="Image 3" descr="preencoded.png"/>
          <p:cNvPicPr>
            <a:picLocks noChangeAspect="1"/>
          </p:cNvPicPr>
          <p:nvPr/>
        </p:nvPicPr>
        <p:blipFill>
          <a:blip r:embed="rId6"/>
          <a:stretch>
            <a:fillRect/>
          </a:stretch>
        </p:blipFill>
        <p:spPr>
          <a:xfrm>
            <a:off x="7251717" y="4157662"/>
            <a:ext cx="2077489" cy="2077541"/>
          </a:xfrm>
          <a:prstGeom prst="rect">
            <a:avLst/>
          </a:prstGeom>
        </p:spPr>
      </p:pic>
      <p:pic>
        <p:nvPicPr>
          <p:cNvPr id="13" name="Image 4" descr="preencoded.png"/>
          <p:cNvPicPr>
            <a:picLocks noChangeAspect="1"/>
          </p:cNvPicPr>
          <p:nvPr/>
        </p:nvPicPr>
        <p:blipFill>
          <a:blip r:embed="rId6"/>
          <a:stretch>
            <a:fillRect/>
          </a:stretch>
        </p:blipFill>
        <p:spPr>
          <a:xfrm>
            <a:off x="9446381" y="4157662"/>
            <a:ext cx="2077489" cy="20775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686495"/>
            <a:ext cx="10868745" cy="413445"/>
          </a:xfrm>
          <a:prstGeom prst="rect">
            <a:avLst/>
          </a:prstGeom>
          <a:noFill/>
          <a:ln/>
        </p:spPr>
        <p:txBody>
          <a:bodyPr wrap="none" lIns="0" tIns="0" rIns="0" bIns="0" rtlCol="0" anchor="t"/>
          <a:lstStyle/>
          <a:p>
            <a:pPr marL="0" indent="0" algn="l">
              <a:lnSpc>
                <a:spcPct val="83000"/>
              </a:lnSpc>
              <a:buNone/>
            </a:pPr>
            <a:r>
              <a:rPr lang="en-US" sz="3250" dirty="0">
                <a:solidFill>
                  <a:srgbClr val="000000"/>
                </a:solidFill>
                <a:latin typeface="DM Sans SemiBold" pitchFamily="34" charset="0"/>
                <a:ea typeface="DM Sans SemiBold" pitchFamily="34" charset="-122"/>
                <a:cs typeface="DM Sans SemiBold" pitchFamily="34" charset="-120"/>
              </a:rPr>
              <a:t>Executive Dashboard: </a:t>
            </a:r>
            <a:endParaRPr lang="en-US" sz="3250" dirty="0"/>
          </a:p>
        </p:txBody>
      </p:sp>
      <p:pic>
        <p:nvPicPr>
          <p:cNvPr id="3" name="Image 0" descr="preencoded.png"/>
          <p:cNvPicPr>
            <a:picLocks noChangeAspect="1"/>
          </p:cNvPicPr>
          <p:nvPr/>
        </p:nvPicPr>
        <p:blipFill>
          <a:blip r:embed="rId3"/>
          <a:stretch>
            <a:fillRect/>
          </a:stretch>
        </p:blipFill>
        <p:spPr>
          <a:xfrm>
            <a:off x="661475" y="1430635"/>
            <a:ext cx="10868745" cy="47408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1250302"/>
            <a:ext cx="10868745" cy="4044606"/>
          </a:xfrm>
          <a:prstGeom prst="rect">
            <a:avLst/>
          </a:prstGeom>
        </p:spPr>
      </p:pic>
      <p:sp>
        <p:nvSpPr>
          <p:cNvPr id="3" name="Text 0"/>
          <p:cNvSpPr/>
          <p:nvPr/>
        </p:nvSpPr>
        <p:spPr>
          <a:xfrm>
            <a:off x="661475" y="5542955"/>
            <a:ext cx="10868745" cy="413445"/>
          </a:xfrm>
          <a:prstGeom prst="rect">
            <a:avLst/>
          </a:prstGeom>
          <a:noFill/>
          <a:ln/>
        </p:spPr>
        <p:txBody>
          <a:bodyPr wrap="none" lIns="0" tIns="0" rIns="0" bIns="0" rtlCol="0" anchor="t"/>
          <a:lstStyle/>
          <a:p>
            <a:pPr marL="0" indent="0" algn="l">
              <a:lnSpc>
                <a:spcPct val="83000"/>
              </a:lnSpc>
              <a:buNone/>
            </a:pPr>
            <a:endParaRPr lang="en-US" sz="3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454819"/>
            <a:ext cx="10868745" cy="134342"/>
          </a:xfrm>
          <a:prstGeom prst="rect">
            <a:avLst/>
          </a:prstGeom>
          <a:noFill/>
          <a:ln/>
        </p:spPr>
        <p:txBody>
          <a:bodyPr wrap="none" lIns="0" tIns="0" rIns="0" bIns="0" rtlCol="0" anchor="t"/>
          <a:lstStyle/>
          <a:p>
            <a:pPr marL="0" indent="0" algn="l">
              <a:lnSpc>
                <a:spcPct val="83000"/>
              </a:lnSpc>
              <a:buNone/>
            </a:pPr>
            <a:r>
              <a:rPr lang="en-US" sz="1050" dirty="0">
                <a:solidFill>
                  <a:srgbClr val="000000"/>
                </a:solidFill>
                <a:latin typeface="DM Sans SemiBold" pitchFamily="34" charset="0"/>
                <a:ea typeface="DM Sans SemiBold" pitchFamily="34" charset="-122"/>
                <a:cs typeface="DM Sans SemiBold" pitchFamily="34" charset="-120"/>
              </a:rPr>
              <a:t>Results &amp; Analysis - Demographic Insights</a:t>
            </a:r>
            <a:endParaRPr lang="en-US" sz="1050" dirty="0"/>
          </a:p>
        </p:txBody>
      </p:sp>
      <p:sp>
        <p:nvSpPr>
          <p:cNvPr id="3" name="Text 1"/>
          <p:cNvSpPr/>
          <p:nvPr/>
        </p:nvSpPr>
        <p:spPr>
          <a:xfrm>
            <a:off x="661475" y="596106"/>
            <a:ext cx="10868745" cy="107553"/>
          </a:xfrm>
          <a:prstGeom prst="rect">
            <a:avLst/>
          </a:prstGeom>
          <a:noFill/>
          <a:ln/>
        </p:spPr>
        <p:txBody>
          <a:bodyPr wrap="none" lIns="0" tIns="0" rIns="0" bIns="0" rtlCol="0" anchor="t"/>
          <a:lstStyle/>
          <a:p>
            <a:pPr marL="0" indent="0" algn="l">
              <a:lnSpc>
                <a:spcPct val="83000"/>
              </a:lnSpc>
              <a:buNone/>
            </a:pPr>
            <a:r>
              <a:rPr lang="en-US" sz="800" dirty="0">
                <a:solidFill>
                  <a:srgbClr val="000000"/>
                </a:solidFill>
                <a:latin typeface="DM Sans SemiBold" pitchFamily="34" charset="0"/>
                <a:ea typeface="DM Sans SemiBold" pitchFamily="34" charset="-122"/>
                <a:cs typeface="DM Sans SemiBold" pitchFamily="34" charset="-120"/>
              </a:rPr>
              <a:t>Gender-wise Distribution</a:t>
            </a:r>
            <a:endParaRPr lang="en-US" sz="800" dirty="0"/>
          </a:p>
        </p:txBody>
      </p:sp>
      <p:pic>
        <p:nvPicPr>
          <p:cNvPr id="4" name="Image 0" descr="preencoded.png"/>
          <p:cNvPicPr>
            <a:picLocks noChangeAspect="1"/>
          </p:cNvPicPr>
          <p:nvPr/>
        </p:nvPicPr>
        <p:blipFill>
          <a:blip r:embed="rId3"/>
          <a:stretch>
            <a:fillRect/>
          </a:stretch>
        </p:blipFill>
        <p:spPr>
          <a:xfrm>
            <a:off x="661475" y="1809722"/>
            <a:ext cx="4918231" cy="2950298"/>
          </a:xfrm>
          <a:prstGeom prst="rect">
            <a:avLst/>
          </a:prstGeom>
        </p:spPr>
      </p:pic>
      <p:sp>
        <p:nvSpPr>
          <p:cNvPr id="6" name="Text 3"/>
          <p:cNvSpPr/>
          <p:nvPr/>
        </p:nvSpPr>
        <p:spPr>
          <a:xfrm>
            <a:off x="661475" y="5029199"/>
            <a:ext cx="10868745" cy="560163"/>
          </a:xfrm>
          <a:prstGeom prst="rect">
            <a:avLst/>
          </a:prstGeom>
          <a:noFill/>
          <a:ln/>
        </p:spPr>
        <p:txBody>
          <a:bodyPr wrap="none" lIns="0" tIns="0" rIns="0" bIns="0" rtlCol="0" anchor="t"/>
          <a:lstStyle/>
          <a:p>
            <a:pPr marL="0" indent="0" algn="l">
              <a:lnSpc>
                <a:spcPct val="83000"/>
              </a:lnSpc>
              <a:buNone/>
            </a:pPr>
            <a:r>
              <a:rPr lang="en-US" sz="800" dirty="0">
                <a:solidFill>
                  <a:srgbClr val="000000"/>
                </a:solidFill>
                <a:latin typeface="DM Sans SemiBold" pitchFamily="34" charset="0"/>
                <a:ea typeface="DM Sans SemiBold" pitchFamily="34" charset="-122"/>
                <a:cs typeface="DM Sans SemiBold" pitchFamily="34" charset="-120"/>
              </a:rPr>
              <a:t>Age-wise Distribution</a:t>
            </a:r>
            <a:endParaRPr lang="en-US" sz="800" dirty="0"/>
          </a:p>
        </p:txBody>
      </p:sp>
      <p:pic>
        <p:nvPicPr>
          <p:cNvPr id="7" name="Image 1" descr="preencoded.png"/>
          <p:cNvPicPr>
            <a:picLocks noChangeAspect="1"/>
          </p:cNvPicPr>
          <p:nvPr/>
        </p:nvPicPr>
        <p:blipFill>
          <a:blip r:embed="rId4"/>
          <a:stretch>
            <a:fillRect/>
          </a:stretch>
        </p:blipFill>
        <p:spPr>
          <a:xfrm>
            <a:off x="6251510" y="1585787"/>
            <a:ext cx="5383764" cy="3121448"/>
          </a:xfrm>
          <a:prstGeom prst="rect">
            <a:avLst/>
          </a:prstGeom>
        </p:spPr>
      </p:pic>
      <p:sp>
        <p:nvSpPr>
          <p:cNvPr id="8" name="Text 4"/>
          <p:cNvSpPr/>
          <p:nvPr/>
        </p:nvSpPr>
        <p:spPr>
          <a:xfrm>
            <a:off x="661475" y="8890794"/>
            <a:ext cx="11478330" cy="46236"/>
          </a:xfrm>
          <a:prstGeom prst="rect">
            <a:avLst/>
          </a:prstGeom>
          <a:noFill/>
          <a:ln/>
        </p:spPr>
        <p:txBody>
          <a:bodyPr wrap="none" lIns="0" tIns="0" rIns="0" bIns="0" rtlCol="0" anchor="t"/>
          <a:lstStyle/>
          <a:p>
            <a:pPr marL="0" indent="0" algn="l">
              <a:lnSpc>
                <a:spcPct val="72000"/>
              </a:lnSpc>
              <a:buNone/>
            </a:pPr>
            <a:r>
              <a:rPr lang="en-US" sz="400" dirty="0">
                <a:solidFill>
                  <a:srgbClr val="272525"/>
                </a:solidFill>
                <a:latin typeface="DM Sans" pitchFamily="34" charset="0"/>
                <a:ea typeface="DM Sans" pitchFamily="34" charset="-122"/>
                <a:cs typeface="DM Sans" pitchFamily="34" charset="-120"/>
              </a:rPr>
              <a:t>More than half of respondents fall in the 26-35 age group, indicating young adults are the primary UPI users in this sample. The tilt towards younger users reflects their comfort with smartphones and willingness to adopt new payment habits, meaning churn patterns are largely viewed through digitally confident eyes.</a:t>
            </a:r>
            <a:endParaRPr lang="en-US" sz="400" dirty="0"/>
          </a:p>
        </p:txBody>
      </p:sp>
      <p:sp>
        <p:nvSpPr>
          <p:cNvPr id="9" name="Text 5"/>
          <p:cNvSpPr/>
          <p:nvPr/>
        </p:nvSpPr>
        <p:spPr>
          <a:xfrm>
            <a:off x="661475" y="8963223"/>
            <a:ext cx="10868745" cy="107553"/>
          </a:xfrm>
          <a:prstGeom prst="rect">
            <a:avLst/>
          </a:prstGeom>
          <a:noFill/>
          <a:ln/>
        </p:spPr>
        <p:txBody>
          <a:bodyPr wrap="none" lIns="0" tIns="0" rIns="0" bIns="0" rtlCol="0" anchor="t"/>
          <a:lstStyle/>
          <a:p>
            <a:pPr marL="0" indent="0" algn="l">
              <a:lnSpc>
                <a:spcPct val="83000"/>
              </a:lnSpc>
              <a:buNone/>
            </a:pPr>
            <a:r>
              <a:rPr lang="en-US" sz="800" dirty="0">
                <a:solidFill>
                  <a:srgbClr val="000000"/>
                </a:solidFill>
                <a:latin typeface="DM Sans SemiBold" pitchFamily="34" charset="0"/>
                <a:ea typeface="DM Sans SemiBold" pitchFamily="34" charset="-122"/>
                <a:cs typeface="DM Sans SemiBold" pitchFamily="34" charset="-120"/>
              </a:rPr>
              <a:t>Occupation Distribution</a:t>
            </a:r>
            <a:endParaRPr lang="en-US" sz="800" dirty="0"/>
          </a:p>
        </p:txBody>
      </p:sp>
      <p:pic>
        <p:nvPicPr>
          <p:cNvPr id="10" name="Image 2" descr="preencoded.png"/>
          <p:cNvPicPr>
            <a:picLocks noChangeAspect="1"/>
          </p:cNvPicPr>
          <p:nvPr/>
        </p:nvPicPr>
        <p:blipFill>
          <a:blip r:embed="rId5"/>
          <a:stretch>
            <a:fillRect/>
          </a:stretch>
        </p:blipFill>
        <p:spPr>
          <a:xfrm>
            <a:off x="661475" y="9096970"/>
            <a:ext cx="7064595" cy="3957737"/>
          </a:xfrm>
          <a:prstGeom prst="rect">
            <a:avLst/>
          </a:prstGeom>
        </p:spPr>
      </p:pic>
      <p:sp>
        <p:nvSpPr>
          <p:cNvPr id="11" name="Text 6"/>
          <p:cNvSpPr/>
          <p:nvPr/>
        </p:nvSpPr>
        <p:spPr>
          <a:xfrm>
            <a:off x="661475" y="13074352"/>
            <a:ext cx="11478330" cy="46236"/>
          </a:xfrm>
          <a:prstGeom prst="rect">
            <a:avLst/>
          </a:prstGeom>
          <a:noFill/>
          <a:ln/>
        </p:spPr>
        <p:txBody>
          <a:bodyPr wrap="none" lIns="0" tIns="0" rIns="0" bIns="0" rtlCol="0" anchor="t"/>
          <a:lstStyle/>
          <a:p>
            <a:pPr marL="0" indent="0" algn="l">
              <a:lnSpc>
                <a:spcPct val="72000"/>
              </a:lnSpc>
              <a:buNone/>
            </a:pPr>
            <a:r>
              <a:rPr lang="en-US" sz="400" dirty="0">
                <a:solidFill>
                  <a:srgbClr val="272525"/>
                </a:solidFill>
                <a:latin typeface="DM Sans" pitchFamily="34" charset="0"/>
                <a:ea typeface="DM Sans" pitchFamily="34" charset="-122"/>
                <a:cs typeface="DM Sans" pitchFamily="34" charset="-120"/>
              </a:rPr>
              <a:t>Working Professionals dominate the sample at 64%, with students close behind at 33%. This spread shows UPI has become a common tool across working and studying life, not confined to any single occupation.</a:t>
            </a:r>
            <a:endParaRPr lang="en-US" sz="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454819"/>
            <a:ext cx="10868745" cy="134342"/>
          </a:xfrm>
          <a:prstGeom prst="rect">
            <a:avLst/>
          </a:prstGeom>
          <a:noFill/>
          <a:ln/>
        </p:spPr>
        <p:txBody>
          <a:bodyPr wrap="none" lIns="0" tIns="0" rIns="0" bIns="0" rtlCol="0" anchor="t"/>
          <a:lstStyle/>
          <a:p>
            <a:pPr marL="0" indent="0" algn="l">
              <a:lnSpc>
                <a:spcPct val="83000"/>
              </a:lnSpc>
              <a:buNone/>
            </a:pPr>
            <a:r>
              <a:rPr lang="en-US" sz="1050" dirty="0">
                <a:solidFill>
                  <a:srgbClr val="000000"/>
                </a:solidFill>
                <a:latin typeface="DM Sans SemiBold" pitchFamily="34" charset="0"/>
                <a:ea typeface="DM Sans SemiBold" pitchFamily="34" charset="-122"/>
                <a:cs typeface="DM Sans SemiBold" pitchFamily="34" charset="-120"/>
              </a:rPr>
              <a:t>Results &amp; Analysis - UPI Usage &amp; Satisfaction</a:t>
            </a:r>
            <a:endParaRPr lang="en-US" sz="1050" dirty="0"/>
          </a:p>
        </p:txBody>
      </p:sp>
      <p:sp>
        <p:nvSpPr>
          <p:cNvPr id="3" name="Text 1"/>
          <p:cNvSpPr/>
          <p:nvPr/>
        </p:nvSpPr>
        <p:spPr>
          <a:xfrm>
            <a:off x="661475" y="596106"/>
            <a:ext cx="10868745" cy="107553"/>
          </a:xfrm>
          <a:prstGeom prst="rect">
            <a:avLst/>
          </a:prstGeom>
          <a:noFill/>
          <a:ln/>
        </p:spPr>
        <p:txBody>
          <a:bodyPr wrap="none" lIns="0" tIns="0" rIns="0" bIns="0" rtlCol="0" anchor="t"/>
          <a:lstStyle/>
          <a:p>
            <a:pPr marL="0" indent="0" algn="l">
              <a:lnSpc>
                <a:spcPct val="83000"/>
              </a:lnSpc>
              <a:buNone/>
            </a:pPr>
            <a:r>
              <a:rPr lang="en-US" sz="800" dirty="0">
                <a:solidFill>
                  <a:srgbClr val="000000"/>
                </a:solidFill>
                <a:latin typeface="DM Sans SemiBold" pitchFamily="34" charset="0"/>
                <a:ea typeface="DM Sans SemiBold" pitchFamily="34" charset="-122"/>
                <a:cs typeface="DM Sans SemiBold" pitchFamily="34" charset="-120"/>
              </a:rPr>
              <a:t>8.2 UPI Usage Analysis</a:t>
            </a:r>
            <a:endParaRPr lang="en-US" sz="800" dirty="0"/>
          </a:p>
        </p:txBody>
      </p:sp>
      <p:sp>
        <p:nvSpPr>
          <p:cNvPr id="4" name="Text 2"/>
          <p:cNvSpPr/>
          <p:nvPr/>
        </p:nvSpPr>
        <p:spPr>
          <a:xfrm>
            <a:off x="661475" y="710605"/>
            <a:ext cx="10868745" cy="80665"/>
          </a:xfrm>
          <a:prstGeom prst="rect">
            <a:avLst/>
          </a:prstGeom>
          <a:noFill/>
          <a:ln/>
        </p:spPr>
        <p:txBody>
          <a:bodyPr wrap="none" lIns="0" tIns="0" rIns="0" bIns="0" rtlCol="0" anchor="t"/>
          <a:lstStyle/>
          <a:p>
            <a:pPr marL="0" indent="0" algn="l">
              <a:lnSpc>
                <a:spcPct val="83000"/>
              </a:lnSpc>
              <a:buNone/>
            </a:pPr>
            <a:r>
              <a:rPr lang="en-US" sz="600" dirty="0">
                <a:solidFill>
                  <a:srgbClr val="000000"/>
                </a:solidFill>
                <a:latin typeface="DM Sans SemiBold" pitchFamily="34" charset="0"/>
                <a:ea typeface="DM Sans SemiBold" pitchFamily="34" charset="-122"/>
                <a:cs typeface="DM Sans SemiBold" pitchFamily="34" charset="-120"/>
              </a:rPr>
              <a:t>Preferred UPI Application</a:t>
            </a:r>
            <a:endParaRPr lang="en-US" sz="600" dirty="0"/>
          </a:p>
        </p:txBody>
      </p:sp>
      <p:pic>
        <p:nvPicPr>
          <p:cNvPr id="5" name="Image 0" descr="preencoded.png"/>
          <p:cNvPicPr>
            <a:picLocks noChangeAspect="1"/>
          </p:cNvPicPr>
          <p:nvPr/>
        </p:nvPicPr>
        <p:blipFill>
          <a:blip r:embed="rId3"/>
          <a:stretch>
            <a:fillRect/>
          </a:stretch>
        </p:blipFill>
        <p:spPr>
          <a:xfrm>
            <a:off x="661476" y="1905976"/>
            <a:ext cx="5552712" cy="2668152"/>
          </a:xfrm>
          <a:prstGeom prst="rect">
            <a:avLst/>
          </a:prstGeom>
        </p:spPr>
      </p:pic>
      <p:sp>
        <p:nvSpPr>
          <p:cNvPr id="7" name="Text 4"/>
          <p:cNvSpPr/>
          <p:nvPr/>
        </p:nvSpPr>
        <p:spPr>
          <a:xfrm>
            <a:off x="661475" y="4867275"/>
            <a:ext cx="10868745" cy="80665"/>
          </a:xfrm>
          <a:prstGeom prst="rect">
            <a:avLst/>
          </a:prstGeom>
          <a:noFill/>
          <a:ln/>
        </p:spPr>
        <p:txBody>
          <a:bodyPr wrap="none" lIns="0" tIns="0" rIns="0" bIns="0" rtlCol="0" anchor="t"/>
          <a:lstStyle/>
          <a:p>
            <a:pPr marL="0" indent="0" algn="l">
              <a:lnSpc>
                <a:spcPct val="83000"/>
              </a:lnSpc>
              <a:buNone/>
            </a:pPr>
            <a:r>
              <a:rPr lang="en-US" sz="600" dirty="0">
                <a:solidFill>
                  <a:srgbClr val="000000"/>
                </a:solidFill>
                <a:latin typeface="DM Sans SemiBold" pitchFamily="34" charset="0"/>
                <a:ea typeface="DM Sans SemiBold" pitchFamily="34" charset="-122"/>
                <a:cs typeface="DM Sans SemiBold" pitchFamily="34" charset="-120"/>
              </a:rPr>
              <a:t>Frequency of UPI Usage</a:t>
            </a:r>
            <a:endParaRPr lang="en-US" sz="600" dirty="0"/>
          </a:p>
        </p:txBody>
      </p:sp>
      <p:pic>
        <p:nvPicPr>
          <p:cNvPr id="8" name="Image 1" descr="preencoded.png"/>
          <p:cNvPicPr>
            <a:picLocks noChangeAspect="1"/>
          </p:cNvPicPr>
          <p:nvPr/>
        </p:nvPicPr>
        <p:blipFill>
          <a:blip r:embed="rId4"/>
          <a:stretch>
            <a:fillRect/>
          </a:stretch>
        </p:blipFill>
        <p:spPr>
          <a:xfrm>
            <a:off x="5876176" y="1791478"/>
            <a:ext cx="6085669" cy="2888869"/>
          </a:xfrm>
          <a:prstGeom prst="rect">
            <a:avLst/>
          </a:prstGeom>
        </p:spPr>
      </p:pic>
      <p:sp>
        <p:nvSpPr>
          <p:cNvPr id="9" name="Text 5"/>
          <p:cNvSpPr/>
          <p:nvPr/>
        </p:nvSpPr>
        <p:spPr>
          <a:xfrm>
            <a:off x="661475" y="8951516"/>
            <a:ext cx="11478330" cy="46236"/>
          </a:xfrm>
          <a:prstGeom prst="rect">
            <a:avLst/>
          </a:prstGeom>
          <a:noFill/>
          <a:ln/>
        </p:spPr>
        <p:txBody>
          <a:bodyPr wrap="none" lIns="0" tIns="0" rIns="0" bIns="0" rtlCol="0" anchor="t"/>
          <a:lstStyle/>
          <a:p>
            <a:pPr marL="0" indent="0" algn="l">
              <a:lnSpc>
                <a:spcPct val="72000"/>
              </a:lnSpc>
              <a:buNone/>
            </a:pPr>
            <a:r>
              <a:rPr lang="en-US" sz="400" dirty="0">
                <a:solidFill>
                  <a:srgbClr val="272525"/>
                </a:solidFill>
                <a:latin typeface="DM Sans" pitchFamily="34" charset="0"/>
                <a:ea typeface="DM Sans" pitchFamily="34" charset="-122"/>
                <a:cs typeface="DM Sans" pitchFamily="34" charset="-120"/>
              </a:rPr>
              <a:t>A clear majority (76%) use UPI daily or multiple times daily, indicating habitual, heavy usage. This frequency is critical for understanding churn—when a service is used this often, small irritations accumulate quickly, and a series of failed transactions or poor support can trigger switching behavior.</a:t>
            </a:r>
            <a:endParaRPr lang="en-US" sz="400" dirty="0"/>
          </a:p>
        </p:txBody>
      </p:sp>
      <p:sp>
        <p:nvSpPr>
          <p:cNvPr id="10" name="Text 6"/>
          <p:cNvSpPr/>
          <p:nvPr/>
        </p:nvSpPr>
        <p:spPr>
          <a:xfrm>
            <a:off x="661475" y="9023945"/>
            <a:ext cx="10868745" cy="107553"/>
          </a:xfrm>
          <a:prstGeom prst="rect">
            <a:avLst/>
          </a:prstGeom>
          <a:noFill/>
          <a:ln/>
        </p:spPr>
        <p:txBody>
          <a:bodyPr wrap="none" lIns="0" tIns="0" rIns="0" bIns="0" rtlCol="0" anchor="t"/>
          <a:lstStyle/>
          <a:p>
            <a:pPr marL="0" indent="0" algn="l">
              <a:lnSpc>
                <a:spcPct val="83000"/>
              </a:lnSpc>
              <a:buNone/>
            </a:pPr>
            <a:r>
              <a:rPr lang="en-US" sz="800" dirty="0">
                <a:solidFill>
                  <a:srgbClr val="000000"/>
                </a:solidFill>
                <a:latin typeface="DM Sans SemiBold" pitchFamily="34" charset="0"/>
                <a:ea typeface="DM Sans SemiBold" pitchFamily="34" charset="-122"/>
                <a:cs typeface="DM Sans SemiBold" pitchFamily="34" charset="-120"/>
              </a:rPr>
              <a:t>8.3 Customer Satisfaction Analysis</a:t>
            </a:r>
            <a:endParaRPr lang="en-US" sz="800" dirty="0"/>
          </a:p>
        </p:txBody>
      </p:sp>
      <p:sp>
        <p:nvSpPr>
          <p:cNvPr id="11" name="Text 7"/>
          <p:cNvSpPr/>
          <p:nvPr/>
        </p:nvSpPr>
        <p:spPr>
          <a:xfrm>
            <a:off x="661475" y="9138444"/>
            <a:ext cx="10868745" cy="80665"/>
          </a:xfrm>
          <a:prstGeom prst="rect">
            <a:avLst/>
          </a:prstGeom>
          <a:noFill/>
          <a:ln/>
        </p:spPr>
        <p:txBody>
          <a:bodyPr wrap="none" lIns="0" tIns="0" rIns="0" bIns="0" rtlCol="0" anchor="t"/>
          <a:lstStyle/>
          <a:p>
            <a:pPr marL="0" indent="0" algn="l">
              <a:lnSpc>
                <a:spcPct val="83000"/>
              </a:lnSpc>
              <a:buNone/>
            </a:pPr>
            <a:r>
              <a:rPr lang="en-US" sz="600" dirty="0">
                <a:solidFill>
                  <a:srgbClr val="000000"/>
                </a:solidFill>
                <a:latin typeface="DM Sans SemiBold" pitchFamily="34" charset="0"/>
                <a:ea typeface="DM Sans SemiBold" pitchFamily="34" charset="-122"/>
                <a:cs typeface="DM Sans SemiBold" pitchFamily="34" charset="-120"/>
              </a:rPr>
              <a:t>Overall Satisfaction Rating (1-5 Scale)</a:t>
            </a:r>
            <a:endParaRPr lang="en-US" sz="600" dirty="0"/>
          </a:p>
        </p:txBody>
      </p:sp>
      <p:pic>
        <p:nvPicPr>
          <p:cNvPr id="12" name="Image 2" descr="preencoded.png"/>
          <p:cNvPicPr>
            <a:picLocks noChangeAspect="1"/>
          </p:cNvPicPr>
          <p:nvPr/>
        </p:nvPicPr>
        <p:blipFill>
          <a:blip r:embed="rId5"/>
          <a:stretch>
            <a:fillRect/>
          </a:stretch>
        </p:blipFill>
        <p:spPr>
          <a:xfrm>
            <a:off x="661475" y="9245302"/>
            <a:ext cx="7064595" cy="3957737"/>
          </a:xfrm>
          <a:prstGeom prst="rect">
            <a:avLst/>
          </a:prstGeom>
        </p:spPr>
      </p:pic>
      <p:sp>
        <p:nvSpPr>
          <p:cNvPr id="13" name="Text 8"/>
          <p:cNvSpPr/>
          <p:nvPr/>
        </p:nvSpPr>
        <p:spPr>
          <a:xfrm>
            <a:off x="661475" y="13222684"/>
            <a:ext cx="11478330" cy="46236"/>
          </a:xfrm>
          <a:prstGeom prst="rect">
            <a:avLst/>
          </a:prstGeom>
          <a:noFill/>
          <a:ln/>
        </p:spPr>
        <p:txBody>
          <a:bodyPr wrap="none" lIns="0" tIns="0" rIns="0" bIns="0" rtlCol="0" anchor="t"/>
          <a:lstStyle/>
          <a:p>
            <a:pPr marL="0" indent="0" algn="l">
              <a:lnSpc>
                <a:spcPct val="72000"/>
              </a:lnSpc>
              <a:buNone/>
            </a:pPr>
            <a:r>
              <a:rPr lang="en-US" sz="400" dirty="0">
                <a:solidFill>
                  <a:srgbClr val="272525"/>
                </a:solidFill>
                <a:latin typeface="DM Sans" pitchFamily="34" charset="0"/>
                <a:ea typeface="DM Sans" pitchFamily="34" charset="-122"/>
                <a:cs typeface="DM Sans" pitchFamily="34" charset="-120"/>
              </a:rPr>
              <a:t>Most respondents rated satisfaction at 4 or 5, reflecting a healthy satisfaction level. However, the 7% at neutral 3, plus those below, represent the highest-risk churn segment—customers neither delighted nor loyal, simply getting by.</a:t>
            </a:r>
            <a:endParaRPr lang="en-US" sz="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702667"/>
            <a:ext cx="10868745" cy="268784"/>
          </a:xfrm>
          <a:prstGeom prst="rect">
            <a:avLst/>
          </a:prstGeom>
          <a:noFill/>
          <a:ln/>
        </p:spPr>
        <p:txBody>
          <a:bodyPr wrap="none" lIns="0" tIns="0" rIns="0" bIns="0" rtlCol="0" anchor="t"/>
          <a:lstStyle/>
          <a:p>
            <a:pPr marL="0" indent="0" algn="l">
              <a:lnSpc>
                <a:spcPct val="83000"/>
              </a:lnSpc>
              <a:buNone/>
            </a:pPr>
            <a:r>
              <a:rPr lang="en-US" sz="2100" dirty="0">
                <a:solidFill>
                  <a:srgbClr val="000000"/>
                </a:solidFill>
                <a:latin typeface="DM Sans SemiBold" pitchFamily="34" charset="0"/>
                <a:ea typeface="DM Sans SemiBold" pitchFamily="34" charset="-122"/>
                <a:cs typeface="DM Sans SemiBold" pitchFamily="34" charset="-120"/>
              </a:rPr>
              <a:t>Results &amp; Analysis - Security Perception</a:t>
            </a:r>
            <a:endParaRPr lang="en-US" sz="2100" dirty="0"/>
          </a:p>
        </p:txBody>
      </p:sp>
      <p:sp>
        <p:nvSpPr>
          <p:cNvPr id="3" name="Text 1"/>
          <p:cNvSpPr/>
          <p:nvPr/>
        </p:nvSpPr>
        <p:spPr>
          <a:xfrm>
            <a:off x="661475" y="999331"/>
            <a:ext cx="10868745" cy="215007"/>
          </a:xfrm>
          <a:prstGeom prst="rect">
            <a:avLst/>
          </a:prstGeom>
          <a:noFill/>
          <a:ln/>
        </p:spPr>
        <p:txBody>
          <a:bodyPr wrap="none" lIns="0" tIns="0" rIns="0" bIns="0" rtlCol="0" anchor="t"/>
          <a:lstStyle/>
          <a:p>
            <a:pPr marL="0" indent="0" algn="l">
              <a:lnSpc>
                <a:spcPct val="83000"/>
              </a:lnSpc>
              <a:buNone/>
            </a:pPr>
            <a:r>
              <a:rPr lang="en-US" sz="1650" dirty="0">
                <a:solidFill>
                  <a:srgbClr val="000000"/>
                </a:solidFill>
                <a:latin typeface="DM Sans SemiBold" pitchFamily="34" charset="0"/>
                <a:ea typeface="DM Sans SemiBold" pitchFamily="34" charset="-122"/>
                <a:cs typeface="DM Sans SemiBold" pitchFamily="34" charset="-120"/>
              </a:rPr>
              <a:t>8.4 Security Perception Analysis</a:t>
            </a:r>
            <a:endParaRPr lang="en-US" sz="1650" dirty="0"/>
          </a:p>
        </p:txBody>
      </p:sp>
      <p:sp>
        <p:nvSpPr>
          <p:cNvPr id="4" name="Text 2"/>
          <p:cNvSpPr/>
          <p:nvPr/>
        </p:nvSpPr>
        <p:spPr>
          <a:xfrm>
            <a:off x="661475" y="1242219"/>
            <a:ext cx="10868745" cy="161230"/>
          </a:xfrm>
          <a:prstGeom prst="rect">
            <a:avLst/>
          </a:prstGeom>
          <a:noFill/>
          <a:ln/>
        </p:spPr>
        <p:txBody>
          <a:bodyPr wrap="none" lIns="0" tIns="0" rIns="0" bIns="0" rtlCol="0" anchor="t"/>
          <a:lstStyle/>
          <a:p>
            <a:pPr marL="0" indent="0" algn="l">
              <a:lnSpc>
                <a:spcPct val="83000"/>
              </a:lnSpc>
              <a:buNone/>
            </a:pPr>
            <a:r>
              <a:rPr lang="en-US" sz="1250" dirty="0">
                <a:solidFill>
                  <a:srgbClr val="000000"/>
                </a:solidFill>
                <a:latin typeface="DM Sans SemiBold" pitchFamily="34" charset="0"/>
                <a:ea typeface="DM Sans SemiBold" pitchFamily="34" charset="-122"/>
                <a:cs typeface="DM Sans SemiBold" pitchFamily="34" charset="-120"/>
              </a:rPr>
              <a:t>Trust in UPI Transaction Security</a:t>
            </a:r>
            <a:endParaRPr lang="en-US" sz="1250" dirty="0"/>
          </a:p>
        </p:txBody>
      </p:sp>
      <p:pic>
        <p:nvPicPr>
          <p:cNvPr id="5" name="Image 0" descr="preencoded.png"/>
          <p:cNvPicPr>
            <a:picLocks noChangeAspect="1"/>
          </p:cNvPicPr>
          <p:nvPr/>
        </p:nvPicPr>
        <p:blipFill>
          <a:blip r:embed="rId3"/>
          <a:stretch>
            <a:fillRect/>
          </a:stretch>
        </p:blipFill>
        <p:spPr>
          <a:xfrm>
            <a:off x="661475" y="1508224"/>
            <a:ext cx="7064595" cy="3957737"/>
          </a:xfrm>
          <a:prstGeom prst="rect">
            <a:avLst/>
          </a:prstGeom>
        </p:spPr>
      </p:pic>
      <p:sp>
        <p:nvSpPr>
          <p:cNvPr id="6" name="Text 3"/>
          <p:cNvSpPr/>
          <p:nvPr/>
        </p:nvSpPr>
        <p:spPr>
          <a:xfrm>
            <a:off x="661475" y="5544542"/>
            <a:ext cx="10868745" cy="230584"/>
          </a:xfrm>
          <a:prstGeom prst="rect">
            <a:avLst/>
          </a:prstGeom>
          <a:noFill/>
          <a:ln/>
        </p:spPr>
        <p:txBody>
          <a:bodyPr wrap="square" lIns="0" tIns="0" rIns="0" bIns="0" rtlCol="0" anchor="t">
            <a:normAutofit/>
          </a:bodyPr>
          <a:lstStyle/>
          <a:p>
            <a:pPr marL="0" indent="0" algn="l">
              <a:lnSpc>
                <a:spcPct val="89000"/>
              </a:lnSpc>
              <a:buNone/>
            </a:pPr>
            <a:r>
              <a:rPr lang="en-US" sz="800" dirty="0">
                <a:solidFill>
                  <a:srgbClr val="272525"/>
                </a:solidFill>
                <a:latin typeface="DM Sans" pitchFamily="34" charset="0"/>
                <a:ea typeface="DM Sans" pitchFamily="34" charset="-122"/>
                <a:cs typeface="DM Sans" pitchFamily="34" charset="-120"/>
              </a:rPr>
              <a:t>Two-thirds of respondents feel UPI transactions are secure, which is a positive signal for ecosystem trust and retention. However, the 25% who answered "maybe" warrant attention—their trust is conditional and fragile. A single fraud incident or negative news story could tip them toward switching.</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475" y="457498"/>
            <a:ext cx="10868745" cy="222548"/>
          </a:xfrm>
          <a:prstGeom prst="rect">
            <a:avLst/>
          </a:prstGeom>
          <a:noFill/>
          <a:ln/>
        </p:spPr>
        <p:txBody>
          <a:bodyPr wrap="none" lIns="0" tIns="0" rIns="0" bIns="0" rtlCol="0" anchor="t"/>
          <a:lstStyle/>
          <a:p>
            <a:pPr marL="0" indent="0" algn="l">
              <a:lnSpc>
                <a:spcPct val="83000"/>
              </a:lnSpc>
              <a:buNone/>
            </a:pPr>
            <a:r>
              <a:rPr lang="en-US" sz="1750" dirty="0">
                <a:solidFill>
                  <a:srgbClr val="000000"/>
                </a:solidFill>
                <a:latin typeface="DM Sans SemiBold" pitchFamily="34" charset="0"/>
                <a:ea typeface="DM Sans SemiBold" pitchFamily="34" charset="-122"/>
                <a:cs typeface="DM Sans SemiBold" pitchFamily="34" charset="-120"/>
              </a:rPr>
              <a:t>Results &amp; Analysis - Rewards &amp; Incentives Impact</a:t>
            </a:r>
            <a:endParaRPr lang="en-US" sz="1750" dirty="0"/>
          </a:p>
        </p:txBody>
      </p:sp>
      <p:sp>
        <p:nvSpPr>
          <p:cNvPr id="3" name="Text 1"/>
          <p:cNvSpPr/>
          <p:nvPr/>
        </p:nvSpPr>
        <p:spPr>
          <a:xfrm>
            <a:off x="661475" y="699195"/>
            <a:ext cx="10868745" cy="178098"/>
          </a:xfrm>
          <a:prstGeom prst="rect">
            <a:avLst/>
          </a:prstGeom>
          <a:noFill/>
          <a:ln/>
        </p:spPr>
        <p:txBody>
          <a:bodyPr wrap="none" lIns="0" tIns="0" rIns="0" bIns="0" rtlCol="0" anchor="t"/>
          <a:lstStyle/>
          <a:p>
            <a:pPr marL="0" indent="0" algn="l">
              <a:lnSpc>
                <a:spcPct val="83000"/>
              </a:lnSpc>
              <a:buNone/>
            </a:pPr>
            <a:r>
              <a:rPr lang="en-US" sz="1400" dirty="0">
                <a:solidFill>
                  <a:srgbClr val="000000"/>
                </a:solidFill>
                <a:latin typeface="DM Sans SemiBold" pitchFamily="34" charset="0"/>
                <a:ea typeface="DM Sans SemiBold" pitchFamily="34" charset="-122"/>
                <a:cs typeface="DM Sans SemiBold" pitchFamily="34" charset="-120"/>
              </a:rPr>
              <a:t>8.5 Cashback &amp; Rewards Influence Analysis</a:t>
            </a:r>
            <a:endParaRPr lang="en-US" sz="1400" dirty="0"/>
          </a:p>
        </p:txBody>
      </p:sp>
      <p:sp>
        <p:nvSpPr>
          <p:cNvPr id="4" name="Text 2"/>
          <p:cNvSpPr/>
          <p:nvPr/>
        </p:nvSpPr>
        <p:spPr>
          <a:xfrm>
            <a:off x="661475" y="896441"/>
            <a:ext cx="10868745" cy="133548"/>
          </a:xfrm>
          <a:prstGeom prst="rect">
            <a:avLst/>
          </a:prstGeom>
          <a:noFill/>
          <a:ln/>
        </p:spPr>
        <p:txBody>
          <a:bodyPr wrap="none" lIns="0" tIns="0" rIns="0" bIns="0" rtlCol="0" anchor="t"/>
          <a:lstStyle/>
          <a:p>
            <a:pPr marL="0" indent="0" algn="l">
              <a:lnSpc>
                <a:spcPct val="83000"/>
              </a:lnSpc>
              <a:buNone/>
            </a:pPr>
            <a:r>
              <a:rPr lang="en-US" sz="1050" dirty="0">
                <a:solidFill>
                  <a:srgbClr val="000000"/>
                </a:solidFill>
                <a:latin typeface="DM Sans SemiBold" pitchFamily="34" charset="0"/>
                <a:ea typeface="DM Sans SemiBold" pitchFamily="34" charset="-122"/>
                <a:cs typeface="DM Sans SemiBold" pitchFamily="34" charset="-120"/>
              </a:rPr>
              <a:t>Factors Influencing App Choice</a:t>
            </a:r>
            <a:endParaRPr lang="en-US" sz="1050" dirty="0"/>
          </a:p>
        </p:txBody>
      </p:sp>
      <p:pic>
        <p:nvPicPr>
          <p:cNvPr id="5" name="Image 0" descr="preencoded.png"/>
          <p:cNvPicPr>
            <a:picLocks noChangeAspect="1"/>
          </p:cNvPicPr>
          <p:nvPr/>
        </p:nvPicPr>
        <p:blipFill>
          <a:blip r:embed="rId3"/>
          <a:stretch>
            <a:fillRect/>
          </a:stretch>
        </p:blipFill>
        <p:spPr>
          <a:xfrm>
            <a:off x="661475" y="1101824"/>
            <a:ext cx="7064595" cy="3957737"/>
          </a:xfrm>
          <a:prstGeom prst="rect">
            <a:avLst/>
          </a:prstGeom>
        </p:spPr>
      </p:pic>
      <p:sp>
        <p:nvSpPr>
          <p:cNvPr id="6" name="Text 3"/>
          <p:cNvSpPr/>
          <p:nvPr/>
        </p:nvSpPr>
        <p:spPr>
          <a:xfrm>
            <a:off x="661475" y="5113437"/>
            <a:ext cx="11478330" cy="88900"/>
          </a:xfrm>
          <a:prstGeom prst="rect">
            <a:avLst/>
          </a:prstGeom>
          <a:noFill/>
          <a:ln/>
        </p:spPr>
        <p:txBody>
          <a:bodyPr wrap="none" lIns="0" tIns="0" rIns="0" bIns="0" rtlCol="0" anchor="t"/>
          <a:lstStyle/>
          <a:p>
            <a:pPr marL="0" indent="0" algn="l">
              <a:lnSpc>
                <a:spcPct val="83000"/>
              </a:lnSpc>
              <a:buNone/>
            </a:pPr>
            <a:r>
              <a:rPr lang="en-US" sz="700" dirty="0">
                <a:solidFill>
                  <a:srgbClr val="272525"/>
                </a:solidFill>
                <a:latin typeface="DM Sans" pitchFamily="34" charset="0"/>
                <a:ea typeface="DM Sans" pitchFamily="34" charset="-122"/>
                <a:cs typeface="DM Sans" pitchFamily="34" charset="-120"/>
              </a:rPr>
              <a:t>Fast transaction speed and security emerge as the primary decision drivers at 35%, with cashback influencing 27% of users. This reveals a critical insight: retention requires a two-sided approach.</a:t>
            </a:r>
            <a:endParaRPr lang="en-US" sz="700" dirty="0"/>
          </a:p>
        </p:txBody>
      </p:sp>
      <p:sp>
        <p:nvSpPr>
          <p:cNvPr id="7" name="Text 4"/>
          <p:cNvSpPr/>
          <p:nvPr/>
        </p:nvSpPr>
        <p:spPr>
          <a:xfrm>
            <a:off x="661475" y="5274171"/>
            <a:ext cx="10868745" cy="133548"/>
          </a:xfrm>
          <a:prstGeom prst="rect">
            <a:avLst/>
          </a:prstGeom>
          <a:noFill/>
          <a:ln/>
        </p:spPr>
        <p:txBody>
          <a:bodyPr wrap="none" lIns="0" tIns="0" rIns="0" bIns="0" rtlCol="0" anchor="t"/>
          <a:lstStyle/>
          <a:p>
            <a:pPr marL="0" indent="0" algn="l">
              <a:lnSpc>
                <a:spcPct val="83000"/>
              </a:lnSpc>
              <a:buNone/>
            </a:pPr>
            <a:r>
              <a:rPr lang="en-US" sz="1050" dirty="0">
                <a:solidFill>
                  <a:srgbClr val="000000"/>
                </a:solidFill>
                <a:latin typeface="DM Sans SemiBold" pitchFamily="34" charset="0"/>
                <a:ea typeface="DM Sans SemiBold" pitchFamily="34" charset="-122"/>
                <a:cs typeface="DM Sans SemiBold" pitchFamily="34" charset="-120"/>
              </a:rPr>
              <a:t>The Two-Sided Retention Challenge:</a:t>
            </a:r>
            <a:endParaRPr lang="en-US" sz="1050" dirty="0"/>
          </a:p>
        </p:txBody>
      </p:sp>
      <p:sp>
        <p:nvSpPr>
          <p:cNvPr id="8" name="Shape 5"/>
          <p:cNvSpPr/>
          <p:nvPr/>
        </p:nvSpPr>
        <p:spPr>
          <a:xfrm>
            <a:off x="661475" y="5752802"/>
            <a:ext cx="10868745" cy="12700"/>
          </a:xfrm>
          <a:prstGeom prst="roundRect">
            <a:avLst>
              <a:gd name="adj" fmla="val 294420"/>
            </a:avLst>
          </a:prstGeom>
          <a:solidFill>
            <a:srgbClr val="D5CEC3"/>
          </a:solidFill>
          <a:ln/>
        </p:spPr>
      </p:sp>
      <p:sp>
        <p:nvSpPr>
          <p:cNvPr id="9" name="Shape 6"/>
          <p:cNvSpPr/>
          <p:nvPr/>
        </p:nvSpPr>
        <p:spPr>
          <a:xfrm>
            <a:off x="661475" y="5479554"/>
            <a:ext cx="5404409" cy="273248"/>
          </a:xfrm>
          <a:prstGeom prst="rect">
            <a:avLst/>
          </a:prstGeom>
          <a:solidFill>
            <a:srgbClr val="EFE8DD"/>
          </a:solidFill>
          <a:ln w="6350">
            <a:solidFill>
              <a:srgbClr val="D5CEC3"/>
            </a:solidFill>
            <a:prstDash val="solid"/>
          </a:ln>
        </p:spPr>
      </p:sp>
      <p:sp>
        <p:nvSpPr>
          <p:cNvPr id="10" name="Text 7"/>
          <p:cNvSpPr/>
          <p:nvPr/>
        </p:nvSpPr>
        <p:spPr>
          <a:xfrm>
            <a:off x="756822" y="5574903"/>
            <a:ext cx="5213716" cy="88900"/>
          </a:xfrm>
          <a:prstGeom prst="rect">
            <a:avLst/>
          </a:prstGeom>
          <a:noFill/>
          <a:ln/>
        </p:spPr>
        <p:txBody>
          <a:bodyPr wrap="none" lIns="0" tIns="0" rIns="0" bIns="0" rtlCol="0" anchor="t"/>
          <a:lstStyle/>
          <a:p>
            <a:pPr marL="0" indent="0" algn="ctr">
              <a:lnSpc>
                <a:spcPct val="83000"/>
              </a:lnSpc>
              <a:buNone/>
            </a:pPr>
            <a:r>
              <a:rPr lang="en-US" sz="700" dirty="0">
                <a:solidFill>
                  <a:srgbClr val="272525"/>
                </a:solidFill>
                <a:latin typeface="DM Sans" pitchFamily="34" charset="0"/>
                <a:ea typeface="DM Sans" pitchFamily="34" charset="-122"/>
                <a:cs typeface="DM Sans" pitchFamily="34" charset="-120"/>
              </a:rPr>
              <a:t>One side is being pulled away by better deals (cashback and rewards)</a:t>
            </a:r>
            <a:endParaRPr lang="en-US" sz="700" dirty="0"/>
          </a:p>
        </p:txBody>
      </p:sp>
      <p:sp>
        <p:nvSpPr>
          <p:cNvPr id="11" name="Shape 8"/>
          <p:cNvSpPr/>
          <p:nvPr/>
        </p:nvSpPr>
        <p:spPr>
          <a:xfrm>
            <a:off x="6125712" y="5765502"/>
            <a:ext cx="5404509" cy="273248"/>
          </a:xfrm>
          <a:prstGeom prst="rect">
            <a:avLst/>
          </a:prstGeom>
          <a:solidFill>
            <a:srgbClr val="EFE8DD"/>
          </a:solidFill>
          <a:ln w="6350">
            <a:solidFill>
              <a:srgbClr val="D5CEC3"/>
            </a:solidFill>
            <a:prstDash val="solid"/>
          </a:ln>
        </p:spPr>
      </p:sp>
      <p:sp>
        <p:nvSpPr>
          <p:cNvPr id="12" name="Text 9"/>
          <p:cNvSpPr/>
          <p:nvPr/>
        </p:nvSpPr>
        <p:spPr>
          <a:xfrm>
            <a:off x="6221058" y="5854502"/>
            <a:ext cx="5213815" cy="88900"/>
          </a:xfrm>
          <a:prstGeom prst="rect">
            <a:avLst/>
          </a:prstGeom>
          <a:noFill/>
          <a:ln/>
        </p:spPr>
        <p:txBody>
          <a:bodyPr wrap="none" lIns="0" tIns="0" rIns="0" bIns="0" rtlCol="0" anchor="t"/>
          <a:lstStyle/>
          <a:p>
            <a:pPr marL="0" indent="0" algn="ctr">
              <a:lnSpc>
                <a:spcPct val="83000"/>
              </a:lnSpc>
              <a:buNone/>
            </a:pPr>
            <a:r>
              <a:rPr lang="en-US" sz="700" dirty="0">
                <a:solidFill>
                  <a:srgbClr val="272525"/>
                </a:solidFill>
                <a:latin typeface="DM Sans" pitchFamily="34" charset="0"/>
                <a:ea typeface="DM Sans" pitchFamily="34" charset="-122"/>
                <a:cs typeface="DM Sans" pitchFamily="34" charset="-120"/>
              </a:rPr>
              <a:t>The other side is pushed away by poor experience (slow transactions, security concerns)</a:t>
            </a:r>
            <a:endParaRPr lang="en-US" sz="700" dirty="0"/>
          </a:p>
        </p:txBody>
      </p:sp>
      <p:sp>
        <p:nvSpPr>
          <p:cNvPr id="13" name="Text 10"/>
          <p:cNvSpPr/>
          <p:nvPr/>
        </p:nvSpPr>
        <p:spPr>
          <a:xfrm>
            <a:off x="661475" y="6079927"/>
            <a:ext cx="10868745" cy="320576"/>
          </a:xfrm>
          <a:prstGeom prst="rect">
            <a:avLst/>
          </a:prstGeom>
          <a:noFill/>
          <a:ln/>
        </p:spPr>
        <p:txBody>
          <a:bodyPr wrap="square" lIns="0" tIns="0" rIns="0" bIns="0" rtlCol="0" anchor="t"/>
          <a:lstStyle/>
          <a:p>
            <a:pPr marL="0" indent="0" algn="l">
              <a:lnSpc>
                <a:spcPct val="83000"/>
              </a:lnSpc>
              <a:spcAft>
                <a:spcPts val="400"/>
              </a:spcAft>
              <a:buNone/>
            </a:pPr>
            <a:r>
              <a:rPr lang="en-US" sz="700" dirty="0">
                <a:solidFill>
                  <a:srgbClr val="272525"/>
                </a:solidFill>
                <a:latin typeface="DM Sans" pitchFamily="34" charset="0"/>
                <a:ea typeface="DM Sans" pitchFamily="34" charset="-122"/>
                <a:cs typeface="DM Sans" pitchFamily="34" charset="-120"/>
              </a:rPr>
              <a:t>Both fronts must be held simultaneously.</a:t>
            </a:r>
            <a:endParaRPr lang="en-US" sz="700" dirty="0"/>
          </a:p>
          <a:p>
            <a:pPr marL="0" indent="0" algn="l">
              <a:lnSpc>
                <a:spcPct val="83000"/>
              </a:lnSpc>
              <a:buNone/>
            </a:pPr>
            <a:r>
              <a:rPr lang="en-US" sz="700" b="1" dirty="0">
                <a:solidFill>
                  <a:srgbClr val="272525"/>
                </a:solidFill>
                <a:latin typeface="DM Sans Bold" pitchFamily="34" charset="0"/>
                <a:ea typeface="DM Sans Bold" pitchFamily="34" charset="-122"/>
                <a:cs typeface="DM Sans Bold" pitchFamily="34" charset="-120"/>
              </a:rPr>
              <a:t>Strategic Implication:</a:t>
            </a:r>
            <a:r>
              <a:rPr lang="en-US" sz="700" dirty="0">
                <a:solidFill>
                  <a:srgbClr val="272525"/>
                </a:solidFill>
                <a:latin typeface="DM Sans" pitchFamily="34" charset="0"/>
                <a:ea typeface="DM Sans" pitchFamily="34" charset="-122"/>
                <a:cs typeface="DM Sans" pitchFamily="34" charset="-120"/>
              </a:rPr>
              <a:t> Platforms cannot rely on cashback alone to retain customers. While 27% are influenced by rewards, 35% prioritize core service quality. A balanced strategy addressing both competitive incentives AND core service reliability is essential for sustainable retention.</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475" y="472777"/>
            <a:ext cx="10868745" cy="209947"/>
          </a:xfrm>
          <a:prstGeom prst="rect">
            <a:avLst/>
          </a:prstGeom>
          <a:noFill/>
          <a:ln/>
        </p:spPr>
        <p:txBody>
          <a:bodyPr wrap="none" lIns="0" tIns="0" rIns="0" bIns="0" rtlCol="0" anchor="t"/>
          <a:lstStyle/>
          <a:p>
            <a:pPr marL="0" indent="0" algn="l">
              <a:lnSpc>
                <a:spcPct val="83000"/>
              </a:lnSpc>
              <a:buNone/>
            </a:pPr>
            <a:r>
              <a:rPr lang="en-US" sz="1650" dirty="0">
                <a:solidFill>
                  <a:srgbClr val="000000"/>
                </a:solidFill>
                <a:latin typeface="DM Sans SemiBold" pitchFamily="34" charset="0"/>
                <a:ea typeface="DM Sans SemiBold" pitchFamily="34" charset="-122"/>
                <a:cs typeface="DM Sans SemiBold" pitchFamily="34" charset="-120"/>
              </a:rPr>
              <a:t>Results &amp; Analysis - Churn Drivers &amp; Root Causes</a:t>
            </a:r>
            <a:endParaRPr lang="en-US" sz="1650" dirty="0"/>
          </a:p>
        </p:txBody>
      </p:sp>
      <p:sp>
        <p:nvSpPr>
          <p:cNvPr id="3" name="Text 1"/>
          <p:cNvSpPr/>
          <p:nvPr/>
        </p:nvSpPr>
        <p:spPr>
          <a:xfrm>
            <a:off x="661475" y="699691"/>
            <a:ext cx="10868745" cy="167977"/>
          </a:xfrm>
          <a:prstGeom prst="rect">
            <a:avLst/>
          </a:prstGeom>
          <a:noFill/>
          <a:ln/>
        </p:spPr>
        <p:txBody>
          <a:bodyPr wrap="none" lIns="0" tIns="0" rIns="0" bIns="0" rtlCol="0" anchor="t"/>
          <a:lstStyle/>
          <a:p>
            <a:pPr marL="0" indent="0" algn="l">
              <a:lnSpc>
                <a:spcPct val="83000"/>
              </a:lnSpc>
              <a:buNone/>
            </a:pPr>
            <a:r>
              <a:rPr lang="en-US" sz="1300" dirty="0">
                <a:solidFill>
                  <a:srgbClr val="000000"/>
                </a:solidFill>
                <a:latin typeface="DM Sans SemiBold" pitchFamily="34" charset="0"/>
                <a:ea typeface="DM Sans SemiBold" pitchFamily="34" charset="-122"/>
                <a:cs typeface="DM Sans SemiBold" pitchFamily="34" charset="-120"/>
              </a:rPr>
              <a:t>8.6 Churn Analysis - Key Findings</a:t>
            </a:r>
            <a:endParaRPr lang="en-US" sz="1300" dirty="0"/>
          </a:p>
        </p:txBody>
      </p:sp>
      <p:sp>
        <p:nvSpPr>
          <p:cNvPr id="4" name="Text 2"/>
          <p:cNvSpPr/>
          <p:nvPr/>
        </p:nvSpPr>
        <p:spPr>
          <a:xfrm>
            <a:off x="661475" y="884634"/>
            <a:ext cx="10868745" cy="126008"/>
          </a:xfrm>
          <a:prstGeom prst="rect">
            <a:avLst/>
          </a:prstGeom>
          <a:noFill/>
          <a:ln/>
        </p:spPr>
        <p:txBody>
          <a:bodyPr wrap="none" lIns="0" tIns="0" rIns="0" bIns="0" rtlCol="0" anchor="t"/>
          <a:lstStyle/>
          <a:p>
            <a:pPr marL="0" indent="0" algn="l">
              <a:lnSpc>
                <a:spcPct val="83000"/>
              </a:lnSpc>
              <a:buNone/>
            </a:pPr>
            <a:r>
              <a:rPr lang="en-US" sz="950" dirty="0">
                <a:solidFill>
                  <a:srgbClr val="000000"/>
                </a:solidFill>
                <a:latin typeface="DM Sans SemiBold" pitchFamily="34" charset="0"/>
                <a:ea typeface="DM Sans SemiBold" pitchFamily="34" charset="-122"/>
                <a:cs typeface="DM Sans SemiBold" pitchFamily="34" charset="-120"/>
              </a:rPr>
              <a:t>Primary Reasons for Switching Apps</a:t>
            </a:r>
            <a:endParaRPr lang="en-US" sz="950" dirty="0"/>
          </a:p>
        </p:txBody>
      </p:sp>
      <p:pic>
        <p:nvPicPr>
          <p:cNvPr id="5" name="Image 0" descr="preencoded.png"/>
          <p:cNvPicPr>
            <a:picLocks noChangeAspect="1"/>
          </p:cNvPicPr>
          <p:nvPr/>
        </p:nvPicPr>
        <p:blipFill>
          <a:blip r:embed="rId3"/>
          <a:stretch>
            <a:fillRect/>
          </a:stretch>
        </p:blipFill>
        <p:spPr>
          <a:xfrm>
            <a:off x="661475" y="1074539"/>
            <a:ext cx="7064595" cy="3957737"/>
          </a:xfrm>
          <a:prstGeom prst="rect">
            <a:avLst/>
          </a:prstGeom>
        </p:spPr>
      </p:pic>
      <p:sp>
        <p:nvSpPr>
          <p:cNvPr id="6" name="Text 3"/>
          <p:cNvSpPr/>
          <p:nvPr/>
        </p:nvSpPr>
        <p:spPr>
          <a:xfrm>
            <a:off x="661475" y="5080198"/>
            <a:ext cx="11478330" cy="82352"/>
          </a:xfrm>
          <a:prstGeom prst="rect">
            <a:avLst/>
          </a:prstGeom>
          <a:noFill/>
          <a:ln/>
        </p:spPr>
        <p:txBody>
          <a:bodyPr wrap="none" lIns="0" tIns="0" rIns="0" bIns="0" rtlCol="0" anchor="t"/>
          <a:lstStyle/>
          <a:p>
            <a:pPr marL="0" indent="0" algn="l">
              <a:lnSpc>
                <a:spcPct val="82000"/>
              </a:lnSpc>
              <a:buNone/>
            </a:pPr>
            <a:r>
              <a:rPr lang="en-US" sz="650" dirty="0">
                <a:solidFill>
                  <a:srgbClr val="272525"/>
                </a:solidFill>
                <a:latin typeface="DM Sans" pitchFamily="34" charset="0"/>
                <a:ea typeface="DM Sans" pitchFamily="34" charset="-122"/>
                <a:cs typeface="DM Sans" pitchFamily="34" charset="-120"/>
              </a:rPr>
              <a:t>This chart illustrates the primary reasons users switch UPI applications, with "Better Offers Elsewhere" being the leading factor, followed by "Transaction Failures" and "Security Concerns." These insights are crucial for understanding the dynamics of customer retention.</a:t>
            </a:r>
            <a:endParaRPr lang="en-US" sz="650" dirty="0"/>
          </a:p>
        </p:txBody>
      </p:sp>
      <p:sp>
        <p:nvSpPr>
          <p:cNvPr id="7" name="Text 4"/>
          <p:cNvSpPr/>
          <p:nvPr/>
        </p:nvSpPr>
        <p:spPr>
          <a:xfrm>
            <a:off x="661475" y="5226447"/>
            <a:ext cx="10868745" cy="126008"/>
          </a:xfrm>
          <a:prstGeom prst="rect">
            <a:avLst/>
          </a:prstGeom>
          <a:noFill/>
          <a:ln/>
        </p:spPr>
        <p:txBody>
          <a:bodyPr wrap="none" lIns="0" tIns="0" rIns="0" bIns="0" rtlCol="0" anchor="t"/>
          <a:lstStyle/>
          <a:p>
            <a:pPr marL="0" indent="0" algn="l">
              <a:lnSpc>
                <a:spcPct val="83000"/>
              </a:lnSpc>
              <a:buNone/>
            </a:pPr>
            <a:r>
              <a:rPr lang="en-US" sz="950" dirty="0">
                <a:solidFill>
                  <a:srgbClr val="000000"/>
                </a:solidFill>
                <a:latin typeface="DM Sans SemiBold" pitchFamily="34" charset="0"/>
                <a:ea typeface="DM Sans SemiBold" pitchFamily="34" charset="-122"/>
                <a:cs typeface="DM Sans SemiBold" pitchFamily="34" charset="-120"/>
              </a:rPr>
              <a:t>The Two-Force Churn Model:</a:t>
            </a:r>
            <a:endParaRPr lang="en-US" sz="950" dirty="0"/>
          </a:p>
        </p:txBody>
      </p:sp>
      <p:sp>
        <p:nvSpPr>
          <p:cNvPr id="8" name="Text 5"/>
          <p:cNvSpPr/>
          <p:nvPr/>
        </p:nvSpPr>
        <p:spPr>
          <a:xfrm>
            <a:off x="661475" y="5416352"/>
            <a:ext cx="11478330" cy="82352"/>
          </a:xfrm>
          <a:prstGeom prst="rect">
            <a:avLst/>
          </a:prstGeom>
          <a:noFill/>
          <a:ln/>
        </p:spPr>
        <p:txBody>
          <a:bodyPr wrap="none" lIns="0" tIns="0" rIns="0" bIns="0" rtlCol="0" anchor="t"/>
          <a:lstStyle/>
          <a:p>
            <a:pPr marL="0" indent="0" algn="l">
              <a:lnSpc>
                <a:spcPct val="82000"/>
              </a:lnSpc>
              <a:buNone/>
            </a:pPr>
            <a:r>
              <a:rPr lang="en-US" sz="650" dirty="0">
                <a:solidFill>
                  <a:srgbClr val="272525"/>
                </a:solidFill>
                <a:latin typeface="DM Sans" pitchFamily="34" charset="0"/>
                <a:ea typeface="DM Sans" pitchFamily="34" charset="-122"/>
                <a:cs typeface="DM Sans" pitchFamily="34" charset="-120"/>
              </a:rPr>
              <a:t>The data reveals a critical pattern in customer churn behavior:</a:t>
            </a:r>
            <a:endParaRPr lang="en-US" sz="650" dirty="0"/>
          </a:p>
        </p:txBody>
      </p:sp>
      <p:sp>
        <p:nvSpPr>
          <p:cNvPr id="9" name="Text 6"/>
          <p:cNvSpPr/>
          <p:nvPr/>
        </p:nvSpPr>
        <p:spPr>
          <a:xfrm>
            <a:off x="661475" y="5589191"/>
            <a:ext cx="5331981" cy="104973"/>
          </a:xfrm>
          <a:prstGeom prst="rect">
            <a:avLst/>
          </a:prstGeom>
          <a:noFill/>
          <a:ln/>
        </p:spPr>
        <p:txBody>
          <a:bodyPr wrap="none" lIns="0" tIns="0" rIns="0" bIns="0" rtlCol="0" anchor="t"/>
          <a:lstStyle/>
          <a:p>
            <a:pPr marL="0" indent="0" algn="l">
              <a:lnSpc>
                <a:spcPct val="83000"/>
              </a:lnSpc>
              <a:buNone/>
            </a:pPr>
            <a:r>
              <a:rPr lang="en-US" sz="800" dirty="0">
                <a:solidFill>
                  <a:srgbClr val="000000"/>
                </a:solidFill>
                <a:latin typeface="DM Sans SemiBold" pitchFamily="34" charset="0"/>
                <a:ea typeface="DM Sans SemiBold" pitchFamily="34" charset="-122"/>
                <a:cs typeface="DM Sans SemiBold" pitchFamily="34" charset="-120"/>
              </a:rPr>
              <a:t>Pull Factors (34%)</a:t>
            </a:r>
            <a:endParaRPr lang="en-US" sz="800" dirty="0"/>
          </a:p>
        </p:txBody>
      </p:sp>
      <p:sp>
        <p:nvSpPr>
          <p:cNvPr id="10" name="Text 7"/>
          <p:cNvSpPr/>
          <p:nvPr/>
        </p:nvSpPr>
        <p:spPr>
          <a:xfrm>
            <a:off x="661475" y="5736729"/>
            <a:ext cx="5331981" cy="374055"/>
          </a:xfrm>
          <a:prstGeom prst="rect">
            <a:avLst/>
          </a:prstGeom>
          <a:noFill/>
          <a:ln/>
        </p:spPr>
        <p:txBody>
          <a:bodyPr wrap="square" lIns="0" tIns="0" rIns="0" bIns="0" rtlCol="0" anchor="t">
            <a:normAutofit/>
          </a:bodyPr>
          <a:lstStyle/>
          <a:p>
            <a:pPr marL="132080" indent="-132080" algn="l">
              <a:lnSpc>
                <a:spcPct val="82000"/>
              </a:lnSpc>
              <a:buSzPct val="100000"/>
              <a:buChar char="•"/>
            </a:pPr>
            <a:r>
              <a:rPr lang="en-US" sz="650" dirty="0">
                <a:solidFill>
                  <a:srgbClr val="272525"/>
                </a:solidFill>
                <a:latin typeface="DM Sans" pitchFamily="34" charset="0"/>
                <a:ea typeface="DM Sans" pitchFamily="34" charset="-122"/>
                <a:cs typeface="DM Sans" pitchFamily="34" charset="-120"/>
              </a:rPr>
              <a:t>Better offers elsewhere</a:t>
            </a:r>
            <a:endParaRPr lang="en-US" sz="650" dirty="0"/>
          </a:p>
          <a:p>
            <a:pPr marL="132080" indent="-132080" algn="l">
              <a:lnSpc>
                <a:spcPct val="82000"/>
              </a:lnSpc>
              <a:buSzPct val="100000"/>
              <a:buChar char="•"/>
            </a:pPr>
            <a:r>
              <a:rPr lang="en-US" sz="650" dirty="0">
                <a:solidFill>
                  <a:srgbClr val="272525"/>
                </a:solidFill>
                <a:latin typeface="DM Sans" pitchFamily="34" charset="0"/>
                <a:ea typeface="DM Sans" pitchFamily="34" charset="-122"/>
                <a:cs typeface="DM Sans" pitchFamily="34" charset="-120"/>
              </a:rPr>
              <a:t>Customers are attracted away by competitive incentives</a:t>
            </a:r>
            <a:endParaRPr lang="en-US" sz="650" dirty="0"/>
          </a:p>
          <a:p>
            <a:pPr marL="132080" indent="-132080" algn="l">
              <a:lnSpc>
                <a:spcPct val="82000"/>
              </a:lnSpc>
              <a:buSzPct val="100000"/>
              <a:buChar char="•"/>
            </a:pPr>
            <a:r>
              <a:rPr lang="en-US" sz="650" dirty="0">
                <a:solidFill>
                  <a:srgbClr val="272525"/>
                </a:solidFill>
                <a:latin typeface="DM Sans" pitchFamily="34" charset="0"/>
                <a:ea typeface="DM Sans" pitchFamily="34" charset="-122"/>
                <a:cs typeface="DM Sans" pitchFamily="34" charset="-120"/>
              </a:rPr>
              <a:t>Loyalty built on cashback alone is "rented, not owned"</a:t>
            </a:r>
            <a:endParaRPr lang="en-US" sz="650" dirty="0"/>
          </a:p>
          <a:p>
            <a:pPr marL="132080" indent="-132080" algn="l">
              <a:lnSpc>
                <a:spcPct val="82000"/>
              </a:lnSpc>
              <a:buSzPct val="100000"/>
              <a:buChar char="•"/>
            </a:pPr>
            <a:r>
              <a:rPr lang="en-US" sz="650" dirty="0">
                <a:solidFill>
                  <a:srgbClr val="272525"/>
                </a:solidFill>
                <a:latin typeface="DM Sans" pitchFamily="34" charset="0"/>
                <a:ea typeface="DM Sans" pitchFamily="34" charset="-122"/>
                <a:cs typeface="DM Sans" pitchFamily="34" charset="-120"/>
              </a:rPr>
              <a:t>Can be outbid at any time by competitors</a:t>
            </a:r>
            <a:endParaRPr lang="en-US" sz="650" dirty="0"/>
          </a:p>
        </p:txBody>
      </p:sp>
      <p:sp>
        <p:nvSpPr>
          <p:cNvPr id="11" name="Text 8"/>
          <p:cNvSpPr/>
          <p:nvPr/>
        </p:nvSpPr>
        <p:spPr>
          <a:xfrm>
            <a:off x="6204589" y="5589191"/>
            <a:ext cx="5331981" cy="104973"/>
          </a:xfrm>
          <a:prstGeom prst="rect">
            <a:avLst/>
          </a:prstGeom>
          <a:noFill/>
          <a:ln/>
        </p:spPr>
        <p:txBody>
          <a:bodyPr wrap="none" lIns="0" tIns="0" rIns="0" bIns="0" rtlCol="0" anchor="t"/>
          <a:lstStyle/>
          <a:p>
            <a:pPr marL="0" indent="0" algn="l">
              <a:lnSpc>
                <a:spcPct val="83000"/>
              </a:lnSpc>
              <a:buNone/>
            </a:pPr>
            <a:r>
              <a:rPr lang="en-US" sz="800" dirty="0">
                <a:solidFill>
                  <a:srgbClr val="000000"/>
                </a:solidFill>
                <a:latin typeface="DM Sans SemiBold" pitchFamily="34" charset="0"/>
                <a:ea typeface="DM Sans SemiBold" pitchFamily="34" charset="-122"/>
                <a:cs typeface="DM Sans SemiBold" pitchFamily="34" charset="-120"/>
              </a:rPr>
              <a:t>Push Factors (52% combined)</a:t>
            </a:r>
            <a:endParaRPr lang="en-US" sz="800" dirty="0"/>
          </a:p>
        </p:txBody>
      </p:sp>
      <p:sp>
        <p:nvSpPr>
          <p:cNvPr id="12" name="Text 9"/>
          <p:cNvSpPr/>
          <p:nvPr/>
        </p:nvSpPr>
        <p:spPr>
          <a:xfrm>
            <a:off x="6204589" y="5736729"/>
            <a:ext cx="5331981" cy="276820"/>
          </a:xfrm>
          <a:prstGeom prst="rect">
            <a:avLst/>
          </a:prstGeom>
          <a:noFill/>
          <a:ln/>
        </p:spPr>
        <p:txBody>
          <a:bodyPr wrap="square" lIns="0" tIns="0" rIns="0" bIns="0" rtlCol="0" anchor="t">
            <a:normAutofit/>
          </a:bodyPr>
          <a:lstStyle/>
          <a:p>
            <a:pPr marL="132080" indent="-132080" algn="l">
              <a:lnSpc>
                <a:spcPct val="82000"/>
              </a:lnSpc>
              <a:buSzPct val="100000"/>
              <a:buChar char="•"/>
            </a:pPr>
            <a:r>
              <a:rPr lang="en-US" sz="650" dirty="0">
                <a:solidFill>
                  <a:srgbClr val="272525"/>
                </a:solidFill>
                <a:latin typeface="DM Sans" pitchFamily="34" charset="0"/>
                <a:ea typeface="DM Sans" pitchFamily="34" charset="-122"/>
                <a:cs typeface="DM Sans" pitchFamily="34" charset="-120"/>
              </a:rPr>
              <a:t>Transaction Failures: 22%</a:t>
            </a:r>
            <a:endParaRPr lang="en-US" sz="650" dirty="0"/>
          </a:p>
          <a:p>
            <a:pPr marL="132080" indent="-132080" algn="l">
              <a:lnSpc>
                <a:spcPct val="82000"/>
              </a:lnSpc>
              <a:buSzPct val="100000"/>
              <a:buChar char="•"/>
            </a:pPr>
            <a:r>
              <a:rPr lang="en-US" sz="650" dirty="0">
                <a:solidFill>
                  <a:srgbClr val="272525"/>
                </a:solidFill>
                <a:latin typeface="DM Sans" pitchFamily="34" charset="0"/>
                <a:ea typeface="DM Sans" pitchFamily="34" charset="-122"/>
                <a:cs typeface="DM Sans" pitchFamily="34" charset="-120"/>
              </a:rPr>
              <a:t>Security Concerns: 16%</a:t>
            </a:r>
            <a:endParaRPr lang="en-US" sz="650" dirty="0"/>
          </a:p>
          <a:p>
            <a:pPr marL="132080" indent="-132080" algn="l">
              <a:lnSpc>
                <a:spcPct val="82000"/>
              </a:lnSpc>
              <a:buSzPct val="100000"/>
              <a:buChar char="•"/>
            </a:pPr>
            <a:r>
              <a:rPr lang="en-US" sz="650" dirty="0">
                <a:solidFill>
                  <a:srgbClr val="272525"/>
                </a:solidFill>
                <a:latin typeface="DM Sans" pitchFamily="34" charset="0"/>
                <a:ea typeface="DM Sans" pitchFamily="34" charset="-122"/>
                <a:cs typeface="DM Sans" pitchFamily="34" charset="-120"/>
              </a:rPr>
              <a:t>Poor Customer Support: 14%</a:t>
            </a:r>
            <a:endParaRPr lang="en-US" sz="650" dirty="0"/>
          </a:p>
        </p:txBody>
      </p:sp>
      <p:sp>
        <p:nvSpPr>
          <p:cNvPr id="13" name="Text 10"/>
          <p:cNvSpPr/>
          <p:nvPr/>
        </p:nvSpPr>
        <p:spPr>
          <a:xfrm>
            <a:off x="6204589" y="6051848"/>
            <a:ext cx="5941566" cy="82352"/>
          </a:xfrm>
          <a:prstGeom prst="rect">
            <a:avLst/>
          </a:prstGeom>
          <a:noFill/>
          <a:ln/>
        </p:spPr>
        <p:txBody>
          <a:bodyPr wrap="none" lIns="0" tIns="0" rIns="0" bIns="0" rtlCol="0" anchor="t"/>
          <a:lstStyle/>
          <a:p>
            <a:pPr marL="0" indent="0" algn="l">
              <a:lnSpc>
                <a:spcPct val="82000"/>
              </a:lnSpc>
              <a:buNone/>
            </a:pPr>
            <a:r>
              <a:rPr lang="en-US" sz="650" dirty="0">
                <a:solidFill>
                  <a:srgbClr val="272525"/>
                </a:solidFill>
                <a:latin typeface="DM Sans" pitchFamily="34" charset="0"/>
                <a:ea typeface="DM Sans" pitchFamily="34" charset="-122"/>
                <a:cs typeface="DM Sans" pitchFamily="34" charset="-120"/>
              </a:rPr>
              <a:t>Customers are pushed away by service failures and trust gaps.</a:t>
            </a:r>
            <a:endParaRPr lang="en-US" sz="650" dirty="0"/>
          </a:p>
        </p:txBody>
      </p:sp>
      <p:sp>
        <p:nvSpPr>
          <p:cNvPr id="14" name="Text 11"/>
          <p:cNvSpPr/>
          <p:nvPr/>
        </p:nvSpPr>
        <p:spPr>
          <a:xfrm>
            <a:off x="661475" y="6220420"/>
            <a:ext cx="10868745" cy="164703"/>
          </a:xfrm>
          <a:prstGeom prst="rect">
            <a:avLst/>
          </a:prstGeom>
          <a:noFill/>
          <a:ln/>
        </p:spPr>
        <p:txBody>
          <a:bodyPr wrap="square" lIns="0" tIns="0" rIns="0" bIns="0" rtlCol="0" anchor="t">
            <a:normAutofit/>
          </a:bodyPr>
          <a:lstStyle/>
          <a:p>
            <a:pPr marL="0" indent="0" algn="l">
              <a:lnSpc>
                <a:spcPct val="82000"/>
              </a:lnSpc>
              <a:buNone/>
            </a:pPr>
            <a:r>
              <a:rPr lang="en-US" sz="650" dirty="0">
                <a:solidFill>
                  <a:srgbClr val="272525"/>
                </a:solidFill>
                <a:latin typeface="DM Sans" pitchFamily="34" charset="0"/>
                <a:ea typeface="DM Sans" pitchFamily="34" charset="-122"/>
                <a:cs typeface="DM Sans" pitchFamily="34" charset="-120"/>
              </a:rPr>
              <a:t>       </a:t>
            </a:r>
            <a:r>
              <a:rPr lang="en-US" sz="650" b="1" dirty="0">
                <a:solidFill>
                  <a:srgbClr val="272525"/>
                </a:solidFill>
                <a:latin typeface="DM Sans Bold" pitchFamily="34" charset="0"/>
                <a:ea typeface="DM Sans Bold" pitchFamily="34" charset="-122"/>
                <a:cs typeface="DM Sans Bold" pitchFamily="34" charset="-120"/>
              </a:rPr>
              <a:t>Critical Insight:</a:t>
            </a:r>
            <a:r>
              <a:rPr lang="en-US" sz="650" dirty="0">
                <a:solidFill>
                  <a:srgbClr val="272525"/>
                </a:solidFill>
                <a:latin typeface="DM Sans" pitchFamily="34" charset="0"/>
                <a:ea typeface="DM Sans" pitchFamily="34" charset="-122"/>
                <a:cs typeface="DM Sans" pitchFamily="34" charset="-120"/>
              </a:rPr>
              <a:t> A payment that fails at a shop counter with people waiting behind leaves an emotional impression that months of good service struggle to undo. The combination of push and pull forces creates a two-sided retention problem that requires simultaneous attention to both competitive incentives and core service reliability.     </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693738"/>
            <a:ext cx="6296860" cy="392807"/>
          </a:xfrm>
          <a:prstGeom prst="rect">
            <a:avLst/>
          </a:prstGeom>
          <a:noFill/>
          <a:ln/>
        </p:spPr>
        <p:txBody>
          <a:bodyPr wrap="none" lIns="0" tIns="0" rIns="0" bIns="0" rtlCol="0" anchor="t"/>
          <a:lstStyle/>
          <a:p>
            <a:pPr marL="0" indent="0" algn="l">
              <a:lnSpc>
                <a:spcPct val="83000"/>
              </a:lnSpc>
              <a:buNone/>
            </a:pPr>
            <a:r>
              <a:rPr lang="en-US" sz="3050" dirty="0">
                <a:solidFill>
                  <a:srgbClr val="000000"/>
                </a:solidFill>
                <a:latin typeface="DM Sans SemiBold" pitchFamily="34" charset="0"/>
                <a:ea typeface="DM Sans SemiBold" pitchFamily="34" charset="-122"/>
                <a:cs typeface="DM Sans SemiBold" pitchFamily="34" charset="-120"/>
              </a:rPr>
              <a:t>Churn Drivers and Conflicts</a:t>
            </a:r>
            <a:endParaRPr lang="en-US" sz="3050" dirty="0"/>
          </a:p>
        </p:txBody>
      </p:sp>
      <p:pic>
        <p:nvPicPr>
          <p:cNvPr id="4" name="Image 1" descr="preencoded.png"/>
          <p:cNvPicPr>
            <a:picLocks noChangeAspect="1"/>
          </p:cNvPicPr>
          <p:nvPr/>
        </p:nvPicPr>
        <p:blipFill>
          <a:blip r:embed="rId4"/>
          <a:stretch>
            <a:fillRect/>
          </a:stretch>
        </p:blipFill>
        <p:spPr>
          <a:xfrm>
            <a:off x="5233360" y="1310382"/>
            <a:ext cx="785594" cy="1278731"/>
          </a:xfrm>
          <a:prstGeom prst="rect">
            <a:avLst/>
          </a:prstGeom>
        </p:spPr>
      </p:pic>
      <p:sp>
        <p:nvSpPr>
          <p:cNvPr id="5" name="Text 1"/>
          <p:cNvSpPr/>
          <p:nvPr/>
        </p:nvSpPr>
        <p:spPr>
          <a:xfrm>
            <a:off x="6168176" y="1310382"/>
            <a:ext cx="5362044" cy="235645"/>
          </a:xfrm>
          <a:prstGeom prst="rect">
            <a:avLst/>
          </a:prstGeom>
          <a:noFill/>
          <a:ln/>
        </p:spPr>
        <p:txBody>
          <a:bodyPr wrap="none" lIns="0" tIns="0" rIns="0" bIns="0" rtlCol="0" anchor="t"/>
          <a:lstStyle/>
          <a:p>
            <a:pPr marL="0" indent="0" algn="l">
              <a:lnSpc>
                <a:spcPct val="83000"/>
              </a:lnSpc>
              <a:buNone/>
            </a:pPr>
            <a:r>
              <a:rPr lang="en-US" sz="1850" dirty="0">
                <a:solidFill>
                  <a:srgbClr val="272525"/>
                </a:solidFill>
                <a:latin typeface="DM Sans SemiBold" pitchFamily="34" charset="0"/>
                <a:ea typeface="DM Sans SemiBold" pitchFamily="34" charset="-122"/>
                <a:cs typeface="DM Sans SemiBold" pitchFamily="34" charset="-120"/>
              </a:rPr>
              <a:t>Pull Factor: Better Offers Elsewhere</a:t>
            </a:r>
            <a:endParaRPr lang="en-US" sz="1850" dirty="0"/>
          </a:p>
        </p:txBody>
      </p:sp>
      <p:sp>
        <p:nvSpPr>
          <p:cNvPr id="6" name="Text 2"/>
          <p:cNvSpPr/>
          <p:nvPr/>
        </p:nvSpPr>
        <p:spPr>
          <a:xfrm>
            <a:off x="6168176" y="1635522"/>
            <a:ext cx="5362044" cy="796528"/>
          </a:xfrm>
          <a:prstGeom prst="rect">
            <a:avLst/>
          </a:prstGeom>
          <a:noFill/>
          <a:ln/>
        </p:spPr>
        <p:txBody>
          <a:bodyPr wrap="square" lIns="0" tIns="0" rIns="0" bIns="0" rtlCol="0" anchor="t">
            <a:normAutofit/>
          </a:bodyPr>
          <a:lstStyle/>
          <a:p>
            <a:pPr marL="0" indent="0" algn="l">
              <a:lnSpc>
                <a:spcPct val="106000"/>
              </a:lnSpc>
              <a:buNone/>
            </a:pPr>
            <a:r>
              <a:rPr lang="en-US" sz="1200" dirty="0">
                <a:solidFill>
                  <a:srgbClr val="272525"/>
                </a:solidFill>
                <a:latin typeface="DM Sans" pitchFamily="34" charset="0"/>
                <a:ea typeface="DM Sans" pitchFamily="34" charset="-122"/>
                <a:cs typeface="DM Sans" pitchFamily="34" charset="-120"/>
              </a:rPr>
              <a:t>34% of respondents who switched cited better cashback and offers on another app as the primary reason. This is a "pull" conflict — the customer is attracted away rather than pushed out. Loyalty built on cashback alone is rented, not owned, and can be outbid at any time by a competitor.</a:t>
            </a:r>
            <a:endParaRPr lang="en-US" sz="1200" dirty="0"/>
          </a:p>
        </p:txBody>
      </p:sp>
      <p:pic>
        <p:nvPicPr>
          <p:cNvPr id="7" name="Image 2" descr="preencoded.png"/>
          <p:cNvPicPr>
            <a:picLocks noChangeAspect="1"/>
          </p:cNvPicPr>
          <p:nvPr/>
        </p:nvPicPr>
        <p:blipFill>
          <a:blip r:embed="rId5"/>
          <a:stretch>
            <a:fillRect/>
          </a:stretch>
        </p:blipFill>
        <p:spPr>
          <a:xfrm>
            <a:off x="5233360" y="2746177"/>
            <a:ext cx="785594" cy="1278731"/>
          </a:xfrm>
          <a:prstGeom prst="rect">
            <a:avLst/>
          </a:prstGeom>
        </p:spPr>
      </p:pic>
      <p:sp>
        <p:nvSpPr>
          <p:cNvPr id="8" name="Text 3"/>
          <p:cNvSpPr/>
          <p:nvPr/>
        </p:nvSpPr>
        <p:spPr>
          <a:xfrm>
            <a:off x="6168176" y="2746177"/>
            <a:ext cx="5362044" cy="235645"/>
          </a:xfrm>
          <a:prstGeom prst="rect">
            <a:avLst/>
          </a:prstGeom>
          <a:noFill/>
          <a:ln/>
        </p:spPr>
        <p:txBody>
          <a:bodyPr wrap="none" lIns="0" tIns="0" rIns="0" bIns="0" rtlCol="0" anchor="t"/>
          <a:lstStyle/>
          <a:p>
            <a:pPr marL="0" indent="0" algn="l">
              <a:lnSpc>
                <a:spcPct val="83000"/>
              </a:lnSpc>
              <a:buNone/>
            </a:pPr>
            <a:r>
              <a:rPr lang="en-US" sz="1850" dirty="0">
                <a:solidFill>
                  <a:srgbClr val="272525"/>
                </a:solidFill>
                <a:latin typeface="DM Sans SemiBold" pitchFamily="34" charset="0"/>
                <a:ea typeface="DM Sans SemiBold" pitchFamily="34" charset="-122"/>
                <a:cs typeface="DM Sans SemiBold" pitchFamily="34" charset="-120"/>
              </a:rPr>
              <a:t>Push Factor: Service Failures &amp; Trust Gaps</a:t>
            </a:r>
            <a:endParaRPr lang="en-US" sz="1850" dirty="0"/>
          </a:p>
        </p:txBody>
      </p:sp>
      <p:sp>
        <p:nvSpPr>
          <p:cNvPr id="9" name="Text 4"/>
          <p:cNvSpPr/>
          <p:nvPr/>
        </p:nvSpPr>
        <p:spPr>
          <a:xfrm>
            <a:off x="6168176" y="3071316"/>
            <a:ext cx="5362044" cy="796528"/>
          </a:xfrm>
          <a:prstGeom prst="rect">
            <a:avLst/>
          </a:prstGeom>
          <a:noFill/>
          <a:ln/>
        </p:spPr>
        <p:txBody>
          <a:bodyPr wrap="square" lIns="0" tIns="0" rIns="0" bIns="0" rtlCol="0" anchor="t">
            <a:normAutofit/>
          </a:bodyPr>
          <a:lstStyle/>
          <a:p>
            <a:pPr marL="0" indent="0" algn="l">
              <a:lnSpc>
                <a:spcPct val="106000"/>
              </a:lnSpc>
              <a:buNone/>
            </a:pPr>
            <a:r>
              <a:rPr lang="en-US" sz="1200" dirty="0">
                <a:solidFill>
                  <a:srgbClr val="272525"/>
                </a:solidFill>
                <a:latin typeface="DM Sans" pitchFamily="34" charset="0"/>
                <a:ea typeface="DM Sans" pitchFamily="34" charset="-122"/>
                <a:cs typeface="DM Sans" pitchFamily="34" charset="-120"/>
              </a:rPr>
              <a:t>Transaction failure (22%), security concerns, poor customer support and a clunky experience collectively form the "push" side of churn. A payment that fails at a shop counter with people waiting behind leaves an emotional impression that months of good service can struggle to undo.</a:t>
            </a:r>
            <a:endParaRPr lang="en-US" sz="1200" dirty="0"/>
          </a:p>
        </p:txBody>
      </p:sp>
      <p:sp>
        <p:nvSpPr>
          <p:cNvPr id="10" name="Text 5"/>
          <p:cNvSpPr/>
          <p:nvPr/>
        </p:nvSpPr>
        <p:spPr>
          <a:xfrm>
            <a:off x="5233360" y="4349849"/>
            <a:ext cx="6296860" cy="398264"/>
          </a:xfrm>
          <a:prstGeom prst="rect">
            <a:avLst/>
          </a:prstGeom>
          <a:noFill/>
          <a:ln/>
        </p:spPr>
        <p:txBody>
          <a:bodyPr wrap="square" lIns="0" tIns="0" rIns="0" bIns="0" rtlCol="0" anchor="t">
            <a:normAutofit/>
          </a:bodyPr>
          <a:lstStyle/>
          <a:p>
            <a:pPr marL="0" indent="0" algn="l">
              <a:lnSpc>
                <a:spcPct val="106000"/>
              </a:lnSpc>
              <a:buNone/>
            </a:pPr>
            <a:r>
              <a:rPr lang="en-US" sz="1200" dirty="0">
                <a:solidFill>
                  <a:srgbClr val="272525"/>
                </a:solidFill>
                <a:latin typeface="DM Sans" pitchFamily="34" charset="0"/>
                <a:ea typeface="DM Sans" pitchFamily="34" charset="-122"/>
                <a:cs typeface="DM Sans" pitchFamily="34" charset="-120"/>
              </a:rPr>
              <a:t>These two forces create a two-sided retention problem. The customer cannot be kept by offers alone, nor by reliability alone. Both fronts must be held simultaneously.</a:t>
            </a:r>
            <a:endParaRPr lang="en-US" sz="1200" dirty="0"/>
          </a:p>
        </p:txBody>
      </p:sp>
      <p:pic>
        <p:nvPicPr>
          <p:cNvPr id="11" name="Image 3" descr="preencoded.png"/>
          <p:cNvPicPr>
            <a:picLocks noChangeAspect="1"/>
          </p:cNvPicPr>
          <p:nvPr/>
        </p:nvPicPr>
        <p:blipFill>
          <a:blip r:embed="rId6"/>
          <a:stretch>
            <a:fillRect/>
          </a:stretch>
        </p:blipFill>
        <p:spPr>
          <a:xfrm>
            <a:off x="5233360" y="4915991"/>
            <a:ext cx="265007" cy="235645"/>
          </a:xfrm>
          <a:prstGeom prst="rect">
            <a:avLst/>
          </a:prstGeom>
        </p:spPr>
      </p:pic>
      <p:pic>
        <p:nvPicPr>
          <p:cNvPr id="12" name="Image 4" descr="preencoded.png"/>
          <p:cNvPicPr>
            <a:picLocks noChangeAspect="1"/>
          </p:cNvPicPr>
          <p:nvPr/>
        </p:nvPicPr>
        <p:blipFill>
          <a:blip r:embed="rId6"/>
          <a:stretch>
            <a:fillRect/>
          </a:stretch>
        </p:blipFill>
        <p:spPr>
          <a:xfrm>
            <a:off x="5537558" y="4915991"/>
            <a:ext cx="265007" cy="235645"/>
          </a:xfrm>
          <a:prstGeom prst="rect">
            <a:avLst/>
          </a:prstGeom>
        </p:spPr>
      </p:pic>
      <p:pic>
        <p:nvPicPr>
          <p:cNvPr id="13" name="Image 5" descr="preencoded.png"/>
          <p:cNvPicPr>
            <a:picLocks noChangeAspect="1"/>
          </p:cNvPicPr>
          <p:nvPr/>
        </p:nvPicPr>
        <p:blipFill>
          <a:blip r:embed="rId6"/>
          <a:stretch>
            <a:fillRect/>
          </a:stretch>
        </p:blipFill>
        <p:spPr>
          <a:xfrm>
            <a:off x="5841755" y="4915991"/>
            <a:ext cx="265007" cy="235645"/>
          </a:xfrm>
          <a:prstGeom prst="rect">
            <a:avLst/>
          </a:prstGeom>
        </p:spPr>
      </p:pic>
      <p:pic>
        <p:nvPicPr>
          <p:cNvPr id="14" name="Image 6" descr="preencoded.png"/>
          <p:cNvPicPr>
            <a:picLocks noChangeAspect="1"/>
          </p:cNvPicPr>
          <p:nvPr/>
        </p:nvPicPr>
        <p:blipFill>
          <a:blip r:embed="rId6"/>
          <a:stretch>
            <a:fillRect/>
          </a:stretch>
        </p:blipFill>
        <p:spPr>
          <a:xfrm>
            <a:off x="6145952" y="4915991"/>
            <a:ext cx="265007" cy="235645"/>
          </a:xfrm>
          <a:prstGeom prst="rect">
            <a:avLst/>
          </a:prstGeom>
        </p:spPr>
      </p:pic>
      <p:pic>
        <p:nvPicPr>
          <p:cNvPr id="15" name="Image 7" descr="preencoded.png"/>
          <p:cNvPicPr>
            <a:picLocks noChangeAspect="1"/>
          </p:cNvPicPr>
          <p:nvPr/>
        </p:nvPicPr>
        <p:blipFill>
          <a:blip r:embed="rId6"/>
          <a:stretch>
            <a:fillRect/>
          </a:stretch>
        </p:blipFill>
        <p:spPr>
          <a:xfrm>
            <a:off x="6450149" y="4915991"/>
            <a:ext cx="265007" cy="235645"/>
          </a:xfrm>
          <a:prstGeom prst="rect">
            <a:avLst/>
          </a:prstGeom>
        </p:spPr>
      </p:pic>
      <p:sp>
        <p:nvSpPr>
          <p:cNvPr id="16" name="Text 6"/>
          <p:cNvSpPr/>
          <p:nvPr/>
        </p:nvSpPr>
        <p:spPr>
          <a:xfrm>
            <a:off x="6832925" y="4944269"/>
            <a:ext cx="312829" cy="196453"/>
          </a:xfrm>
          <a:prstGeom prst="rect">
            <a:avLst/>
          </a:prstGeom>
          <a:noFill/>
          <a:ln/>
        </p:spPr>
        <p:txBody>
          <a:bodyPr wrap="none" lIns="0" tIns="0" rIns="0" bIns="0" rtlCol="0" anchor="t"/>
          <a:lstStyle/>
          <a:p>
            <a:pPr marL="0" indent="0" algn="l">
              <a:lnSpc>
                <a:spcPct val="83000"/>
              </a:lnSpc>
              <a:buNone/>
            </a:pPr>
            <a:r>
              <a:rPr lang="en-US" sz="1500" dirty="0">
                <a:solidFill>
                  <a:srgbClr val="272525"/>
                </a:solidFill>
                <a:latin typeface="DM Sans SemiBold" pitchFamily="34" charset="0"/>
                <a:ea typeface="DM Sans SemiBold" pitchFamily="34" charset="-122"/>
                <a:cs typeface="DM Sans SemiBold" pitchFamily="34" charset="-120"/>
              </a:rPr>
              <a:t>5/5</a:t>
            </a:r>
            <a:endParaRPr lang="en-US" sz="1500" dirty="0"/>
          </a:p>
        </p:txBody>
      </p:sp>
      <p:sp>
        <p:nvSpPr>
          <p:cNvPr id="17" name="Text 7"/>
          <p:cNvSpPr/>
          <p:nvPr/>
        </p:nvSpPr>
        <p:spPr>
          <a:xfrm>
            <a:off x="5233360" y="5280918"/>
            <a:ext cx="6296860" cy="196453"/>
          </a:xfrm>
          <a:prstGeom prst="rect">
            <a:avLst/>
          </a:prstGeom>
          <a:noFill/>
          <a:ln/>
        </p:spPr>
        <p:txBody>
          <a:bodyPr wrap="none" lIns="0" tIns="0" rIns="0" bIns="0" rtlCol="0" anchor="t"/>
          <a:lstStyle/>
          <a:p>
            <a:pPr marL="0" indent="0" algn="l">
              <a:lnSpc>
                <a:spcPct val="83000"/>
              </a:lnSpc>
              <a:buNone/>
            </a:pPr>
            <a:r>
              <a:rPr lang="en-US" sz="1500" dirty="0">
                <a:solidFill>
                  <a:srgbClr val="272525"/>
                </a:solidFill>
                <a:latin typeface="DM Sans SemiBold" pitchFamily="34" charset="0"/>
                <a:ea typeface="DM Sans SemiBold" pitchFamily="34" charset="-122"/>
                <a:cs typeface="DM Sans SemiBold" pitchFamily="34" charset="-120"/>
              </a:rPr>
              <a:t>Avg. Satisfaction: 3.85 / 5</a:t>
            </a:r>
            <a:endParaRPr lang="en-US" sz="1500" dirty="0"/>
          </a:p>
        </p:txBody>
      </p:sp>
      <p:sp>
        <p:nvSpPr>
          <p:cNvPr id="18" name="Text 8"/>
          <p:cNvSpPr/>
          <p:nvPr/>
        </p:nvSpPr>
        <p:spPr>
          <a:xfrm>
            <a:off x="5233360" y="5566866"/>
            <a:ext cx="6296860" cy="597396"/>
          </a:xfrm>
          <a:prstGeom prst="rect">
            <a:avLst/>
          </a:prstGeom>
          <a:noFill/>
          <a:ln/>
        </p:spPr>
        <p:txBody>
          <a:bodyPr wrap="square" lIns="0" tIns="0" rIns="0" bIns="0" rtlCol="0" anchor="t">
            <a:normAutofit/>
          </a:bodyPr>
          <a:lstStyle/>
          <a:p>
            <a:pPr marL="0" indent="0" algn="l">
              <a:lnSpc>
                <a:spcPct val="106000"/>
              </a:lnSpc>
              <a:buNone/>
            </a:pPr>
            <a:r>
              <a:rPr lang="en-US" sz="1200" dirty="0">
                <a:solidFill>
                  <a:srgbClr val="272525"/>
                </a:solidFill>
                <a:latin typeface="DM Sans" pitchFamily="34" charset="0"/>
                <a:ea typeface="DM Sans" pitchFamily="34" charset="-122"/>
                <a:cs typeface="DM Sans" pitchFamily="34" charset="-120"/>
              </a:rPr>
              <a:t>Most respondents are satisfied, yet a neutral middle group of ~22% sits exactly in the danger zone — neither delighted nor disloyal, just getting by. This is the cohort most likely to drift at the next better offer or failed transaction.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661475" y="526653"/>
            <a:ext cx="132255" cy="132259"/>
          </a:xfrm>
          <a:prstGeom prst="rect">
            <a:avLst/>
          </a:prstGeom>
          <a:solidFill>
            <a:srgbClr val="911E1B"/>
          </a:solidFill>
          <a:ln/>
        </p:spPr>
      </p:sp>
      <p:sp>
        <p:nvSpPr>
          <p:cNvPr id="3" name="Text 1"/>
          <p:cNvSpPr/>
          <p:nvPr/>
        </p:nvSpPr>
        <p:spPr>
          <a:xfrm>
            <a:off x="859808" y="516731"/>
            <a:ext cx="1456892" cy="152202"/>
          </a:xfrm>
          <a:prstGeom prst="rect">
            <a:avLst/>
          </a:prstGeom>
          <a:noFill/>
          <a:ln/>
        </p:spPr>
        <p:txBody>
          <a:bodyPr wrap="none" lIns="0" tIns="0" rIns="0" bIns="0" rtlCol="0" anchor="t"/>
          <a:lstStyle/>
          <a:p>
            <a:pPr marL="0" indent="0" algn="l">
              <a:lnSpc>
                <a:spcPct val="96000"/>
              </a:lnSpc>
              <a:buNone/>
            </a:pPr>
            <a:r>
              <a:rPr lang="en-US" sz="1000" dirty="0">
                <a:solidFill>
                  <a:srgbClr val="911E1B"/>
                </a:solidFill>
                <a:latin typeface="DM Sans" pitchFamily="34" charset="0"/>
                <a:ea typeface="DM Sans" pitchFamily="34" charset="-122"/>
                <a:cs typeface="DM Sans" pitchFamily="34" charset="-120"/>
              </a:rPr>
              <a:t>KEY FINDINGS</a:t>
            </a:r>
            <a:endParaRPr lang="en-US" sz="1000" dirty="0"/>
          </a:p>
        </p:txBody>
      </p:sp>
      <p:sp>
        <p:nvSpPr>
          <p:cNvPr id="4" name="Text 2"/>
          <p:cNvSpPr/>
          <p:nvPr/>
        </p:nvSpPr>
        <p:spPr>
          <a:xfrm>
            <a:off x="661475" y="784622"/>
            <a:ext cx="10868745" cy="413445"/>
          </a:xfrm>
          <a:prstGeom prst="rect">
            <a:avLst/>
          </a:prstGeom>
          <a:noFill/>
          <a:ln/>
        </p:spPr>
        <p:txBody>
          <a:bodyPr wrap="none" lIns="0" tIns="0" rIns="0" bIns="0" rtlCol="0" anchor="t"/>
          <a:lstStyle/>
          <a:p>
            <a:pPr marL="0" indent="0" algn="l">
              <a:lnSpc>
                <a:spcPct val="83000"/>
              </a:lnSpc>
              <a:buNone/>
            </a:pPr>
            <a:r>
              <a:rPr lang="en-US" sz="3250" dirty="0">
                <a:solidFill>
                  <a:srgbClr val="000000"/>
                </a:solidFill>
                <a:latin typeface="DM Sans SemiBold" pitchFamily="34" charset="0"/>
                <a:ea typeface="DM Sans SemiBold" pitchFamily="34" charset="-122"/>
                <a:cs typeface="DM Sans SemiBold" pitchFamily="34" charset="-120"/>
              </a:rPr>
              <a:t>What the Data Reveals</a:t>
            </a:r>
            <a:endParaRPr lang="en-US" sz="3250" dirty="0"/>
          </a:p>
        </p:txBody>
      </p:sp>
      <p:sp>
        <p:nvSpPr>
          <p:cNvPr id="5" name="Text 3"/>
          <p:cNvSpPr/>
          <p:nvPr/>
        </p:nvSpPr>
        <p:spPr>
          <a:xfrm>
            <a:off x="661475" y="1446113"/>
            <a:ext cx="11478330" cy="215007"/>
          </a:xfrm>
          <a:prstGeom prst="rect">
            <a:avLst/>
          </a:prstGeom>
          <a:noFill/>
          <a:ln/>
        </p:spPr>
        <p:txBody>
          <a:bodyPr wrap="none" lIns="0" tIns="0" rIns="0" bIns="0" rtlCol="0" anchor="t"/>
          <a:lstStyle/>
          <a:p>
            <a:pPr marL="0" indent="0" algn="l">
              <a:lnSpc>
                <a:spcPct val="108000"/>
              </a:lnSpc>
              <a:buNone/>
            </a:pPr>
            <a:r>
              <a:rPr lang="en-US" sz="1300" dirty="0">
                <a:solidFill>
                  <a:srgbClr val="272525"/>
                </a:solidFill>
                <a:latin typeface="DM Sans" pitchFamily="34" charset="0"/>
                <a:ea typeface="DM Sans" pitchFamily="34" charset="-122"/>
                <a:cs typeface="DM Sans" pitchFamily="34" charset="-120"/>
              </a:rPr>
              <a:t>Beyond the surface numbers, the study surfaces profound insights about customer behaviour in India's UPI ecosystem.</a:t>
            </a:r>
            <a:endParaRPr lang="en-US" sz="1300" dirty="0"/>
          </a:p>
        </p:txBody>
      </p:sp>
      <p:sp>
        <p:nvSpPr>
          <p:cNvPr id="6" name="Shape 4"/>
          <p:cNvSpPr/>
          <p:nvPr/>
        </p:nvSpPr>
        <p:spPr>
          <a:xfrm>
            <a:off x="909516" y="2508647"/>
            <a:ext cx="3264513" cy="165298"/>
          </a:xfrm>
          <a:prstGeom prst="roundRect">
            <a:avLst>
              <a:gd name="adj" fmla="val 42024"/>
            </a:avLst>
          </a:prstGeom>
          <a:solidFill>
            <a:srgbClr val="EFE8DD"/>
          </a:solidFill>
          <a:ln w="6350">
            <a:solidFill>
              <a:srgbClr val="D5CEC3"/>
            </a:solidFill>
            <a:prstDash val="solid"/>
          </a:ln>
        </p:spPr>
      </p:sp>
      <p:sp>
        <p:nvSpPr>
          <p:cNvPr id="7" name="Shape 5"/>
          <p:cNvSpPr/>
          <p:nvPr/>
        </p:nvSpPr>
        <p:spPr>
          <a:xfrm>
            <a:off x="661475" y="2343249"/>
            <a:ext cx="496081" cy="496094"/>
          </a:xfrm>
          <a:prstGeom prst="ellipse">
            <a:avLst/>
          </a:prstGeom>
          <a:solidFill>
            <a:srgbClr val="EFE8DD"/>
          </a:solidFill>
          <a:ln w="6350">
            <a:solidFill>
              <a:srgbClr val="D5CEC3"/>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5495" y="2467273"/>
            <a:ext cx="248041" cy="248047"/>
          </a:xfrm>
          <a:prstGeom prst="rect">
            <a:avLst/>
          </a:prstGeom>
        </p:spPr>
      </p:pic>
      <p:sp>
        <p:nvSpPr>
          <p:cNvPr id="9" name="Text 6"/>
          <p:cNvSpPr/>
          <p:nvPr/>
        </p:nvSpPr>
        <p:spPr>
          <a:xfrm>
            <a:off x="826769" y="3004641"/>
            <a:ext cx="3182064" cy="413544"/>
          </a:xfrm>
          <a:prstGeom prst="rect">
            <a:avLst/>
          </a:prstGeom>
          <a:noFill/>
          <a:ln/>
        </p:spPr>
        <p:txBody>
          <a:bodyPr wrap="square" lIns="0" tIns="0" rIns="0" bIns="0" rtlCol="0" anchor="t">
            <a:normAutofit/>
          </a:bodyPr>
          <a:lstStyle/>
          <a:p>
            <a:pPr marL="0" indent="0" algn="l">
              <a:lnSpc>
                <a:spcPct val="83000"/>
              </a:lnSpc>
              <a:buNone/>
            </a:pPr>
            <a:r>
              <a:rPr lang="en-US" sz="1600" dirty="0">
                <a:solidFill>
                  <a:srgbClr val="272525"/>
                </a:solidFill>
                <a:latin typeface="DM Sans SemiBold" pitchFamily="34" charset="0"/>
                <a:ea typeface="DM Sans SemiBold" pitchFamily="34" charset="-122"/>
                <a:cs typeface="DM Sans SemiBold" pitchFamily="34" charset="-120"/>
              </a:rPr>
              <a:t>Habitual Daily Use Amplifies Churn Risk</a:t>
            </a:r>
            <a:endParaRPr lang="en-US" sz="1600" dirty="0"/>
          </a:p>
        </p:txBody>
      </p:sp>
      <p:sp>
        <p:nvSpPr>
          <p:cNvPr id="10" name="Text 7"/>
          <p:cNvSpPr/>
          <p:nvPr/>
        </p:nvSpPr>
        <p:spPr>
          <a:xfrm>
            <a:off x="826769" y="3517404"/>
            <a:ext cx="3182064" cy="1505049"/>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72525"/>
                </a:solidFill>
                <a:latin typeface="DM Sans" pitchFamily="34" charset="0"/>
                <a:ea typeface="DM Sans" pitchFamily="34" charset="-122"/>
                <a:cs typeface="DM Sans" pitchFamily="34" charset="-120"/>
              </a:rPr>
              <a:t>76% of respondents use UPI every single day. When a service is used this frequently, small irritations compound quickly. A run of failed transactions or a bad support experience can turn a daily user into someone who quietly shifts to a rival app within days.</a:t>
            </a:r>
            <a:endParaRPr lang="en-US" sz="1300" dirty="0"/>
          </a:p>
        </p:txBody>
      </p:sp>
      <p:sp>
        <p:nvSpPr>
          <p:cNvPr id="11" name="Shape 8"/>
          <p:cNvSpPr/>
          <p:nvPr/>
        </p:nvSpPr>
        <p:spPr>
          <a:xfrm>
            <a:off x="4587463" y="2260600"/>
            <a:ext cx="3264612" cy="165298"/>
          </a:xfrm>
          <a:prstGeom prst="roundRect">
            <a:avLst>
              <a:gd name="adj" fmla="val 42024"/>
            </a:avLst>
          </a:prstGeom>
          <a:solidFill>
            <a:srgbClr val="EFE8DD"/>
          </a:solidFill>
          <a:ln w="6350">
            <a:solidFill>
              <a:srgbClr val="D5CEC3"/>
            </a:solidFill>
            <a:prstDash val="solid"/>
          </a:ln>
        </p:spPr>
      </p:sp>
      <p:sp>
        <p:nvSpPr>
          <p:cNvPr id="12" name="Shape 9"/>
          <p:cNvSpPr/>
          <p:nvPr/>
        </p:nvSpPr>
        <p:spPr>
          <a:xfrm>
            <a:off x="4339422" y="2095202"/>
            <a:ext cx="496081" cy="496094"/>
          </a:xfrm>
          <a:prstGeom prst="ellipse">
            <a:avLst/>
          </a:prstGeom>
          <a:solidFill>
            <a:srgbClr val="EFE8DD"/>
          </a:solidFill>
          <a:ln w="6350">
            <a:solidFill>
              <a:srgbClr val="D5CEC3"/>
            </a:solidFill>
            <a:prstDash val="solid"/>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63442" y="2219226"/>
            <a:ext cx="248041" cy="248047"/>
          </a:xfrm>
          <a:prstGeom prst="rect">
            <a:avLst/>
          </a:prstGeom>
        </p:spPr>
      </p:pic>
      <p:sp>
        <p:nvSpPr>
          <p:cNvPr id="14" name="Text 10"/>
          <p:cNvSpPr/>
          <p:nvPr/>
        </p:nvSpPr>
        <p:spPr>
          <a:xfrm>
            <a:off x="4504716" y="2756595"/>
            <a:ext cx="3182163" cy="413544"/>
          </a:xfrm>
          <a:prstGeom prst="rect">
            <a:avLst/>
          </a:prstGeom>
          <a:noFill/>
          <a:ln/>
        </p:spPr>
        <p:txBody>
          <a:bodyPr wrap="square" lIns="0" tIns="0" rIns="0" bIns="0" rtlCol="0" anchor="t">
            <a:normAutofit/>
          </a:bodyPr>
          <a:lstStyle/>
          <a:p>
            <a:pPr marL="0" indent="0" algn="l">
              <a:lnSpc>
                <a:spcPct val="83000"/>
              </a:lnSpc>
              <a:buNone/>
            </a:pPr>
            <a:r>
              <a:rPr lang="en-US" sz="1600" dirty="0">
                <a:solidFill>
                  <a:srgbClr val="272525"/>
                </a:solidFill>
                <a:latin typeface="DM Sans SemiBold" pitchFamily="34" charset="0"/>
                <a:ea typeface="DM Sans SemiBold" pitchFamily="34" charset="-122"/>
                <a:cs typeface="DM Sans SemiBold" pitchFamily="34" charset="-120"/>
              </a:rPr>
              <a:t>Security Confidence Is Conditional</a:t>
            </a:r>
            <a:endParaRPr lang="en-US" sz="1600" dirty="0"/>
          </a:p>
        </p:txBody>
      </p:sp>
      <p:sp>
        <p:nvSpPr>
          <p:cNvPr id="15" name="Text 11"/>
          <p:cNvSpPr/>
          <p:nvPr/>
        </p:nvSpPr>
        <p:spPr>
          <a:xfrm>
            <a:off x="4504716" y="3269357"/>
            <a:ext cx="3182163" cy="1720056"/>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72525"/>
                </a:solidFill>
                <a:latin typeface="DM Sans" pitchFamily="34" charset="0"/>
                <a:ea typeface="DM Sans" pitchFamily="34" charset="-122"/>
                <a:cs typeface="DM Sans" pitchFamily="34" charset="-120"/>
              </a:rPr>
              <a:t>Two-thirds of respondents feel UPI is secure — but 25% answered "maybe." That unsure group is fragile: one fraud story in their circle could tip them into churning. Security must be both genuinely strong and visibly communicated, not just technically robust.</a:t>
            </a:r>
            <a:endParaRPr lang="en-US" sz="1300" dirty="0"/>
          </a:p>
        </p:txBody>
      </p:sp>
      <p:sp>
        <p:nvSpPr>
          <p:cNvPr id="16" name="Shape 12"/>
          <p:cNvSpPr/>
          <p:nvPr/>
        </p:nvSpPr>
        <p:spPr>
          <a:xfrm>
            <a:off x="8265509" y="2012553"/>
            <a:ext cx="3264513" cy="165298"/>
          </a:xfrm>
          <a:prstGeom prst="roundRect">
            <a:avLst>
              <a:gd name="adj" fmla="val 42024"/>
            </a:avLst>
          </a:prstGeom>
          <a:solidFill>
            <a:srgbClr val="EFE8DD"/>
          </a:solidFill>
          <a:ln w="6350">
            <a:solidFill>
              <a:srgbClr val="D5CEC3"/>
            </a:solidFill>
            <a:prstDash val="solid"/>
          </a:ln>
        </p:spPr>
      </p:sp>
      <p:sp>
        <p:nvSpPr>
          <p:cNvPr id="17" name="Shape 13"/>
          <p:cNvSpPr/>
          <p:nvPr/>
        </p:nvSpPr>
        <p:spPr>
          <a:xfrm>
            <a:off x="8017468" y="1847155"/>
            <a:ext cx="496081" cy="496094"/>
          </a:xfrm>
          <a:prstGeom prst="ellipse">
            <a:avLst/>
          </a:prstGeom>
          <a:solidFill>
            <a:srgbClr val="EFE8DD"/>
          </a:solidFill>
          <a:ln w="6350">
            <a:solidFill>
              <a:srgbClr val="D5CEC3"/>
            </a:solidFill>
            <a:prstDash val="solid"/>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41489" y="1971179"/>
            <a:ext cx="248041" cy="248047"/>
          </a:xfrm>
          <a:prstGeom prst="rect">
            <a:avLst/>
          </a:prstGeom>
        </p:spPr>
      </p:pic>
      <p:sp>
        <p:nvSpPr>
          <p:cNvPr id="19" name="Text 14"/>
          <p:cNvSpPr/>
          <p:nvPr/>
        </p:nvSpPr>
        <p:spPr>
          <a:xfrm>
            <a:off x="8182762" y="2508548"/>
            <a:ext cx="3182064" cy="413544"/>
          </a:xfrm>
          <a:prstGeom prst="rect">
            <a:avLst/>
          </a:prstGeom>
          <a:noFill/>
          <a:ln/>
        </p:spPr>
        <p:txBody>
          <a:bodyPr wrap="square" lIns="0" tIns="0" rIns="0" bIns="0" rtlCol="0" anchor="t">
            <a:normAutofit/>
          </a:bodyPr>
          <a:lstStyle/>
          <a:p>
            <a:pPr marL="0" indent="0" algn="l">
              <a:lnSpc>
                <a:spcPct val="83000"/>
              </a:lnSpc>
              <a:buNone/>
            </a:pPr>
            <a:r>
              <a:rPr lang="en-US" sz="1600" dirty="0">
                <a:solidFill>
                  <a:srgbClr val="272525"/>
                </a:solidFill>
                <a:latin typeface="DM Sans SemiBold" pitchFamily="34" charset="0"/>
                <a:ea typeface="DM Sans SemiBold" pitchFamily="34" charset="-122"/>
                <a:cs typeface="DM Sans SemiBold" pitchFamily="34" charset="-120"/>
              </a:rPr>
              <a:t>Customer Support Is the Weakest Link</a:t>
            </a:r>
            <a:endParaRPr lang="en-US" sz="1600" dirty="0"/>
          </a:p>
        </p:txBody>
      </p:sp>
      <p:sp>
        <p:nvSpPr>
          <p:cNvPr id="20" name="Text 15"/>
          <p:cNvSpPr/>
          <p:nvPr/>
        </p:nvSpPr>
        <p:spPr>
          <a:xfrm>
            <a:off x="8182762" y="3021310"/>
            <a:ext cx="3182064" cy="1505049"/>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72525"/>
                </a:solidFill>
                <a:latin typeface="DM Sans" pitchFamily="34" charset="0"/>
                <a:ea typeface="DM Sans" pitchFamily="34" charset="-122"/>
                <a:cs typeface="DM Sans" pitchFamily="34" charset="-120"/>
              </a:rPr>
              <a:t>Only just over half of respondents rated support as good or excellent, while more than one in ten called it poor. Support is the one moment a frustrated user reaches out — if that moment goes badly it confirms every doubt they had and accelerates departure.</a:t>
            </a:r>
            <a:endParaRPr lang="en-US" sz="1300" dirty="0"/>
          </a:p>
        </p:txBody>
      </p:sp>
      <p:sp>
        <p:nvSpPr>
          <p:cNvPr id="21" name="Shape 16"/>
          <p:cNvSpPr/>
          <p:nvPr/>
        </p:nvSpPr>
        <p:spPr>
          <a:xfrm>
            <a:off x="661475" y="5373787"/>
            <a:ext cx="19050" cy="1017091"/>
          </a:xfrm>
          <a:prstGeom prst="roundRect">
            <a:avLst>
              <a:gd name="adj" fmla="val 59999"/>
            </a:avLst>
          </a:prstGeom>
          <a:solidFill>
            <a:srgbClr val="E07A5F"/>
          </a:solidFill>
          <a:ln/>
        </p:spPr>
      </p:sp>
      <p:sp>
        <p:nvSpPr>
          <p:cNvPr id="22" name="Text 17"/>
          <p:cNvSpPr/>
          <p:nvPr/>
        </p:nvSpPr>
        <p:spPr>
          <a:xfrm>
            <a:off x="909516" y="5559822"/>
            <a:ext cx="10620705" cy="645021"/>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272525"/>
                </a:solidFill>
                <a:latin typeface="DM Sans" pitchFamily="34" charset="0"/>
                <a:ea typeface="DM Sans" pitchFamily="34" charset="-122"/>
                <a:cs typeface="DM Sans" pitchFamily="34" charset="-120"/>
              </a:rPr>
              <a:t>Ultimately, the study shows that cashback gets a customer in the door, but the quieter factors — reliable transactions, visible security, and support that actually helps — are the ones that build loyalty which survives a competitor's next promotion. Companies that lean on analytics to spot these patterns early stand the best chance of keeping their customers in a crowded, competitive market.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1860649"/>
          </a:xfrm>
          <a:prstGeom prst="rect">
            <a:avLst/>
          </a:prstGeom>
        </p:spPr>
      </p:pic>
      <p:sp>
        <p:nvSpPr>
          <p:cNvPr id="3" name="Text 0"/>
          <p:cNvSpPr/>
          <p:nvPr/>
        </p:nvSpPr>
        <p:spPr>
          <a:xfrm>
            <a:off x="661475" y="2368748"/>
            <a:ext cx="10868745" cy="372170"/>
          </a:xfrm>
          <a:prstGeom prst="rect">
            <a:avLst/>
          </a:prstGeom>
          <a:noFill/>
          <a:ln/>
        </p:spPr>
        <p:txBody>
          <a:bodyPr wrap="none" lIns="0" tIns="0" rIns="0" bIns="0" rtlCol="0" anchor="t"/>
          <a:lstStyle/>
          <a:p>
            <a:pPr marL="0" indent="0" algn="l">
              <a:lnSpc>
                <a:spcPct val="83000"/>
              </a:lnSpc>
              <a:buNone/>
            </a:pPr>
            <a:r>
              <a:rPr lang="en-US" sz="2900" dirty="0">
                <a:solidFill>
                  <a:srgbClr val="000000"/>
                </a:solidFill>
                <a:latin typeface="DM Sans SemiBold" pitchFamily="34" charset="0"/>
                <a:ea typeface="DM Sans SemiBold" pitchFamily="34" charset="-122"/>
                <a:cs typeface="DM Sans SemiBold" pitchFamily="34" charset="-120"/>
              </a:rPr>
              <a:t>Conclusions &amp; Recommendations</a:t>
            </a:r>
            <a:endParaRPr lang="en-US" sz="29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425" y="2922786"/>
            <a:ext cx="5369684" cy="3446066"/>
          </a:xfrm>
          <a:prstGeom prst="rect">
            <a:avLst/>
          </a:prstGeom>
        </p:spPr>
      </p:pic>
      <p:sp>
        <p:nvSpPr>
          <p:cNvPr id="5" name="Text 1"/>
          <p:cNvSpPr/>
          <p:nvPr/>
        </p:nvSpPr>
        <p:spPr>
          <a:xfrm>
            <a:off x="848398" y="2941836"/>
            <a:ext cx="5163711" cy="223242"/>
          </a:xfrm>
          <a:prstGeom prst="rect">
            <a:avLst/>
          </a:prstGeom>
          <a:noFill/>
          <a:ln/>
        </p:spPr>
        <p:txBody>
          <a:bodyPr wrap="none" lIns="0" tIns="0" rIns="0" bIns="0" rtlCol="0" anchor="t"/>
          <a:lstStyle/>
          <a:p>
            <a:pPr marL="0" indent="0" algn="l">
              <a:lnSpc>
                <a:spcPct val="83000"/>
              </a:lnSpc>
              <a:buNone/>
            </a:pPr>
            <a:r>
              <a:rPr lang="en-US" sz="1750" dirty="0">
                <a:solidFill>
                  <a:srgbClr val="272525"/>
                </a:solidFill>
                <a:latin typeface="DM Sans SemiBold" pitchFamily="34" charset="0"/>
                <a:ea typeface="DM Sans SemiBold" pitchFamily="34" charset="-122"/>
                <a:cs typeface="DM Sans SemiBold" pitchFamily="34" charset="-120"/>
              </a:rPr>
              <a:t>What the Study Concludes</a:t>
            </a:r>
            <a:endParaRPr lang="en-US" sz="1750" dirty="0"/>
          </a:p>
        </p:txBody>
      </p:sp>
      <p:sp>
        <p:nvSpPr>
          <p:cNvPr id="6" name="Text 2"/>
          <p:cNvSpPr/>
          <p:nvPr/>
        </p:nvSpPr>
        <p:spPr>
          <a:xfrm>
            <a:off x="848398" y="3245445"/>
            <a:ext cx="5163711" cy="1917898"/>
          </a:xfrm>
          <a:prstGeom prst="rect">
            <a:avLst/>
          </a:prstGeom>
          <a:noFill/>
          <a:ln/>
        </p:spPr>
        <p:txBody>
          <a:bodyPr wrap="square" lIns="0" tIns="0" rIns="0" bIns="0" rtlCol="0" anchor="t">
            <a:normAutofit/>
          </a:bodyPr>
          <a:lstStyle/>
          <a:p>
            <a:pPr marL="0" indent="0" algn="l">
              <a:lnSpc>
                <a:spcPct val="103000"/>
              </a:lnSpc>
              <a:spcAft>
                <a:spcPts val="600"/>
              </a:spcAft>
              <a:buNone/>
            </a:pPr>
            <a:r>
              <a:rPr lang="en-US" sz="1150" dirty="0">
                <a:solidFill>
                  <a:srgbClr val="272525"/>
                </a:solidFill>
                <a:latin typeface="DM Sans" pitchFamily="34" charset="0"/>
                <a:ea typeface="DM Sans" pitchFamily="34" charset="-122"/>
                <a:cs typeface="DM Sans" pitchFamily="34" charset="-120"/>
              </a:rPr>
              <a:t>Retention has become one of the toughest challenges in this space — not because the products are weak, but precisely because they are all strong and all similar. Customer satisfaction is shaped most by transaction speed, security, ease of use, cashback offers, customer support and overall service quality. Google Pay and PhonePe lead largely on the strength of a smooth, trustworthy everyday experience rather than any single feature.</a:t>
            </a:r>
            <a:endParaRPr lang="en-US" sz="1150" dirty="0"/>
          </a:p>
          <a:p>
            <a:pPr marL="0" indent="0" algn="l">
              <a:lnSpc>
                <a:spcPct val="103000"/>
              </a:lnSpc>
              <a:buNone/>
            </a:pPr>
            <a:r>
              <a:rPr lang="en-US" sz="1150" dirty="0">
                <a:solidFill>
                  <a:srgbClr val="272525"/>
                </a:solidFill>
                <a:latin typeface="DM Sans" pitchFamily="34" charset="0"/>
                <a:ea typeface="DM Sans" pitchFamily="34" charset="-122"/>
                <a:cs typeface="DM Sans" pitchFamily="34" charset="-120"/>
              </a:rPr>
              <a:t>The analytics toolkit used in this study — Excel, SQL, Python and Power BI — demonstrates in a concrete way that raw survey data can be turned into a usable picture of churn factors and retention opportunities. The data already exists inside these companies; the real gap is the analysis.</a:t>
            </a:r>
            <a:endParaRPr lang="en-US" sz="1150" dirty="0"/>
          </a:p>
        </p:txBody>
      </p:sp>
      <p:sp>
        <p:nvSpPr>
          <p:cNvPr id="7" name="Text 3"/>
          <p:cNvSpPr/>
          <p:nvPr/>
        </p:nvSpPr>
        <p:spPr>
          <a:xfrm>
            <a:off x="848398" y="5243711"/>
            <a:ext cx="5163711" cy="1106091"/>
          </a:xfrm>
          <a:prstGeom prst="rect">
            <a:avLst/>
          </a:prstGeom>
          <a:noFill/>
          <a:ln/>
        </p:spPr>
        <p:txBody>
          <a:bodyPr wrap="square" lIns="0" tIns="0" rIns="0" bIns="0" rtlCol="0" anchor="t">
            <a:normAutofit/>
          </a:bodyPr>
          <a:lstStyle/>
          <a:p>
            <a:pPr marL="233680" indent="-233680" algn="l">
              <a:lnSpc>
                <a:spcPct val="103000"/>
              </a:lnSpc>
              <a:buSzPct val="100000"/>
              <a:buChar char="•"/>
            </a:pPr>
            <a:r>
              <a:rPr lang="en-US" sz="1150" b="1" dirty="0">
                <a:solidFill>
                  <a:srgbClr val="272525"/>
                </a:solidFill>
                <a:latin typeface="DM Sans Bold" pitchFamily="34" charset="0"/>
                <a:ea typeface="DM Sans Bold" pitchFamily="34" charset="-122"/>
                <a:cs typeface="DM Sans Bold" pitchFamily="34" charset="-120"/>
              </a:rPr>
              <a:t>H11 Supported:</a:t>
            </a:r>
            <a:r>
              <a:rPr lang="en-US" sz="1150" dirty="0">
                <a:solidFill>
                  <a:srgbClr val="272525"/>
                </a:solidFill>
                <a:latin typeface="DM Sans" pitchFamily="34" charset="0"/>
                <a:ea typeface="DM Sans" pitchFamily="34" charset="-122"/>
                <a:cs typeface="DM Sans" pitchFamily="34" charset="-120"/>
              </a:rPr>
              <a:t> Customer satisfaction significantly relates to retention</a:t>
            </a:r>
            <a:endParaRPr lang="en-US" sz="1150" dirty="0"/>
          </a:p>
          <a:p>
            <a:pPr marL="233680" indent="-233680" algn="l">
              <a:lnSpc>
                <a:spcPct val="103000"/>
              </a:lnSpc>
              <a:buSzPct val="100000"/>
              <a:buChar char="•"/>
            </a:pPr>
            <a:r>
              <a:rPr lang="en-US" sz="1150" b="1" dirty="0">
                <a:solidFill>
                  <a:srgbClr val="272525"/>
                </a:solidFill>
                <a:latin typeface="DM Sans Bold" pitchFamily="34" charset="0"/>
                <a:ea typeface="DM Sans Bold" pitchFamily="34" charset="-122"/>
                <a:cs typeface="DM Sans Bold" pitchFamily="34" charset="-120"/>
              </a:rPr>
              <a:t>H12 Supported:</a:t>
            </a:r>
            <a:r>
              <a:rPr lang="en-US" sz="1150" dirty="0">
                <a:solidFill>
                  <a:srgbClr val="272525"/>
                </a:solidFill>
                <a:latin typeface="DM Sans" pitchFamily="34" charset="0"/>
                <a:ea typeface="DM Sans" pitchFamily="34" charset="-122"/>
                <a:cs typeface="DM Sans" pitchFamily="34" charset="-120"/>
              </a:rPr>
              <a:t> Service quality significantly influences churn</a:t>
            </a:r>
            <a:endParaRPr lang="en-US" sz="1150" dirty="0"/>
          </a:p>
          <a:p>
            <a:pPr marL="233680" indent="-233680" algn="l">
              <a:lnSpc>
                <a:spcPct val="103000"/>
              </a:lnSpc>
              <a:buSzPct val="100000"/>
              <a:buChar char="•"/>
            </a:pPr>
            <a:r>
              <a:rPr lang="en-US" sz="1150" b="1" dirty="0">
                <a:solidFill>
                  <a:srgbClr val="272525"/>
                </a:solidFill>
                <a:latin typeface="DM Sans Bold" pitchFamily="34" charset="0"/>
                <a:ea typeface="DM Sans Bold" pitchFamily="34" charset="-122"/>
                <a:cs typeface="DM Sans Bold" pitchFamily="34" charset="-120"/>
              </a:rPr>
              <a:t>H13 Supported:</a:t>
            </a:r>
            <a:r>
              <a:rPr lang="en-US" sz="1150" dirty="0">
                <a:solidFill>
                  <a:srgbClr val="272525"/>
                </a:solidFill>
                <a:latin typeface="DM Sans" pitchFamily="34" charset="0"/>
                <a:ea typeface="DM Sans" pitchFamily="34" charset="-122"/>
                <a:cs typeface="DM Sans" pitchFamily="34" charset="-120"/>
              </a:rPr>
              <a:t> Trust and security significantly influence retention</a:t>
            </a:r>
            <a:endParaRPr lang="en-US" sz="1150" dirty="0"/>
          </a:p>
          <a:p>
            <a:pPr marL="233680" indent="-233680" algn="l">
              <a:lnSpc>
                <a:spcPct val="103000"/>
              </a:lnSpc>
              <a:buSzPct val="100000"/>
              <a:buChar char="•"/>
            </a:pPr>
            <a:r>
              <a:rPr lang="en-US" sz="1150" b="1" dirty="0">
                <a:solidFill>
                  <a:srgbClr val="272525"/>
                </a:solidFill>
                <a:latin typeface="DM Sans Bold" pitchFamily="34" charset="0"/>
                <a:ea typeface="DM Sans Bold" pitchFamily="34" charset="-122"/>
                <a:cs typeface="DM Sans Bold" pitchFamily="34" charset="-120"/>
              </a:rPr>
              <a:t>H14 Supported:</a:t>
            </a:r>
            <a:r>
              <a:rPr lang="en-US" sz="1150" dirty="0">
                <a:solidFill>
                  <a:srgbClr val="272525"/>
                </a:solidFill>
                <a:latin typeface="DM Sans" pitchFamily="34" charset="0"/>
                <a:ea typeface="DM Sans" pitchFamily="34" charset="-122"/>
                <a:cs typeface="DM Sans" pitchFamily="34" charset="-120"/>
              </a:rPr>
              <a:t> Cashback and offers significantly improve loyalty</a:t>
            </a:r>
            <a:endParaRPr lang="en-US" sz="1150" dirty="0"/>
          </a:p>
          <a:p>
            <a:pPr marL="233680" indent="-233680" algn="l">
              <a:lnSpc>
                <a:spcPct val="103000"/>
              </a:lnSpc>
              <a:buSzPct val="100000"/>
              <a:buChar char="•"/>
            </a:pPr>
            <a:r>
              <a:rPr lang="en-US" sz="1150" b="1" dirty="0">
                <a:solidFill>
                  <a:srgbClr val="272525"/>
                </a:solidFill>
                <a:latin typeface="DM Sans Bold" pitchFamily="34" charset="0"/>
                <a:ea typeface="DM Sans Bold" pitchFamily="34" charset="-122"/>
                <a:cs typeface="DM Sans Bold" pitchFamily="34" charset="-120"/>
              </a:rPr>
              <a:t>H15 Supported:</a:t>
            </a:r>
            <a:r>
              <a:rPr lang="en-US" sz="1150" dirty="0">
                <a:solidFill>
                  <a:srgbClr val="272525"/>
                </a:solidFill>
                <a:latin typeface="DM Sans" pitchFamily="34" charset="0"/>
                <a:ea typeface="DM Sans" pitchFamily="34" charset="-122"/>
                <a:cs typeface="DM Sans" pitchFamily="34" charset="-120"/>
              </a:rPr>
              <a:t> Ease of use significantly improves retention</a:t>
            </a:r>
            <a:endParaRPr lang="en-US" sz="11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0437" y="2922786"/>
            <a:ext cx="5369783" cy="3446066"/>
          </a:xfrm>
          <a:prstGeom prst="rect">
            <a:avLst/>
          </a:prstGeom>
        </p:spPr>
      </p:pic>
      <p:sp>
        <p:nvSpPr>
          <p:cNvPr id="9" name="Text 4"/>
          <p:cNvSpPr/>
          <p:nvPr/>
        </p:nvSpPr>
        <p:spPr>
          <a:xfrm>
            <a:off x="6366410" y="2941836"/>
            <a:ext cx="5163810" cy="223242"/>
          </a:xfrm>
          <a:prstGeom prst="rect">
            <a:avLst/>
          </a:prstGeom>
          <a:noFill/>
          <a:ln/>
        </p:spPr>
        <p:txBody>
          <a:bodyPr wrap="none" lIns="0" tIns="0" rIns="0" bIns="0" rtlCol="0" anchor="t"/>
          <a:lstStyle/>
          <a:p>
            <a:pPr marL="0" indent="0" algn="l">
              <a:lnSpc>
                <a:spcPct val="83000"/>
              </a:lnSpc>
              <a:buNone/>
            </a:pPr>
            <a:r>
              <a:rPr lang="en-US" sz="1750" dirty="0">
                <a:solidFill>
                  <a:srgbClr val="272525"/>
                </a:solidFill>
                <a:latin typeface="DM Sans SemiBold" pitchFamily="34" charset="0"/>
                <a:ea typeface="DM Sans SemiBold" pitchFamily="34" charset="-122"/>
                <a:cs typeface="DM Sans SemiBold" pitchFamily="34" charset="-120"/>
              </a:rPr>
              <a:t>Retention Strategies</a:t>
            </a:r>
            <a:endParaRPr lang="en-US" sz="1750" dirty="0"/>
          </a:p>
        </p:txBody>
      </p:sp>
      <p:sp>
        <p:nvSpPr>
          <p:cNvPr id="10" name="Text 5"/>
          <p:cNvSpPr/>
          <p:nvPr/>
        </p:nvSpPr>
        <p:spPr>
          <a:xfrm>
            <a:off x="6366410" y="3245445"/>
            <a:ext cx="5163810" cy="2549525"/>
          </a:xfrm>
          <a:prstGeom prst="rect">
            <a:avLst/>
          </a:prstGeom>
          <a:noFill/>
          <a:ln/>
        </p:spPr>
        <p:txBody>
          <a:bodyPr wrap="square" lIns="0" tIns="0" rIns="0" bIns="0" rtlCol="0" anchor="t">
            <a:normAutofit/>
          </a:bodyPr>
          <a:lstStyle/>
          <a:p>
            <a:pPr marL="0" indent="0" algn="l">
              <a:lnSpc>
                <a:spcPct val="103000"/>
              </a:lnSpc>
              <a:spcAft>
                <a:spcPts val="600"/>
              </a:spcAft>
              <a:buNone/>
            </a:pPr>
            <a:r>
              <a:rPr lang="en-US" sz="1150" dirty="0">
                <a:solidFill>
                  <a:srgbClr val="272525"/>
                </a:solidFill>
                <a:latin typeface="DM Sans" pitchFamily="34" charset="0"/>
                <a:ea typeface="DM Sans" pitchFamily="34" charset="-122"/>
                <a:cs typeface="DM Sans" pitchFamily="34" charset="-120"/>
              </a:rPr>
              <a:t>Drawing the findings to a close, seven strategies are recommended for UPI platforms looking to reduce churn.</a:t>
            </a:r>
            <a:endParaRPr lang="en-US" sz="1150" dirty="0"/>
          </a:p>
          <a:p>
            <a:pPr marL="0" indent="0" algn="l">
              <a:lnSpc>
                <a:spcPct val="103000"/>
              </a:lnSpc>
              <a:buNone/>
            </a:pPr>
            <a:r>
              <a:rPr lang="en-US" sz="1150" b="1" dirty="0">
                <a:solidFill>
                  <a:srgbClr val="272525"/>
                </a:solidFill>
                <a:latin typeface="DM Sans Bold" pitchFamily="34" charset="0"/>
                <a:ea typeface="DM Sans Bold" pitchFamily="34" charset="-122"/>
                <a:cs typeface="DM Sans Bold" pitchFamily="34" charset="-120"/>
              </a:rPr>
              <a:t>Personalised rewards</a:t>
            </a:r>
            <a:r>
              <a:rPr lang="en-US" sz="1150" dirty="0">
                <a:solidFill>
                  <a:srgbClr val="272525"/>
                </a:solidFill>
                <a:latin typeface="DM Sans" pitchFamily="34" charset="0"/>
                <a:ea typeface="DM Sans" pitchFamily="34" charset="-122"/>
                <a:cs typeface="DM Sans" pitchFamily="34" charset="-120"/>
              </a:rPr>
              <a:t> shaped around individual transaction history rather than generic cashback campaigns lift engagement without becoming a bidding war. </a:t>
            </a:r>
            <a:r>
              <a:rPr lang="en-US" sz="1150" b="1" dirty="0">
                <a:solidFill>
                  <a:srgbClr val="272525"/>
                </a:solidFill>
                <a:latin typeface="DM Sans Bold" pitchFamily="34" charset="0"/>
                <a:ea typeface="DM Sans Bold" pitchFamily="34" charset="-122"/>
                <a:cs typeface="DM Sans Bold" pitchFamily="34" charset="-120"/>
              </a:rPr>
              <a:t>24/7 multi-channel customer support</a:t>
            </a:r>
            <a:r>
              <a:rPr lang="en-US" sz="1150" dirty="0">
                <a:solidFill>
                  <a:srgbClr val="272525"/>
                </a:solidFill>
                <a:latin typeface="DM Sans" pitchFamily="34" charset="0"/>
                <a:ea typeface="DM Sans" pitchFamily="34" charset="-122"/>
                <a:cs typeface="DM Sans" pitchFamily="34" charset="-120"/>
              </a:rPr>
              <a:t> addresses the study's weakest area directly. </a:t>
            </a:r>
            <a:r>
              <a:rPr lang="en-US" sz="1150" b="1" dirty="0">
                <a:solidFill>
                  <a:srgbClr val="272525"/>
                </a:solidFill>
                <a:latin typeface="DM Sans Bold" pitchFamily="34" charset="0"/>
                <a:ea typeface="DM Sans Bold" pitchFamily="34" charset="-122"/>
                <a:cs typeface="DM Sans Bold" pitchFamily="34" charset="-120"/>
              </a:rPr>
              <a:t>Technical backbone investment</a:t>
            </a:r>
            <a:r>
              <a:rPr lang="en-US" sz="1150" dirty="0">
                <a:solidFill>
                  <a:srgbClr val="272525"/>
                </a:solidFill>
                <a:latin typeface="DM Sans" pitchFamily="34" charset="0"/>
                <a:ea typeface="DM Sans" pitchFamily="34" charset="-122"/>
                <a:cs typeface="DM Sans" pitchFamily="34" charset="-120"/>
              </a:rPr>
              <a:t> to cut transaction failures removes the second-biggest switching trigger.</a:t>
            </a:r>
            <a:endParaRPr lang="en-US" sz="1150" dirty="0"/>
          </a:p>
          <a:p>
            <a:pPr marL="0" indent="0" algn="l">
              <a:lnSpc>
                <a:spcPct val="103000"/>
              </a:lnSpc>
              <a:buNone/>
            </a:pPr>
            <a:r>
              <a:rPr lang="en-US" sz="1150" b="1" dirty="0">
                <a:solidFill>
                  <a:srgbClr val="272525"/>
                </a:solidFill>
                <a:latin typeface="DM Sans Bold" pitchFamily="34" charset="0"/>
                <a:ea typeface="DM Sans Bold" pitchFamily="34" charset="-122"/>
                <a:cs typeface="DM Sans Bold" pitchFamily="34" charset="-120"/>
              </a:rPr>
              <a:t>AI-based churn prediction</a:t>
            </a:r>
            <a:r>
              <a:rPr lang="en-US" sz="1150" dirty="0">
                <a:solidFill>
                  <a:srgbClr val="272525"/>
                </a:solidFill>
                <a:latin typeface="DM Sans" pitchFamily="34" charset="0"/>
                <a:ea typeface="DM Sans" pitchFamily="34" charset="-122"/>
                <a:cs typeface="DM Sans" pitchFamily="34" charset="-120"/>
              </a:rPr>
              <a:t> can flag at-risk users before they leave. </a:t>
            </a:r>
            <a:r>
              <a:rPr lang="en-US" sz="1150" b="1" dirty="0">
                <a:solidFill>
                  <a:srgbClr val="272525"/>
                </a:solidFill>
                <a:latin typeface="DM Sans Bold" pitchFamily="34" charset="0"/>
                <a:ea typeface="DM Sans Bold" pitchFamily="34" charset="-122"/>
                <a:cs typeface="DM Sans Bold" pitchFamily="34" charset="-120"/>
              </a:rPr>
              <a:t>Loyalty programmes</a:t>
            </a:r>
            <a:r>
              <a:rPr lang="en-US" sz="1150" dirty="0">
                <a:solidFill>
                  <a:srgbClr val="272525"/>
                </a:solidFill>
                <a:latin typeface="DM Sans" pitchFamily="34" charset="0"/>
                <a:ea typeface="DM Sans" pitchFamily="34" charset="-122"/>
                <a:cs typeface="DM Sans" pitchFamily="34" charset="-120"/>
              </a:rPr>
              <a:t> with points and exclusive benefits for frequent users deepen long-term relationships. </a:t>
            </a:r>
            <a:r>
              <a:rPr lang="en-US" sz="1150" b="1" dirty="0">
                <a:solidFill>
                  <a:srgbClr val="272525"/>
                </a:solidFill>
                <a:latin typeface="DM Sans Bold" pitchFamily="34" charset="0"/>
                <a:ea typeface="DM Sans Bold" pitchFamily="34" charset="-122"/>
                <a:cs typeface="DM Sans Bold" pitchFamily="34" charset="-120"/>
              </a:rPr>
              <a:t>Biometric checks, fraud detection and real-time alerts</a:t>
            </a:r>
            <a:r>
              <a:rPr lang="en-US" sz="1150" dirty="0">
                <a:solidFill>
                  <a:srgbClr val="272525"/>
                </a:solidFill>
                <a:latin typeface="DM Sans" pitchFamily="34" charset="0"/>
                <a:ea typeface="DM Sans" pitchFamily="34" charset="-122"/>
                <a:cs typeface="DM Sans" pitchFamily="34" charset="-120"/>
              </a:rPr>
              <a:t> keep the "maybe" security group from tipping the wrong way. Finally, </a:t>
            </a:r>
            <a:r>
              <a:rPr lang="en-US" sz="1150" b="1" dirty="0">
                <a:solidFill>
                  <a:srgbClr val="272525"/>
                </a:solidFill>
                <a:latin typeface="DM Sans Bold" pitchFamily="34" charset="0"/>
                <a:ea typeface="DM Sans Bold" pitchFamily="34" charset="-122"/>
                <a:cs typeface="DM Sans Bold" pitchFamily="34" charset="-120"/>
              </a:rPr>
              <a:t>regular Power BI-driven feedback analysis</a:t>
            </a:r>
            <a:r>
              <a:rPr lang="en-US" sz="1150" dirty="0">
                <a:solidFill>
                  <a:srgbClr val="272525"/>
                </a:solidFill>
                <a:latin typeface="DM Sans" pitchFamily="34" charset="0"/>
                <a:ea typeface="DM Sans" pitchFamily="34" charset="-122"/>
                <a:cs typeface="DM Sans" pitchFamily="34" charset="-120"/>
              </a:rPr>
              <a:t> lets companies spot service gaps early — before they become churn.</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61475" y="882253"/>
            <a:ext cx="10868745" cy="413445"/>
          </a:xfrm>
          <a:prstGeom prst="rect">
            <a:avLst/>
          </a:prstGeom>
          <a:noFill/>
          <a:ln/>
        </p:spPr>
        <p:txBody>
          <a:bodyPr wrap="none" lIns="0" tIns="0" rIns="0" bIns="0" rtlCol="0" anchor="t"/>
          <a:lstStyle/>
          <a:p>
            <a:pPr marL="0" indent="0" algn="l">
              <a:lnSpc>
                <a:spcPct val="83000"/>
              </a:lnSpc>
              <a:buNone/>
            </a:pPr>
            <a:r>
              <a:rPr lang="en-US" sz="3250" dirty="0">
                <a:solidFill>
                  <a:srgbClr val="000000"/>
                </a:solidFill>
                <a:latin typeface="DM Sans SemiBold" pitchFamily="34" charset="0"/>
                <a:ea typeface="DM Sans SemiBold" pitchFamily="34" charset="-122"/>
                <a:cs typeface="DM Sans SemiBold" pitchFamily="34" charset="-120"/>
              </a:rPr>
              <a:t>References</a:t>
            </a:r>
            <a:endParaRPr lang="en-US" sz="3250" dirty="0"/>
          </a:p>
        </p:txBody>
      </p:sp>
      <p:sp>
        <p:nvSpPr>
          <p:cNvPr id="3" name="Text 1"/>
          <p:cNvSpPr/>
          <p:nvPr/>
        </p:nvSpPr>
        <p:spPr>
          <a:xfrm>
            <a:off x="661475" y="1626394"/>
            <a:ext cx="10868745" cy="4349254"/>
          </a:xfrm>
          <a:prstGeom prst="rect">
            <a:avLst/>
          </a:prstGeom>
          <a:noFill/>
          <a:ln/>
        </p:spPr>
        <p:txBody>
          <a:bodyPr wrap="square" lIns="0" tIns="0" rIns="0" bIns="0" rtlCol="0" anchor="t">
            <a:normAutofit/>
          </a:bodyPr>
          <a:lstStyle/>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Reserve Bank of India. (2026). Annual Report 2025–26. Reserve Bank of India, Mumbai.</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National Payments Corporation of India. (2026). UPI Product Statistics and Monthly Performance Report, May 2026. NPCI, Mumbai.</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Dash, M., &amp; Shaik, M. (2025). Enhancing customer retention from churn analysis using Power BI and machine learning techniques. Journal of Business Analytics and Data Science, 4(1), 1–12.</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Rathore, H. S. (2016). Adoption of digital wallet by consumers. BVIMSR's Journal of Management Research, 8(1), 69–75.</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Panchal, S., &amp; Balachandran, M. (2018). The rise of UPI and the push towards a cashless economy in India. Forbes India Fintech Review, 6(2), 22–29.</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Thomas, R., &amp; Chatterjee, A. (2017). Unified Payment Interface (UPI): A catalyst tool supporting digitalisation. International Journal of Research in Economics and Social Sciences, 7(7), 40–48.</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Philip, B. (2019). Unified Payment Interface: Impact of UPI in customer satisfaction. Research Guru, 12(4), 124–129.</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Rana, R. (2017). Education and adoption of digital payment systems in India. International Journal of Advanced Research, 5(6), 1515–1520.</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Rouibah, K. (2015). Digital payment adoption: Barriers of trust, security and awareness. Journal of Electronic Commerce Research, 16(3), 210–224.</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Cashfree Payments. (2026). State of Digital Payments in India Report 2026. Cashfree Payments, Bengaluru.</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Google Pay. (2024). Google Pay India Insights Report 2024. Google India.</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PhonePe. (2025). PhonePe Pulse: The Beat of Progress Report 2025. PhonePe, Bengaluru.</a:t>
            </a:r>
            <a:endParaRPr lang="en-US" sz="1300" dirty="0"/>
          </a:p>
          <a:p>
            <a:pPr marL="264160" indent="-264160" algn="l">
              <a:lnSpc>
                <a:spcPct val="108000"/>
              </a:lnSpc>
              <a:buSzPct val="100000"/>
              <a:buChar char="•"/>
            </a:pPr>
            <a:r>
              <a:rPr lang="en-US" sz="1300" dirty="0">
                <a:solidFill>
                  <a:srgbClr val="272525"/>
                </a:solidFill>
                <a:latin typeface="DM Sans" pitchFamily="34" charset="0"/>
                <a:ea typeface="DM Sans" pitchFamily="34" charset="-122"/>
                <a:cs typeface="DM Sans" pitchFamily="34" charset="-120"/>
              </a:rPr>
              <a:t>Reserve Bank of India. (2025). Payments Vision 2028. Department of Payment and Settlement Systems, RBI.</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61475" y="2535932"/>
            <a:ext cx="10868745" cy="1240433"/>
          </a:xfrm>
          <a:prstGeom prst="rect">
            <a:avLst/>
          </a:prstGeom>
          <a:noFill/>
          <a:ln/>
        </p:spPr>
        <p:txBody>
          <a:bodyPr wrap="none" lIns="0" tIns="0" rIns="0" bIns="0" rtlCol="0" anchor="t"/>
          <a:lstStyle/>
          <a:p>
            <a:pPr marL="0" indent="0" algn="ctr">
              <a:lnSpc>
                <a:spcPct val="83000"/>
              </a:lnSpc>
              <a:buNone/>
            </a:pPr>
            <a:r>
              <a:rPr lang="en-US" sz="9750" b="1" dirty="0">
                <a:solidFill>
                  <a:srgbClr val="E07A5F"/>
                </a:solidFill>
                <a:latin typeface="DM Sans Bold" pitchFamily="34" charset="0"/>
                <a:ea typeface="DM Sans Bold" pitchFamily="34" charset="-122"/>
                <a:cs typeface="DM Sans Bold" pitchFamily="34" charset="-120"/>
              </a:rPr>
              <a:t>Thank You</a:t>
            </a:r>
            <a:endParaRPr lang="en-US" sz="9750" dirty="0"/>
          </a:p>
        </p:txBody>
      </p:sp>
      <p:sp>
        <p:nvSpPr>
          <p:cNvPr id="3" name="Text 1"/>
          <p:cNvSpPr/>
          <p:nvPr/>
        </p:nvSpPr>
        <p:spPr>
          <a:xfrm>
            <a:off x="661475" y="4107061"/>
            <a:ext cx="11478330" cy="215007"/>
          </a:xfrm>
          <a:prstGeom prst="rect">
            <a:avLst/>
          </a:prstGeom>
          <a:noFill/>
          <a:ln/>
        </p:spPr>
        <p:txBody>
          <a:bodyPr wrap="none" lIns="0" tIns="0" rIns="0" bIns="0" rtlCol="0" anchor="t"/>
          <a:lstStyle/>
          <a:p>
            <a:pPr marL="0" indent="0" algn="l">
              <a:lnSpc>
                <a:spcPct val="108000"/>
              </a:lnSpc>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3774</Words>
  <Application>Microsoft Office PowerPoint</Application>
  <PresentationFormat>Widescreen</PresentationFormat>
  <Paragraphs>232</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DM Sans Bold</vt:lpstr>
      <vt:lpstr>DM Sans Light</vt:lpstr>
      <vt:lpstr>DM Sans SemiBold</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Taranum</cp:lastModifiedBy>
  <cp:revision>2</cp:revision>
  <dcterms:created xsi:type="dcterms:W3CDTF">2026-07-12T19:38:03Z</dcterms:created>
  <dcterms:modified xsi:type="dcterms:W3CDTF">2026-07-12T20:03:33Z</dcterms:modified>
</cp:coreProperties>
</file>